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 id="2147483660" r:id="rId5"/>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hHjgHJqYVRZlD4x59gNXCj2itjy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hna BENHAMOUCHE" userId="S::lehna.benhamouche@efrei.net::e55c1922-61f9-4c8e-9379-0cce9c2a89cd" providerId="AD" clId="Web-{90725FB3-794B-1C2D-8EBC-9F85E2AF0E41}"/>
    <pc:docChg chg="mod">
      <pc:chgData name="Lehna BENHAMOUCHE" userId="S::lehna.benhamouche@efrei.net::e55c1922-61f9-4c8e-9379-0cce9c2a89cd" providerId="AD" clId="Web-{90725FB3-794B-1C2D-8EBC-9F85E2AF0E41}" dt="2026-02-02T08:23:11.789" v="0" actId="33475"/>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fr-FR"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5" name="Google Shape;34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7" name="Google Shape;36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9" name="Google Shape;389;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0" name="Google Shape;390;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5"/>
        <p:cNvGrpSpPr/>
        <p:nvPr/>
      </p:nvGrpSpPr>
      <p:grpSpPr>
        <a:xfrm>
          <a:off x="0" y="0"/>
          <a:ext cx="0" cy="0"/>
          <a:chOff x="0" y="0"/>
          <a:chExt cx="0" cy="0"/>
        </a:xfrm>
      </p:grpSpPr>
      <p:sp>
        <p:nvSpPr>
          <p:cNvPr id="16" name="Google Shape;16;p2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21"/>
        <p:cNvGrpSpPr/>
        <p:nvPr/>
      </p:nvGrpSpPr>
      <p:grpSpPr>
        <a:xfrm>
          <a:off x="0" y="0"/>
          <a:ext cx="0" cy="0"/>
          <a:chOff x="0" y="0"/>
          <a:chExt cx="0" cy="0"/>
        </a:xfrm>
      </p:grpSpPr>
      <p:sp>
        <p:nvSpPr>
          <p:cNvPr id="22" name="Google Shape;22;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27"/>
        <p:cNvGrpSpPr/>
        <p:nvPr/>
      </p:nvGrpSpPr>
      <p:grpSpPr>
        <a:xfrm>
          <a:off x="0" y="0"/>
          <a:ext cx="0" cy="0"/>
          <a:chOff x="0" y="0"/>
          <a:chExt cx="0" cy="0"/>
        </a:xfrm>
      </p:grpSpPr>
      <p:sp>
        <p:nvSpPr>
          <p:cNvPr id="28" name="Google Shape;28;p3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33"/>
        <p:cNvGrpSpPr/>
        <p:nvPr/>
      </p:nvGrpSpPr>
      <p:grpSpPr>
        <a:xfrm>
          <a:off x="0" y="0"/>
          <a:ext cx="0" cy="0"/>
          <a:chOff x="0" y="0"/>
          <a:chExt cx="0" cy="0"/>
        </a:xfrm>
      </p:grpSpPr>
      <p:sp>
        <p:nvSpPr>
          <p:cNvPr id="34" name="Google Shape;34;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0"/>
        <p:cNvGrpSpPr/>
        <p:nvPr/>
      </p:nvGrpSpPr>
      <p:grpSpPr>
        <a:xfrm>
          <a:off x="0" y="0"/>
          <a:ext cx="0" cy="0"/>
          <a:chOff x="0" y="0"/>
          <a:chExt cx="0" cy="0"/>
        </a:xfrm>
      </p:grpSpPr>
      <p:sp>
        <p:nvSpPr>
          <p:cNvPr id="41" name="Google Shape;41;p3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49"/>
        <p:cNvGrpSpPr/>
        <p:nvPr/>
      </p:nvGrpSpPr>
      <p:grpSpPr>
        <a:xfrm>
          <a:off x="0" y="0"/>
          <a:ext cx="0" cy="0"/>
          <a:chOff x="0" y="0"/>
          <a:chExt cx="0" cy="0"/>
        </a:xfrm>
      </p:grpSpPr>
      <p:sp>
        <p:nvSpPr>
          <p:cNvPr id="50" name="Google Shape;50;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54"/>
        <p:cNvGrpSpPr/>
        <p:nvPr/>
      </p:nvGrpSpPr>
      <p:grpSpPr>
        <a:xfrm>
          <a:off x="0" y="0"/>
          <a:ext cx="0" cy="0"/>
          <a:chOff x="0" y="0"/>
          <a:chExt cx="0" cy="0"/>
        </a:xfrm>
      </p:grpSpPr>
      <p:sp>
        <p:nvSpPr>
          <p:cNvPr id="55" name="Google Shape;55;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58"/>
        <p:cNvGrpSpPr/>
        <p:nvPr/>
      </p:nvGrpSpPr>
      <p:grpSpPr>
        <a:xfrm>
          <a:off x="0" y="0"/>
          <a:ext cx="0" cy="0"/>
          <a:chOff x="0" y="0"/>
          <a:chExt cx="0" cy="0"/>
        </a:xfrm>
      </p:grpSpPr>
      <p:sp>
        <p:nvSpPr>
          <p:cNvPr id="59" name="Google Shape;59;p4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4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65"/>
        <p:cNvGrpSpPr/>
        <p:nvPr/>
      </p:nvGrpSpPr>
      <p:grpSpPr>
        <a:xfrm>
          <a:off x="0" y="0"/>
          <a:ext cx="0" cy="0"/>
          <a:chOff x="0" y="0"/>
          <a:chExt cx="0" cy="0"/>
        </a:xfrm>
      </p:grpSpPr>
      <p:sp>
        <p:nvSpPr>
          <p:cNvPr id="66" name="Google Shape;66;p4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2"/>
          <p:cNvSpPr>
            <a:spLocks noGrp="1"/>
          </p:cNvSpPr>
          <p:nvPr>
            <p:ph type="pic" idx="2"/>
          </p:nvPr>
        </p:nvSpPr>
        <p:spPr>
          <a:xfrm>
            <a:off x="5183188" y="987425"/>
            <a:ext cx="6172200" cy="4873625"/>
          </a:xfrm>
          <a:prstGeom prst="rect">
            <a:avLst/>
          </a:prstGeom>
          <a:noFill/>
          <a:ln>
            <a:noFill/>
          </a:ln>
        </p:spPr>
      </p:sp>
      <p:sp>
        <p:nvSpPr>
          <p:cNvPr id="68" name="Google Shape;68;p4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72"/>
        <p:cNvGrpSpPr/>
        <p:nvPr/>
      </p:nvGrpSpPr>
      <p:grpSpPr>
        <a:xfrm>
          <a:off x="0" y="0"/>
          <a:ext cx="0" cy="0"/>
          <a:chOff x="0" y="0"/>
          <a:chExt cx="0" cy="0"/>
        </a:xfrm>
      </p:grpSpPr>
      <p:sp>
        <p:nvSpPr>
          <p:cNvPr id="73" name="Google Shape;73;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78"/>
        <p:cNvGrpSpPr/>
        <p:nvPr/>
      </p:nvGrpSpPr>
      <p:grpSpPr>
        <a:xfrm>
          <a:off x="0" y="0"/>
          <a:ext cx="0" cy="0"/>
          <a:chOff x="0" y="0"/>
          <a:chExt cx="0" cy="0"/>
        </a:xfrm>
      </p:grpSpPr>
      <p:sp>
        <p:nvSpPr>
          <p:cNvPr id="79" name="Google Shape;79;p4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90"/>
        <p:cNvGrpSpPr/>
        <p:nvPr/>
      </p:nvGrpSpPr>
      <p:grpSpPr>
        <a:xfrm>
          <a:off x="0" y="0"/>
          <a:ext cx="0" cy="0"/>
          <a:chOff x="0" y="0"/>
          <a:chExt cx="0" cy="0"/>
        </a:xfrm>
      </p:grpSpPr>
      <p:sp>
        <p:nvSpPr>
          <p:cNvPr id="91" name="Google Shape;91;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96"/>
        <p:cNvGrpSpPr/>
        <p:nvPr/>
      </p:nvGrpSpPr>
      <p:grpSpPr>
        <a:xfrm>
          <a:off x="0" y="0"/>
          <a:ext cx="0" cy="0"/>
          <a:chOff x="0" y="0"/>
          <a:chExt cx="0" cy="0"/>
        </a:xfrm>
      </p:grpSpPr>
      <p:sp>
        <p:nvSpPr>
          <p:cNvPr id="97" name="Google Shape;97;p2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9" name="Google Shape;99;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102"/>
        <p:cNvGrpSpPr/>
        <p:nvPr/>
      </p:nvGrpSpPr>
      <p:grpSpPr>
        <a:xfrm>
          <a:off x="0" y="0"/>
          <a:ext cx="0" cy="0"/>
          <a:chOff x="0" y="0"/>
          <a:chExt cx="0" cy="0"/>
        </a:xfrm>
      </p:grpSpPr>
      <p:sp>
        <p:nvSpPr>
          <p:cNvPr id="103" name="Google Shape;103;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5" name="Google Shape;10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108"/>
        <p:cNvGrpSpPr/>
        <p:nvPr/>
      </p:nvGrpSpPr>
      <p:grpSpPr>
        <a:xfrm>
          <a:off x="0" y="0"/>
          <a:ext cx="0" cy="0"/>
          <a:chOff x="0" y="0"/>
          <a:chExt cx="0" cy="0"/>
        </a:xfrm>
      </p:grpSpPr>
      <p:sp>
        <p:nvSpPr>
          <p:cNvPr id="109" name="Google Shape;109;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8" name="Google Shape;118;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0" name="Google Shape;120;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124"/>
        <p:cNvGrpSpPr/>
        <p:nvPr/>
      </p:nvGrpSpPr>
      <p:grpSpPr>
        <a:xfrm>
          <a:off x="0" y="0"/>
          <a:ext cx="0" cy="0"/>
          <a:chOff x="0" y="0"/>
          <a:chExt cx="0" cy="0"/>
        </a:xfrm>
      </p:grpSpPr>
      <p:sp>
        <p:nvSpPr>
          <p:cNvPr id="125" name="Google Shape;125;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129"/>
        <p:cNvGrpSpPr/>
        <p:nvPr/>
      </p:nvGrpSpPr>
      <p:grpSpPr>
        <a:xfrm>
          <a:off x="0" y="0"/>
          <a:ext cx="0" cy="0"/>
          <a:chOff x="0" y="0"/>
          <a:chExt cx="0" cy="0"/>
        </a:xfrm>
      </p:grpSpPr>
      <p:sp>
        <p:nvSpPr>
          <p:cNvPr id="130" name="Google Shape;130;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133"/>
        <p:cNvGrpSpPr/>
        <p:nvPr/>
      </p:nvGrpSpPr>
      <p:grpSpPr>
        <a:xfrm>
          <a:off x="0" y="0"/>
          <a:ext cx="0" cy="0"/>
          <a:chOff x="0" y="0"/>
          <a:chExt cx="0" cy="0"/>
        </a:xfrm>
      </p:grpSpPr>
      <p:sp>
        <p:nvSpPr>
          <p:cNvPr id="134" name="Google Shape;134;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6" name="Google Shape;136;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7" name="Google Shape;137;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140"/>
        <p:cNvGrpSpPr/>
        <p:nvPr/>
      </p:nvGrpSpPr>
      <p:grpSpPr>
        <a:xfrm>
          <a:off x="0" y="0"/>
          <a:ext cx="0" cy="0"/>
          <a:chOff x="0" y="0"/>
          <a:chExt cx="0" cy="0"/>
        </a:xfrm>
      </p:grpSpPr>
      <p:sp>
        <p:nvSpPr>
          <p:cNvPr id="141" name="Google Shape;141;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32"/>
          <p:cNvSpPr>
            <a:spLocks noGrp="1"/>
          </p:cNvSpPr>
          <p:nvPr>
            <p:ph type="pic" idx="2"/>
          </p:nvPr>
        </p:nvSpPr>
        <p:spPr>
          <a:xfrm>
            <a:off x="5183188" y="987425"/>
            <a:ext cx="6172200" cy="4873625"/>
          </a:xfrm>
          <a:prstGeom prst="rect">
            <a:avLst/>
          </a:prstGeom>
          <a:noFill/>
          <a:ln>
            <a:noFill/>
          </a:ln>
        </p:spPr>
      </p:sp>
      <p:sp>
        <p:nvSpPr>
          <p:cNvPr id="143" name="Google Shape;143;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4" name="Google Shape;144;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147"/>
        <p:cNvGrpSpPr/>
        <p:nvPr/>
      </p:nvGrpSpPr>
      <p:grpSpPr>
        <a:xfrm>
          <a:off x="0" y="0"/>
          <a:ext cx="0" cy="0"/>
          <a:chOff x="0" y="0"/>
          <a:chExt cx="0" cy="0"/>
        </a:xfrm>
      </p:grpSpPr>
      <p:sp>
        <p:nvSpPr>
          <p:cNvPr id="148" name="Google Shape;148;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153"/>
        <p:cNvGrpSpPr/>
        <p:nvPr/>
      </p:nvGrpSpPr>
      <p:grpSpPr>
        <a:xfrm>
          <a:off x="0" y="0"/>
          <a:ext cx="0" cy="0"/>
          <a:chOff x="0" y="0"/>
          <a:chExt cx="0" cy="0"/>
        </a:xfrm>
      </p:grpSpPr>
      <p:sp>
        <p:nvSpPr>
          <p:cNvPr id="154" name="Google Shape;154;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6" name="Google Shape;86;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4163"/>
        </a:solidFill>
        <a:effectLst/>
      </p:bgPr>
    </p:bg>
    <p:spTree>
      <p:nvGrpSpPr>
        <p:cNvPr id="1" name="Shape 163"/>
        <p:cNvGrpSpPr/>
        <p:nvPr/>
      </p:nvGrpSpPr>
      <p:grpSpPr>
        <a:xfrm>
          <a:off x="0" y="0"/>
          <a:ext cx="0" cy="0"/>
          <a:chOff x="0" y="0"/>
          <a:chExt cx="0" cy="0"/>
        </a:xfrm>
      </p:grpSpPr>
      <p:sp>
        <p:nvSpPr>
          <p:cNvPr id="164" name="Google Shape;164;p1"/>
          <p:cNvSpPr/>
          <p:nvPr/>
        </p:nvSpPr>
        <p:spPr>
          <a:xfrm>
            <a:off x="4792319" y="-608242"/>
            <a:ext cx="2607364" cy="2607364"/>
          </a:xfrm>
          <a:prstGeom prst="diamond">
            <a:avLst/>
          </a:prstGeom>
          <a:no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65" name="Google Shape;165;p1"/>
          <p:cNvSpPr/>
          <p:nvPr/>
        </p:nvSpPr>
        <p:spPr>
          <a:xfrm>
            <a:off x="4325258" y="-1770743"/>
            <a:ext cx="3541486" cy="3541486"/>
          </a:xfrm>
          <a:prstGeom prst="diamond">
            <a:avLst/>
          </a:prstGeom>
          <a:no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66" name="Google Shape;166;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FF"/>
              </a:buClr>
              <a:buSzPts val="1200"/>
              <a:buFont typeface="Calibri"/>
              <a:buNone/>
            </a:pPr>
            <a:r>
              <a:rPr lang="fr-FR" sz="1200" b="0" i="0" u="none" strike="noStrike" cap="none">
                <a:solidFill>
                  <a:srgbClr val="FFFFFF"/>
                </a:solidFill>
                <a:latin typeface="Calibri"/>
                <a:ea typeface="Calibri"/>
                <a:cs typeface="Calibri"/>
                <a:sym typeface="Calibri"/>
              </a:rPr>
              <a:t>30/03/2025</a:t>
            </a:r>
            <a:endParaRPr sz="1200" b="0" i="0" u="none" strike="noStrike" cap="none">
              <a:solidFill>
                <a:srgbClr val="FFFFFF"/>
              </a:solidFill>
              <a:latin typeface="Calibri"/>
              <a:ea typeface="Calibri"/>
              <a:cs typeface="Calibri"/>
              <a:sym typeface="Calibri"/>
            </a:endParaRPr>
          </a:p>
        </p:txBody>
      </p:sp>
      <p:sp>
        <p:nvSpPr>
          <p:cNvPr id="167" name="Google Shape;167;p1"/>
          <p:cNvSpPr txBox="1"/>
          <p:nvPr/>
        </p:nvSpPr>
        <p:spPr>
          <a:xfrm>
            <a:off x="2425366" y="3176161"/>
            <a:ext cx="7341268" cy="1682718"/>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rgbClr val="FFFFFF"/>
              </a:buClr>
              <a:buSzPts val="2500"/>
              <a:buFont typeface="Arial"/>
              <a:buNone/>
            </a:pPr>
            <a:r>
              <a:rPr lang="fr-FR" sz="2500" b="1" i="0" u="none" strike="noStrike" cap="none">
                <a:solidFill>
                  <a:srgbClr val="FFFFFF"/>
                </a:solidFill>
                <a:latin typeface="Arial"/>
                <a:ea typeface="Arial"/>
                <a:cs typeface="Arial"/>
                <a:sym typeface="Arial"/>
              </a:rPr>
              <a:t>DevSecOps</a:t>
            </a:r>
            <a:endParaRPr/>
          </a:p>
          <a:p>
            <a:pPr marL="0" marR="0" lvl="0" indent="0" algn="ctr" rtl="0">
              <a:lnSpc>
                <a:spcPct val="90000"/>
              </a:lnSpc>
              <a:spcBef>
                <a:spcPts val="0"/>
              </a:spcBef>
              <a:spcAft>
                <a:spcPts val="0"/>
              </a:spcAft>
              <a:buClr>
                <a:schemeClr val="dk1"/>
              </a:buClr>
              <a:buSzPts val="2000"/>
              <a:buFont typeface="Calibri"/>
              <a:buNone/>
            </a:pPr>
            <a:endParaRPr sz="2000" b="1" i="0" u="none" strike="noStrike" cap="none">
              <a:solidFill>
                <a:srgbClr val="FFFFFF"/>
              </a:solidFill>
              <a:latin typeface="Arial"/>
              <a:ea typeface="Arial"/>
              <a:cs typeface="Arial"/>
              <a:sym typeface="Arial"/>
            </a:endParaRPr>
          </a:p>
          <a:p>
            <a:pPr marL="0" marR="0" lvl="0" indent="0" algn="ctr" rtl="0">
              <a:lnSpc>
                <a:spcPct val="90000"/>
              </a:lnSpc>
              <a:spcBef>
                <a:spcPts val="0"/>
              </a:spcBef>
              <a:spcAft>
                <a:spcPts val="0"/>
              </a:spcAft>
              <a:buClr>
                <a:srgbClr val="FFFFFF"/>
              </a:buClr>
              <a:buSzPts val="4800"/>
              <a:buFont typeface="Arial"/>
              <a:buNone/>
            </a:pPr>
            <a:r>
              <a:rPr lang="fr-FR" sz="4800" b="1" i="0" u="none" strike="noStrike" cap="none">
                <a:solidFill>
                  <a:srgbClr val="FFFFFF"/>
                </a:solidFill>
                <a:latin typeface="Arial"/>
                <a:ea typeface="Arial"/>
                <a:cs typeface="Arial"/>
                <a:sym typeface="Arial"/>
              </a:rPr>
              <a:t>ETUDE DE DOCKER</a:t>
            </a:r>
            <a:endParaRPr/>
          </a:p>
          <a:p>
            <a:pPr marL="0" marR="0" lvl="0" indent="0" algn="ctr" rtl="0">
              <a:lnSpc>
                <a:spcPct val="90000"/>
              </a:lnSpc>
              <a:spcBef>
                <a:spcPts val="0"/>
              </a:spcBef>
              <a:spcAft>
                <a:spcPts val="0"/>
              </a:spcAft>
              <a:buClr>
                <a:schemeClr val="dk1"/>
              </a:buClr>
              <a:buSzPts val="2000"/>
              <a:buFont typeface="Calibri"/>
              <a:buNone/>
            </a:pPr>
            <a:endParaRPr sz="2000" b="1" i="0" u="none" strike="noStrike" cap="none">
              <a:solidFill>
                <a:srgbClr val="2683C6"/>
              </a:solidFill>
              <a:latin typeface="Arial"/>
              <a:ea typeface="Arial"/>
              <a:cs typeface="Arial"/>
              <a:sym typeface="Arial"/>
            </a:endParaRPr>
          </a:p>
          <a:p>
            <a:pPr marL="0" marR="0" lvl="0" indent="0" algn="ctr" rtl="0">
              <a:lnSpc>
                <a:spcPct val="90000"/>
              </a:lnSpc>
              <a:spcBef>
                <a:spcPts val="0"/>
              </a:spcBef>
              <a:spcAft>
                <a:spcPts val="0"/>
              </a:spcAft>
              <a:buClr>
                <a:schemeClr val="dk1"/>
              </a:buClr>
              <a:buSzPts val="2000"/>
              <a:buFont typeface="Calibri"/>
              <a:buNone/>
            </a:pPr>
            <a:endParaRPr sz="2000" b="1" i="0" u="none" strike="noStrike" cap="none">
              <a:solidFill>
                <a:srgbClr val="2683C6"/>
              </a:solidFill>
              <a:latin typeface="Arial"/>
              <a:ea typeface="Arial"/>
              <a:cs typeface="Arial"/>
              <a:sym typeface="Arial"/>
            </a:endParaRPr>
          </a:p>
          <a:p>
            <a:pPr marL="0" marR="0" lvl="0" indent="0" algn="ctr" rtl="0">
              <a:lnSpc>
                <a:spcPct val="90000"/>
              </a:lnSpc>
              <a:spcBef>
                <a:spcPts val="0"/>
              </a:spcBef>
              <a:spcAft>
                <a:spcPts val="0"/>
              </a:spcAft>
              <a:buClr>
                <a:srgbClr val="2683C6"/>
              </a:buClr>
              <a:buSzPts val="2000"/>
              <a:buFont typeface="Arial"/>
              <a:buNone/>
            </a:pPr>
            <a:r>
              <a:rPr lang="fr-FR" sz="2000" b="1" i="0" u="none" strike="noStrike" cap="none">
                <a:solidFill>
                  <a:srgbClr val="2683C6"/>
                </a:solidFill>
                <a:latin typeface="Arial"/>
                <a:ea typeface="Arial"/>
                <a:cs typeface="Arial"/>
                <a:sym typeface="Arial"/>
              </a:rPr>
              <a:t>EFREI</a:t>
            </a:r>
            <a:endParaRPr sz="4800" b="1" i="0" u="none" strike="noStrike" cap="none">
              <a:solidFill>
                <a:srgbClr val="FFFFFF"/>
              </a:solidFill>
              <a:latin typeface="Arial"/>
              <a:ea typeface="Arial"/>
              <a:cs typeface="Arial"/>
              <a:sym typeface="Arial"/>
            </a:endParaRPr>
          </a:p>
          <a:p>
            <a:pPr marL="0" marR="0" lvl="0" indent="0" algn="ctr" rtl="0">
              <a:lnSpc>
                <a:spcPct val="90000"/>
              </a:lnSpc>
              <a:spcBef>
                <a:spcPts val="0"/>
              </a:spcBef>
              <a:spcAft>
                <a:spcPts val="0"/>
              </a:spcAft>
              <a:buClr>
                <a:srgbClr val="FFFFFF"/>
              </a:buClr>
              <a:buSzPts val="1800"/>
              <a:buFont typeface="Arial"/>
              <a:buNone/>
            </a:pPr>
            <a:r>
              <a:rPr lang="fr-FR" sz="1800" b="1" i="0" u="none" strike="noStrike" cap="none">
                <a:solidFill>
                  <a:srgbClr val="FFFFFF"/>
                </a:solidFill>
                <a:latin typeface="Arial"/>
                <a:ea typeface="Arial"/>
                <a:cs typeface="Arial"/>
                <a:sym typeface="Arial"/>
              </a:rPr>
              <a:t>Année: 202</a:t>
            </a:r>
            <a:r>
              <a:rPr lang="fr-FR" sz="1800" b="1">
                <a:solidFill>
                  <a:srgbClr val="FFFFFF"/>
                </a:solidFill>
              </a:rPr>
              <a:t>6</a:t>
            </a:r>
            <a:endParaRPr sz="1800" b="1" i="0" u="none" strike="noStrike" cap="none">
              <a:solidFill>
                <a:srgbClr val="FFFFFF"/>
              </a:solidFill>
              <a:latin typeface="Arial"/>
              <a:ea typeface="Arial"/>
              <a:cs typeface="Arial"/>
              <a:sym typeface="Arial"/>
            </a:endParaRPr>
          </a:p>
        </p:txBody>
      </p:sp>
      <p:pic>
        <p:nvPicPr>
          <p:cNvPr id="168" name="Google Shape;168;p1"/>
          <p:cNvPicPr preferRelativeResize="0"/>
          <p:nvPr/>
        </p:nvPicPr>
        <p:blipFill rotWithShape="1">
          <a:blip r:embed="rId3">
            <a:alphaModFix/>
          </a:blip>
          <a:srcRect/>
          <a:stretch/>
        </p:blipFill>
        <p:spPr>
          <a:xfrm>
            <a:off x="5374432" y="102637"/>
            <a:ext cx="1390261" cy="961053"/>
          </a:xfrm>
          <a:prstGeom prst="rect">
            <a:avLst/>
          </a:prstGeom>
          <a:noFill/>
          <a:ln>
            <a:noFill/>
          </a:ln>
        </p:spPr>
      </p:pic>
      <p:sp>
        <p:nvSpPr>
          <p:cNvPr id="169" name="Google Shape;169;p1"/>
          <p:cNvSpPr txBox="1"/>
          <p:nvPr/>
        </p:nvSpPr>
        <p:spPr>
          <a:xfrm>
            <a:off x="9766634" y="6063829"/>
            <a:ext cx="2307178" cy="58504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FF"/>
              </a:buClr>
              <a:buSzPts val="1400"/>
              <a:buFont typeface="Calibri"/>
              <a:buNone/>
            </a:pPr>
            <a:r>
              <a:rPr lang="fr-FR" sz="1400" b="1" i="0" u="none" strike="noStrike" cap="none">
                <a:solidFill>
                  <a:srgbClr val="FFFFFF"/>
                </a:solidFill>
                <a:latin typeface="Calibri"/>
                <a:ea typeface="Calibri"/>
                <a:cs typeface="Calibri"/>
                <a:sym typeface="Calibri"/>
              </a:rPr>
              <a:t>Mr Mohamet Lamine DIOP</a:t>
            </a:r>
            <a:endParaRPr/>
          </a:p>
          <a:p>
            <a:pPr marL="0" marR="0" lvl="0" indent="0" algn="l" rtl="0">
              <a:lnSpc>
                <a:spcPct val="100000"/>
              </a:lnSpc>
              <a:spcBef>
                <a:spcPts val="0"/>
              </a:spcBef>
              <a:spcAft>
                <a:spcPts val="0"/>
              </a:spcAft>
              <a:buClr>
                <a:srgbClr val="FFFFFF"/>
              </a:buClr>
              <a:buSzPts val="1400"/>
              <a:buFont typeface="Calibri"/>
              <a:buNone/>
            </a:pPr>
            <a:r>
              <a:rPr lang="fr-FR" sz="1400" b="1" i="0" u="none" strike="noStrike" cap="none">
                <a:solidFill>
                  <a:srgbClr val="FFFFFF"/>
                </a:solidFill>
                <a:latin typeface="Calibri"/>
                <a:ea typeface="Calibri"/>
                <a:cs typeface="Calibri"/>
                <a:sym typeface="Calibri"/>
              </a:rPr>
              <a:t>Ingénieur Cloud et DevOps</a:t>
            </a:r>
            <a:endParaRPr/>
          </a:p>
        </p:txBody>
      </p:sp>
      <p:sp>
        <p:nvSpPr>
          <p:cNvPr id="170" name="Google Shape;170;p1"/>
          <p:cNvSpPr txBox="1"/>
          <p:nvPr/>
        </p:nvSpPr>
        <p:spPr>
          <a:xfrm>
            <a:off x="4079452" y="6244288"/>
            <a:ext cx="4198500" cy="369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chemeClr val="lt1"/>
                </a:solidFill>
              </a:rPr>
              <a:t>Master 1 CSM</a:t>
            </a:r>
            <a:endParaRPr sz="1800" b="1"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4"/>
        <p:cNvGrpSpPr/>
        <p:nvPr/>
      </p:nvGrpSpPr>
      <p:grpSpPr>
        <a:xfrm>
          <a:off x="0" y="0"/>
          <a:ext cx="0" cy="0"/>
          <a:chOff x="0" y="0"/>
          <a:chExt cx="0" cy="0"/>
        </a:xfrm>
      </p:grpSpPr>
      <p:sp>
        <p:nvSpPr>
          <p:cNvPr id="175" name="Google Shape;175;p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6" name="Google Shape;176;p2"/>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7" name="Google Shape;177;p2"/>
          <p:cNvSpPr/>
          <p:nvPr/>
        </p:nvSpPr>
        <p:spPr>
          <a:xfrm rot="5400000" flipH="1">
            <a:off x="-1410084" y="1410082"/>
            <a:ext cx="6858000" cy="4037836"/>
          </a:xfrm>
          <a:prstGeom prst="rect">
            <a:avLst/>
          </a:prstGeom>
          <a:gradFill>
            <a:gsLst>
              <a:gs pos="0">
                <a:srgbClr val="000000"/>
              </a:gs>
              <a:gs pos="8000">
                <a:srgbClr val="000000"/>
              </a:gs>
              <a:gs pos="100000">
                <a:srgbClr val="2F5496"/>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8" name="Google Shape;178;p2"/>
          <p:cNvSpPr/>
          <p:nvPr/>
        </p:nvSpPr>
        <p:spPr>
          <a:xfrm rot="5400000" flipH="1">
            <a:off x="-1410085" y="1420219"/>
            <a:ext cx="6857999" cy="4037839"/>
          </a:xfrm>
          <a:prstGeom prst="rect">
            <a:avLst/>
          </a:prstGeom>
          <a:gradFill>
            <a:gsLst>
              <a:gs pos="0">
                <a:srgbClr val="000000">
                  <a:alpha val="0"/>
                </a:srgbClr>
              </a:gs>
              <a:gs pos="99000">
                <a:srgbClr val="4472C4">
                  <a:alpha val="45882"/>
                </a:srgbClr>
              </a:gs>
              <a:gs pos="100000">
                <a:srgbClr val="4472C4">
                  <a:alpha val="45882"/>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9" name="Google Shape;179;p2"/>
          <p:cNvSpPr/>
          <p:nvPr/>
        </p:nvSpPr>
        <p:spPr>
          <a:xfrm rot="5400000" flipH="1">
            <a:off x="767923" y="3588085"/>
            <a:ext cx="2501979" cy="4037841"/>
          </a:xfrm>
          <a:prstGeom prst="rect">
            <a:avLst/>
          </a:prstGeom>
          <a:gradFill>
            <a:gsLst>
              <a:gs pos="0">
                <a:srgbClr val="4472C4">
                  <a:alpha val="28627"/>
                </a:srgbClr>
              </a:gs>
              <a:gs pos="2000">
                <a:srgbClr val="4472C4">
                  <a:alpha val="28627"/>
                </a:srgbClr>
              </a:gs>
              <a:gs pos="100000">
                <a:srgbClr val="000000">
                  <a:alpha val="29803"/>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0" name="Google Shape;180;p2"/>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4472C4">
                  <a:alpha val="42745"/>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1" name="Google Shape;181;p2"/>
          <p:cNvSpPr/>
          <p:nvPr/>
        </p:nvSpPr>
        <p:spPr>
          <a:xfrm rot="5400000" flipH="1">
            <a:off x="-1410093" y="1399943"/>
            <a:ext cx="6858003" cy="4037835"/>
          </a:xfrm>
          <a:prstGeom prst="rect">
            <a:avLst/>
          </a:prstGeom>
          <a:gradFill>
            <a:gsLst>
              <a:gs pos="0">
                <a:srgbClr val="000000">
                  <a:alpha val="0"/>
                </a:srgbClr>
              </a:gs>
              <a:gs pos="99000">
                <a:srgbClr val="8DA9DB">
                  <a:alpha val="10980"/>
                </a:srgbClr>
              </a:gs>
              <a:gs pos="100000">
                <a:srgbClr val="8DA9DB">
                  <a:alpha val="10980"/>
                </a:srgbClr>
              </a:gs>
            </a:gsLst>
            <a:lin ang="7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2" name="Google Shape;182;p2"/>
          <p:cNvSpPr txBox="1">
            <a:spLocks noGrp="1"/>
          </p:cNvSpPr>
          <p:nvPr>
            <p:ph type="title"/>
          </p:nvPr>
        </p:nvSpPr>
        <p:spPr>
          <a:xfrm>
            <a:off x="372642" y="2806463"/>
            <a:ext cx="3292531" cy="859192"/>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3000"/>
              <a:buFont typeface="Times New Roman"/>
              <a:buNone/>
            </a:pPr>
            <a:r>
              <a:rPr lang="fr-FR" sz="3000" b="1">
                <a:solidFill>
                  <a:srgbClr val="FFFFFF"/>
                </a:solidFill>
                <a:latin typeface="Times New Roman"/>
                <a:ea typeface="Times New Roman"/>
                <a:cs typeface="Times New Roman"/>
                <a:sym typeface="Times New Roman"/>
              </a:rPr>
              <a:t>PLAN</a:t>
            </a:r>
            <a:endParaRPr/>
          </a:p>
        </p:txBody>
      </p:sp>
      <p:sp>
        <p:nvSpPr>
          <p:cNvPr id="183" name="Google Shape;183;p2"/>
          <p:cNvSpPr txBox="1">
            <a:spLocks noGrp="1"/>
          </p:cNvSpPr>
          <p:nvPr>
            <p:ph type="body" idx="1"/>
          </p:nvPr>
        </p:nvSpPr>
        <p:spPr>
          <a:xfrm>
            <a:off x="4601855" y="511388"/>
            <a:ext cx="6594230" cy="5582093"/>
          </a:xfrm>
          <a:prstGeom prst="rect">
            <a:avLst/>
          </a:prstGeom>
          <a:noFill/>
          <a:ln>
            <a:noFill/>
          </a:ln>
        </p:spPr>
        <p:txBody>
          <a:bodyPr spcFirstLastPara="1" wrap="square" lIns="91425" tIns="45700" rIns="91425" bIns="45700" anchor="ctr" anchorCtr="0">
            <a:noAutofit/>
          </a:bodyPr>
          <a:lstStyle/>
          <a:p>
            <a:pPr marL="342900" lvl="0" indent="-342900" algn="l" rtl="0">
              <a:lnSpc>
                <a:spcPct val="150000"/>
              </a:lnSpc>
              <a:spcBef>
                <a:spcPts val="0"/>
              </a:spcBef>
              <a:spcAft>
                <a:spcPts val="0"/>
              </a:spcAft>
              <a:buClr>
                <a:schemeClr val="dk1"/>
              </a:buClr>
              <a:buSzPts val="2500"/>
              <a:buFont typeface="Calibri"/>
              <a:buAutoNum type="romanUcPeriod"/>
            </a:pPr>
            <a:r>
              <a:rPr lang="fr-FR" sz="2500" b="1">
                <a:latin typeface="Times New Roman"/>
                <a:ea typeface="Times New Roman"/>
                <a:cs typeface="Times New Roman"/>
                <a:sym typeface="Times New Roman"/>
              </a:rPr>
              <a:t>Qu’est-ce que docker ?</a:t>
            </a:r>
            <a:endParaRPr/>
          </a:p>
          <a:p>
            <a:pPr marL="342900" lvl="0" indent="-342900" algn="l" rtl="0">
              <a:lnSpc>
                <a:spcPct val="150000"/>
              </a:lnSpc>
              <a:spcBef>
                <a:spcPts val="1000"/>
              </a:spcBef>
              <a:spcAft>
                <a:spcPts val="0"/>
              </a:spcAft>
              <a:buClr>
                <a:schemeClr val="dk1"/>
              </a:buClr>
              <a:buSzPts val="2500"/>
              <a:buFont typeface="Calibri"/>
              <a:buAutoNum type="romanUcPeriod"/>
            </a:pPr>
            <a:r>
              <a:rPr lang="fr-FR" sz="2500" b="1">
                <a:latin typeface="Times New Roman"/>
                <a:ea typeface="Times New Roman"/>
                <a:cs typeface="Times New Roman"/>
                <a:sym typeface="Times New Roman"/>
              </a:rPr>
              <a:t> Origine de docker</a:t>
            </a:r>
            <a:endParaRPr/>
          </a:p>
          <a:p>
            <a:pPr marL="342900" lvl="0" indent="-342900" algn="l" rtl="0">
              <a:lnSpc>
                <a:spcPct val="150000"/>
              </a:lnSpc>
              <a:spcBef>
                <a:spcPts val="1000"/>
              </a:spcBef>
              <a:spcAft>
                <a:spcPts val="0"/>
              </a:spcAft>
              <a:buClr>
                <a:schemeClr val="dk1"/>
              </a:buClr>
              <a:buSzPts val="2500"/>
              <a:buFont typeface="Calibri"/>
              <a:buAutoNum type="romanUcPeriod"/>
            </a:pPr>
            <a:r>
              <a:rPr lang="fr-FR" sz="2500" b="1">
                <a:latin typeface="Times New Roman"/>
                <a:ea typeface="Times New Roman"/>
                <a:cs typeface="Times New Roman"/>
                <a:sym typeface="Times New Roman"/>
              </a:rPr>
              <a:t> Architecture de docker</a:t>
            </a:r>
            <a:endParaRPr/>
          </a:p>
          <a:p>
            <a:pPr marL="342900" lvl="0" indent="-342900" algn="l" rtl="0">
              <a:lnSpc>
                <a:spcPct val="150000"/>
              </a:lnSpc>
              <a:spcBef>
                <a:spcPts val="1000"/>
              </a:spcBef>
              <a:spcAft>
                <a:spcPts val="0"/>
              </a:spcAft>
              <a:buClr>
                <a:schemeClr val="dk1"/>
              </a:buClr>
              <a:buSzPts val="2500"/>
              <a:buFont typeface="Calibri"/>
              <a:buAutoNum type="romanUcPeriod"/>
            </a:pPr>
            <a:r>
              <a:rPr lang="fr-FR" sz="2500" b="1">
                <a:latin typeface="Times New Roman"/>
                <a:ea typeface="Times New Roman"/>
                <a:cs typeface="Times New Roman"/>
                <a:sym typeface="Times New Roman"/>
              </a:rPr>
              <a:t> Fonctionnement de docker</a:t>
            </a:r>
            <a:endParaRPr/>
          </a:p>
          <a:p>
            <a:pPr marL="342900" lvl="0" indent="-342900" algn="l" rtl="0">
              <a:lnSpc>
                <a:spcPct val="150000"/>
              </a:lnSpc>
              <a:spcBef>
                <a:spcPts val="1000"/>
              </a:spcBef>
              <a:spcAft>
                <a:spcPts val="0"/>
              </a:spcAft>
              <a:buClr>
                <a:schemeClr val="dk1"/>
              </a:buClr>
              <a:buSzPts val="2500"/>
              <a:buFont typeface="Calibri"/>
              <a:buAutoNum type="romanUcPeriod"/>
            </a:pPr>
            <a:r>
              <a:rPr lang="fr-FR" sz="2500" b="1">
                <a:latin typeface="Times New Roman"/>
                <a:ea typeface="Times New Roman"/>
                <a:cs typeface="Times New Roman"/>
                <a:sym typeface="Times New Roman"/>
              </a:rPr>
              <a:t>  Contexte d’utilisation</a:t>
            </a:r>
            <a:endParaRPr/>
          </a:p>
          <a:p>
            <a:pPr marL="514350" lvl="0" indent="-514350" algn="l" rtl="0">
              <a:lnSpc>
                <a:spcPct val="150000"/>
              </a:lnSpc>
              <a:spcBef>
                <a:spcPts val="1000"/>
              </a:spcBef>
              <a:spcAft>
                <a:spcPts val="0"/>
              </a:spcAft>
              <a:buClr>
                <a:schemeClr val="dk1"/>
              </a:buClr>
              <a:buSzPts val="2500"/>
              <a:buFont typeface="Calibri"/>
              <a:buAutoNum type="romanUcPeriod"/>
            </a:pPr>
            <a:r>
              <a:rPr lang="fr-FR" sz="2500" b="1">
                <a:latin typeface="Times New Roman"/>
                <a:ea typeface="Times New Roman"/>
                <a:cs typeface="Times New Roman"/>
                <a:sym typeface="Times New Roman"/>
              </a:rPr>
              <a:t> Avantages et inconvénients</a:t>
            </a:r>
            <a:endParaRPr/>
          </a:p>
          <a:p>
            <a:pPr marL="514350" lvl="0" indent="-514350" algn="l" rtl="0">
              <a:lnSpc>
                <a:spcPct val="150000"/>
              </a:lnSpc>
              <a:spcBef>
                <a:spcPts val="1000"/>
              </a:spcBef>
              <a:spcAft>
                <a:spcPts val="0"/>
              </a:spcAft>
              <a:buClr>
                <a:schemeClr val="dk1"/>
              </a:buClr>
              <a:buSzPts val="2500"/>
              <a:buFont typeface="Calibri"/>
              <a:buAutoNum type="romanUcPeriod"/>
            </a:pPr>
            <a:r>
              <a:rPr lang="fr-FR" sz="2500" b="1">
                <a:latin typeface="Times New Roman"/>
                <a:ea typeface="Times New Roman"/>
                <a:cs typeface="Times New Roman"/>
                <a:sym typeface="Times New Roman"/>
              </a:rPr>
              <a:t> Pratique</a:t>
            </a:r>
            <a:endParaRPr/>
          </a:p>
        </p:txBody>
      </p:sp>
      <p:pic>
        <p:nvPicPr>
          <p:cNvPr id="184" name="Google Shape;184;p2"/>
          <p:cNvPicPr preferRelativeResize="0"/>
          <p:nvPr/>
        </p:nvPicPr>
        <p:blipFill rotWithShape="1">
          <a:blip r:embed="rId3">
            <a:alphaModFix/>
          </a:blip>
          <a:srcRect/>
          <a:stretch/>
        </p:blipFill>
        <p:spPr>
          <a:xfrm>
            <a:off x="9509548" y="28740"/>
            <a:ext cx="2679404" cy="16013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8"/>
        <p:cNvGrpSpPr/>
        <p:nvPr/>
      </p:nvGrpSpPr>
      <p:grpSpPr>
        <a:xfrm>
          <a:off x="0" y="0"/>
          <a:ext cx="0" cy="0"/>
          <a:chOff x="0" y="0"/>
          <a:chExt cx="0" cy="0"/>
        </a:xfrm>
      </p:grpSpPr>
      <p:sp>
        <p:nvSpPr>
          <p:cNvPr id="189" name="Google Shape;189;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0" name="Google Shape;190;p3"/>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1" name="Google Shape;191;p3"/>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2" name="Google Shape;192;p3"/>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3" name="Google Shape;193;p3"/>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4" name="Google Shape;194;p3"/>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I. QU’EST-CE DOCKER ?</a:t>
            </a:r>
            <a:endParaRPr sz="4000">
              <a:solidFill>
                <a:srgbClr val="FFFFFF"/>
              </a:solidFill>
              <a:latin typeface="Times New Roman"/>
              <a:ea typeface="Times New Roman"/>
              <a:cs typeface="Times New Roman"/>
              <a:sym typeface="Times New Roman"/>
            </a:endParaRPr>
          </a:p>
        </p:txBody>
      </p:sp>
      <p:sp>
        <p:nvSpPr>
          <p:cNvPr id="195" name="Google Shape;195;p3"/>
          <p:cNvSpPr txBox="1">
            <a:spLocks noGrp="1"/>
          </p:cNvSpPr>
          <p:nvPr>
            <p:ph type="body" idx="1"/>
          </p:nvPr>
        </p:nvSpPr>
        <p:spPr>
          <a:xfrm>
            <a:off x="740226" y="2232212"/>
            <a:ext cx="10711543" cy="3573165"/>
          </a:xfrm>
          <a:prstGeom prst="rect">
            <a:avLst/>
          </a:prstGeom>
          <a:noFill/>
          <a:ln>
            <a:noFill/>
          </a:ln>
        </p:spPr>
        <p:txBody>
          <a:bodyPr spcFirstLastPara="1" wrap="square" lIns="91425" tIns="45700" rIns="91425" bIns="45700" anchor="ctr" anchorCtr="0">
            <a:noAutofit/>
          </a:bodyPr>
          <a:lstStyle/>
          <a:p>
            <a:pPr marL="228600" lvl="0" indent="-228600" algn="just" rtl="0">
              <a:lnSpc>
                <a:spcPct val="150000"/>
              </a:lnSpc>
              <a:spcBef>
                <a:spcPts val="0"/>
              </a:spcBef>
              <a:spcAft>
                <a:spcPts val="0"/>
              </a:spcAft>
              <a:buClr>
                <a:schemeClr val="dk1"/>
              </a:buClr>
              <a:buSzPts val="2100"/>
              <a:buChar char="•"/>
            </a:pPr>
            <a:r>
              <a:rPr lang="fr-FR" sz="2100">
                <a:latin typeface="Times New Roman"/>
                <a:ea typeface="Times New Roman"/>
                <a:cs typeface="Times New Roman"/>
                <a:sym typeface="Times New Roman"/>
              </a:rPr>
              <a:t>Docker est une plateforme open source qui permet à des applications d’être déployées à partir de conteneurs.</a:t>
            </a:r>
            <a:endParaRPr/>
          </a:p>
          <a:p>
            <a:pPr marL="228600" lvl="0" indent="-228600" algn="just" rtl="0">
              <a:lnSpc>
                <a:spcPct val="150000"/>
              </a:lnSpc>
              <a:spcBef>
                <a:spcPts val="1000"/>
              </a:spcBef>
              <a:spcAft>
                <a:spcPts val="0"/>
              </a:spcAft>
              <a:buClr>
                <a:schemeClr val="dk1"/>
              </a:buClr>
              <a:buSzPts val="2100"/>
              <a:buChar char="•"/>
            </a:pPr>
            <a:r>
              <a:rPr lang="fr-FR" sz="2100">
                <a:latin typeface="Times New Roman"/>
                <a:ea typeface="Times New Roman"/>
                <a:cs typeface="Times New Roman"/>
                <a:sym typeface="Times New Roman"/>
              </a:rPr>
              <a:t>Le concept de Docker est d’avoir une couche d’abstraction permettant aux développeurs d’applications d’empaqueter n’importe quelle application et c’est ensuite la technologie de conteneurisation qui gère le déploiement, indépendamment de l’infrastructure physique.</a:t>
            </a:r>
            <a:endParaRPr/>
          </a:p>
          <a:p>
            <a:pPr marL="685800" lvl="1" indent="-323850" algn="just" rtl="0">
              <a:lnSpc>
                <a:spcPct val="150000"/>
              </a:lnSpc>
              <a:spcBef>
                <a:spcPts val="500"/>
              </a:spcBef>
              <a:spcAft>
                <a:spcPts val="0"/>
              </a:spcAft>
              <a:buClr>
                <a:schemeClr val="dk1"/>
              </a:buClr>
              <a:buSzPts val="2100"/>
              <a:buNone/>
            </a:pPr>
            <a:endParaRPr sz="21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9"/>
        <p:cNvGrpSpPr/>
        <p:nvPr/>
      </p:nvGrpSpPr>
      <p:grpSpPr>
        <a:xfrm>
          <a:off x="0" y="0"/>
          <a:ext cx="0" cy="0"/>
          <a:chOff x="0" y="0"/>
          <a:chExt cx="0" cy="0"/>
        </a:xfrm>
      </p:grpSpPr>
      <p:sp>
        <p:nvSpPr>
          <p:cNvPr id="200" name="Google Shape;200;p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1" name="Google Shape;201;p4"/>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2" name="Google Shape;202;p4"/>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3" name="Google Shape;203;p4"/>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4" name="Google Shape;204;p4"/>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5" name="Google Shape;205;p4"/>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II. ORIGINES DE DOCKER ?</a:t>
            </a:r>
            <a:endParaRPr sz="4000">
              <a:solidFill>
                <a:srgbClr val="FFFFFF"/>
              </a:solidFill>
              <a:latin typeface="Times New Roman"/>
              <a:ea typeface="Times New Roman"/>
              <a:cs typeface="Times New Roman"/>
              <a:sym typeface="Times New Roman"/>
            </a:endParaRPr>
          </a:p>
        </p:txBody>
      </p:sp>
      <p:sp>
        <p:nvSpPr>
          <p:cNvPr id="206" name="Google Shape;206;p4"/>
          <p:cNvSpPr txBox="1">
            <a:spLocks noGrp="1"/>
          </p:cNvSpPr>
          <p:nvPr>
            <p:ph type="body" idx="1"/>
          </p:nvPr>
        </p:nvSpPr>
        <p:spPr>
          <a:xfrm>
            <a:off x="740226" y="2349170"/>
            <a:ext cx="10711543" cy="3573165"/>
          </a:xfrm>
          <a:prstGeom prst="rect">
            <a:avLst/>
          </a:prstGeom>
          <a:noFill/>
          <a:ln>
            <a:noFill/>
          </a:ln>
        </p:spPr>
        <p:txBody>
          <a:bodyPr spcFirstLastPara="1" wrap="square" lIns="91425" tIns="45700" rIns="91425" bIns="45700" anchor="ctr" anchorCtr="0">
            <a:noAutofit/>
          </a:bodyPr>
          <a:lstStyle/>
          <a:p>
            <a:pPr marL="0" lvl="0" indent="0" algn="just" rtl="0">
              <a:lnSpc>
                <a:spcPct val="150000"/>
              </a:lnSpc>
              <a:spcBef>
                <a:spcPts val="0"/>
              </a:spcBef>
              <a:spcAft>
                <a:spcPts val="0"/>
              </a:spcAft>
              <a:buClr>
                <a:schemeClr val="dk1"/>
              </a:buClr>
              <a:buSzPts val="2100"/>
              <a:buNone/>
            </a:pPr>
            <a:r>
              <a:rPr lang="fr-FR" sz="2100">
                <a:latin typeface="Times New Roman"/>
                <a:ea typeface="Times New Roman"/>
                <a:cs typeface="Times New Roman"/>
                <a:sym typeface="Times New Roman"/>
              </a:rPr>
              <a:t>Au départ société française et maintenant basée a San Francisco dotCloud : </a:t>
            </a:r>
            <a:endParaRPr/>
          </a:p>
          <a:p>
            <a:pPr marL="228600" lvl="0" indent="-228600" algn="just" rtl="0">
              <a:lnSpc>
                <a:spcPct val="150000"/>
              </a:lnSpc>
              <a:spcBef>
                <a:spcPts val="1000"/>
              </a:spcBef>
              <a:spcAft>
                <a:spcPts val="0"/>
              </a:spcAft>
              <a:buClr>
                <a:schemeClr val="dk1"/>
              </a:buClr>
              <a:buSzPts val="2100"/>
              <a:buChar char="•"/>
            </a:pPr>
            <a:r>
              <a:rPr lang="fr-FR" sz="2100" b="1">
                <a:latin typeface="Times New Roman"/>
                <a:ea typeface="Times New Roman"/>
                <a:cs typeface="Times New Roman"/>
                <a:sym typeface="Times New Roman"/>
              </a:rPr>
              <a:t>PaaS</a:t>
            </a:r>
            <a:r>
              <a:rPr lang="fr-FR" sz="2100">
                <a:latin typeface="Times New Roman"/>
                <a:ea typeface="Times New Roman"/>
                <a:cs typeface="Times New Roman"/>
                <a:sym typeface="Times New Roman"/>
              </a:rPr>
              <a:t> avec un conteneur engine écrit en python </a:t>
            </a:r>
            <a:endParaRPr/>
          </a:p>
          <a:p>
            <a:pPr marL="228600" lvl="0" indent="-228600" algn="just" rtl="0">
              <a:lnSpc>
                <a:spcPct val="150000"/>
              </a:lnSpc>
              <a:spcBef>
                <a:spcPts val="1000"/>
              </a:spcBef>
              <a:spcAft>
                <a:spcPts val="0"/>
              </a:spcAft>
              <a:buClr>
                <a:schemeClr val="dk1"/>
              </a:buClr>
              <a:buSzPts val="2100"/>
              <a:buChar char="•"/>
            </a:pPr>
            <a:r>
              <a:rPr lang="fr-FR" sz="2100">
                <a:latin typeface="Times New Roman"/>
                <a:ea typeface="Times New Roman"/>
                <a:cs typeface="Times New Roman"/>
                <a:sym typeface="Times New Roman"/>
              </a:rPr>
              <a:t>Réécrit avec le langage go en 2012 </a:t>
            </a:r>
            <a:endParaRPr/>
          </a:p>
          <a:p>
            <a:pPr marL="228600" lvl="0" indent="-228600" algn="just" rtl="0">
              <a:lnSpc>
                <a:spcPct val="150000"/>
              </a:lnSpc>
              <a:spcBef>
                <a:spcPts val="1000"/>
              </a:spcBef>
              <a:spcAft>
                <a:spcPts val="0"/>
              </a:spcAft>
              <a:buClr>
                <a:schemeClr val="dk1"/>
              </a:buClr>
              <a:buSzPts val="2100"/>
              <a:buChar char="•"/>
            </a:pPr>
            <a:r>
              <a:rPr lang="fr-FR" sz="2100">
                <a:latin typeface="Times New Roman"/>
                <a:ea typeface="Times New Roman"/>
                <a:cs typeface="Times New Roman"/>
                <a:sym typeface="Times New Roman"/>
              </a:rPr>
              <a:t>Première version Open source de docker en 2013 </a:t>
            </a:r>
            <a:endParaRPr/>
          </a:p>
          <a:p>
            <a:pPr marL="228600" lvl="0" indent="-228600" algn="just" rtl="0">
              <a:lnSpc>
                <a:spcPct val="150000"/>
              </a:lnSpc>
              <a:spcBef>
                <a:spcPts val="1000"/>
              </a:spcBef>
              <a:spcAft>
                <a:spcPts val="0"/>
              </a:spcAft>
              <a:buClr>
                <a:schemeClr val="dk1"/>
              </a:buClr>
              <a:buSzPts val="2100"/>
              <a:buChar char="•"/>
            </a:pPr>
            <a:r>
              <a:rPr lang="fr-FR" sz="2100">
                <a:latin typeface="Times New Roman"/>
                <a:ea typeface="Times New Roman"/>
                <a:cs typeface="Times New Roman"/>
                <a:sym typeface="Times New Roman"/>
              </a:rPr>
              <a:t>Réaction très positive de la communauté </a:t>
            </a:r>
            <a:endParaRPr/>
          </a:p>
          <a:p>
            <a:pPr marL="228600" lvl="0" indent="-228600" algn="just" rtl="0">
              <a:lnSpc>
                <a:spcPct val="150000"/>
              </a:lnSpc>
              <a:spcBef>
                <a:spcPts val="1000"/>
              </a:spcBef>
              <a:spcAft>
                <a:spcPts val="0"/>
              </a:spcAft>
              <a:buClr>
                <a:schemeClr val="dk1"/>
              </a:buClr>
              <a:buSzPts val="2100"/>
              <a:buChar char="•"/>
            </a:pPr>
            <a:r>
              <a:rPr lang="fr-FR" sz="2100">
                <a:latin typeface="Times New Roman"/>
                <a:ea typeface="Times New Roman"/>
                <a:cs typeface="Times New Roman"/>
                <a:sym typeface="Times New Roman"/>
              </a:rPr>
              <a:t>dotCloud change de nom pour docker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0"/>
        <p:cNvGrpSpPr/>
        <p:nvPr/>
      </p:nvGrpSpPr>
      <p:grpSpPr>
        <a:xfrm>
          <a:off x="0" y="0"/>
          <a:ext cx="0" cy="0"/>
          <a:chOff x="0" y="0"/>
          <a:chExt cx="0" cy="0"/>
        </a:xfrm>
      </p:grpSpPr>
      <p:sp>
        <p:nvSpPr>
          <p:cNvPr id="211" name="Google Shape;211;p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2" name="Google Shape;212;p5"/>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3" name="Google Shape;213;p5"/>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4" name="Google Shape;214;p5"/>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5" name="Google Shape;215;p5"/>
          <p:cNvSpPr txBox="1">
            <a:spLocks noGrp="1"/>
          </p:cNvSpPr>
          <p:nvPr>
            <p:ph type="title"/>
          </p:nvPr>
        </p:nvSpPr>
        <p:spPr>
          <a:xfrm>
            <a:off x="699713" y="248038"/>
            <a:ext cx="10028538" cy="1159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III. L’ARCHITECTURE DE DOCKER ?</a:t>
            </a:r>
            <a:endParaRPr sz="4000">
              <a:solidFill>
                <a:srgbClr val="FFFFFF"/>
              </a:solidFill>
              <a:latin typeface="Calibri"/>
              <a:ea typeface="Calibri"/>
              <a:cs typeface="Calibri"/>
              <a:sym typeface="Calibri"/>
            </a:endParaRPr>
          </a:p>
        </p:txBody>
      </p:sp>
      <p:pic>
        <p:nvPicPr>
          <p:cNvPr id="216" name="Google Shape;216;p5"/>
          <p:cNvPicPr preferRelativeResize="0"/>
          <p:nvPr/>
        </p:nvPicPr>
        <p:blipFill rotWithShape="1">
          <a:blip r:embed="rId3">
            <a:alphaModFix/>
          </a:blip>
          <a:srcRect/>
          <a:stretch/>
        </p:blipFill>
        <p:spPr>
          <a:xfrm>
            <a:off x="1065309" y="1966293"/>
            <a:ext cx="10061380" cy="445216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6"/>
                                        </p:tgtEl>
                                        <p:attrNameLst>
                                          <p:attrName>style.visibility</p:attrName>
                                        </p:attrNameLst>
                                      </p:cBhvr>
                                      <p:to>
                                        <p:strVal val="visible"/>
                                      </p:to>
                                    </p:set>
                                    <p:anim calcmode="lin" valueType="num">
                                      <p:cBhvr additive="base">
                                        <p:cTn id="7" dur="500"/>
                                        <p:tgtEl>
                                          <p:spTgt spid="2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0"/>
        <p:cNvGrpSpPr/>
        <p:nvPr/>
      </p:nvGrpSpPr>
      <p:grpSpPr>
        <a:xfrm>
          <a:off x="0" y="0"/>
          <a:ext cx="0" cy="0"/>
          <a:chOff x="0" y="0"/>
          <a:chExt cx="0" cy="0"/>
        </a:xfrm>
      </p:grpSpPr>
      <p:sp>
        <p:nvSpPr>
          <p:cNvPr id="221" name="Google Shape;221;p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2" name="Google Shape;222;p6"/>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3" name="Google Shape;223;p6"/>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4" name="Google Shape;224;p6"/>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5" name="Google Shape;225;p6"/>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6" name="Google Shape;226;p6"/>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IV. FONCTIONNEMENT DE DOCKER</a:t>
            </a:r>
            <a:endParaRPr sz="4000">
              <a:solidFill>
                <a:srgbClr val="FFFFFF"/>
              </a:solidFill>
              <a:latin typeface="Times New Roman"/>
              <a:ea typeface="Times New Roman"/>
              <a:cs typeface="Times New Roman"/>
              <a:sym typeface="Times New Roman"/>
            </a:endParaRPr>
          </a:p>
        </p:txBody>
      </p:sp>
      <p:sp>
        <p:nvSpPr>
          <p:cNvPr id="227" name="Google Shape;227;p6"/>
          <p:cNvSpPr txBox="1"/>
          <p:nvPr/>
        </p:nvSpPr>
        <p:spPr>
          <a:xfrm>
            <a:off x="831532" y="2075706"/>
            <a:ext cx="305525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b="1" i="0" u="none" strike="noStrike" cap="none">
                <a:solidFill>
                  <a:schemeClr val="dk1"/>
                </a:solidFill>
                <a:latin typeface="Times New Roman"/>
                <a:ea typeface="Times New Roman"/>
                <a:cs typeface="Times New Roman"/>
                <a:sym typeface="Times New Roman"/>
              </a:rPr>
              <a:t>Docker Engine </a:t>
            </a:r>
            <a:endParaRPr/>
          </a:p>
        </p:txBody>
      </p:sp>
      <p:sp>
        <p:nvSpPr>
          <p:cNvPr id="228" name="Google Shape;228;p6"/>
          <p:cNvSpPr txBox="1">
            <a:spLocks noGrp="1"/>
          </p:cNvSpPr>
          <p:nvPr>
            <p:ph type="body" idx="1"/>
          </p:nvPr>
        </p:nvSpPr>
        <p:spPr>
          <a:xfrm>
            <a:off x="648925" y="2353635"/>
            <a:ext cx="10711543" cy="3573165"/>
          </a:xfrm>
          <a:prstGeom prst="rect">
            <a:avLst/>
          </a:prstGeom>
          <a:noFill/>
          <a:ln>
            <a:noFill/>
          </a:ln>
        </p:spPr>
        <p:txBody>
          <a:bodyPr spcFirstLastPara="1" wrap="square" lIns="91425" tIns="45700" rIns="91425" bIns="45700" anchor="ctr" anchorCtr="0">
            <a:noAutofit/>
          </a:bodyPr>
          <a:lstStyle/>
          <a:p>
            <a:pPr marL="228600" lvl="0" indent="-228600" algn="just" rtl="0">
              <a:lnSpc>
                <a:spcPct val="150000"/>
              </a:lnSpc>
              <a:spcBef>
                <a:spcPts val="0"/>
              </a:spcBef>
              <a:spcAft>
                <a:spcPts val="0"/>
              </a:spcAft>
              <a:buClr>
                <a:schemeClr val="dk1"/>
              </a:buClr>
              <a:buSzPts val="2100"/>
              <a:buChar char="•"/>
            </a:pPr>
            <a:r>
              <a:rPr lang="fr-FR" sz="2100">
                <a:latin typeface="Times New Roman"/>
                <a:ea typeface="Times New Roman"/>
                <a:cs typeface="Times New Roman"/>
                <a:sym typeface="Times New Roman"/>
              </a:rPr>
              <a:t>Docker Engine est le cœur de Docker. </a:t>
            </a:r>
            <a:endParaRPr/>
          </a:p>
          <a:p>
            <a:pPr marL="228600" lvl="0" indent="-228600" algn="just" rtl="0">
              <a:lnSpc>
                <a:spcPct val="150000"/>
              </a:lnSpc>
              <a:spcBef>
                <a:spcPts val="1000"/>
              </a:spcBef>
              <a:spcAft>
                <a:spcPts val="0"/>
              </a:spcAft>
              <a:buClr>
                <a:schemeClr val="dk1"/>
              </a:buClr>
              <a:buSzPts val="2100"/>
              <a:buChar char="•"/>
            </a:pPr>
            <a:r>
              <a:rPr lang="fr-FR" sz="2100">
                <a:latin typeface="Times New Roman"/>
                <a:ea typeface="Times New Roman"/>
                <a:cs typeface="Times New Roman"/>
                <a:sym typeface="Times New Roman"/>
              </a:rPr>
              <a:t>C’est la technologie client-serveur sous-jacente qui crée et exécute les conteneurs. Deux versions différentes de Docker Engine sont proposées : </a:t>
            </a:r>
            <a:endParaRPr/>
          </a:p>
          <a:p>
            <a:pPr marL="0" lvl="0" indent="0" algn="just" rtl="0">
              <a:lnSpc>
                <a:spcPct val="150000"/>
              </a:lnSpc>
              <a:spcBef>
                <a:spcPts val="1000"/>
              </a:spcBef>
              <a:spcAft>
                <a:spcPts val="0"/>
              </a:spcAft>
              <a:buClr>
                <a:schemeClr val="dk1"/>
              </a:buClr>
              <a:buSzPts val="2100"/>
              <a:buNone/>
            </a:pPr>
            <a:r>
              <a:rPr lang="fr-FR" sz="2100">
                <a:latin typeface="Times New Roman"/>
                <a:ea typeface="Times New Roman"/>
                <a:cs typeface="Times New Roman"/>
                <a:sym typeface="Times New Roman"/>
              </a:rPr>
              <a:t>      </a:t>
            </a:r>
            <a:r>
              <a:rPr lang="fr-FR" sz="2100" b="1">
                <a:latin typeface="Times New Roman"/>
                <a:ea typeface="Times New Roman"/>
                <a:cs typeface="Times New Roman"/>
                <a:sym typeface="Times New Roman"/>
              </a:rPr>
              <a:t>- Docker Engine Enterprise </a:t>
            </a:r>
            <a:endParaRPr/>
          </a:p>
          <a:p>
            <a:pPr marL="0" lvl="0" indent="0" algn="just" rtl="0">
              <a:lnSpc>
                <a:spcPct val="150000"/>
              </a:lnSpc>
              <a:spcBef>
                <a:spcPts val="1000"/>
              </a:spcBef>
              <a:spcAft>
                <a:spcPts val="0"/>
              </a:spcAft>
              <a:buClr>
                <a:schemeClr val="dk1"/>
              </a:buClr>
              <a:buSzPts val="2100"/>
              <a:buNone/>
            </a:pPr>
            <a:r>
              <a:rPr lang="fr-FR" sz="2100" b="1">
                <a:latin typeface="Times New Roman"/>
                <a:ea typeface="Times New Roman"/>
                <a:cs typeface="Times New Roman"/>
                <a:sym typeface="Times New Roman"/>
              </a:rPr>
              <a:t>      - Docker Engine Community</a:t>
            </a:r>
            <a:endParaRPr sz="2100">
              <a:latin typeface="Times New Roman"/>
              <a:ea typeface="Times New Roman"/>
              <a:cs typeface="Times New Roman"/>
              <a:sym typeface="Times New Roman"/>
            </a:endParaRPr>
          </a:p>
        </p:txBody>
      </p:sp>
      <p:pic>
        <p:nvPicPr>
          <p:cNvPr id="229" name="Google Shape;229;p6"/>
          <p:cNvPicPr preferRelativeResize="0"/>
          <p:nvPr/>
        </p:nvPicPr>
        <p:blipFill rotWithShape="1">
          <a:blip r:embed="rId3">
            <a:alphaModFix/>
          </a:blip>
          <a:srcRect/>
          <a:stretch/>
        </p:blipFill>
        <p:spPr>
          <a:xfrm>
            <a:off x="7612912" y="3880884"/>
            <a:ext cx="3930158" cy="287079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7">
                                            <p:txEl>
                                              <p:pRg st="0" end="0"/>
                                            </p:txEl>
                                          </p:spTgt>
                                        </p:tgtEl>
                                        <p:attrNameLst>
                                          <p:attrName>style.visibility</p:attrName>
                                        </p:attrNameLst>
                                      </p:cBhvr>
                                      <p:to>
                                        <p:strVal val="visible"/>
                                      </p:to>
                                    </p:set>
                                    <p:anim calcmode="lin" valueType="num">
                                      <p:cBhvr additive="base">
                                        <p:cTn id="7" dur="500"/>
                                        <p:tgtEl>
                                          <p:spTgt spid="22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29"/>
                                        </p:tgtEl>
                                        <p:attrNameLst>
                                          <p:attrName>style.visibility</p:attrName>
                                        </p:attrNameLst>
                                      </p:cBhvr>
                                      <p:to>
                                        <p:strVal val="visible"/>
                                      </p:to>
                                    </p:set>
                                    <p:anim calcmode="lin" valueType="num">
                                      <p:cBhvr additive="base">
                                        <p:cTn id="12" dur="500"/>
                                        <p:tgtEl>
                                          <p:spTgt spid="2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3"/>
        <p:cNvGrpSpPr/>
        <p:nvPr/>
      </p:nvGrpSpPr>
      <p:grpSpPr>
        <a:xfrm>
          <a:off x="0" y="0"/>
          <a:ext cx="0" cy="0"/>
          <a:chOff x="0" y="0"/>
          <a:chExt cx="0" cy="0"/>
        </a:xfrm>
      </p:grpSpPr>
      <p:sp>
        <p:nvSpPr>
          <p:cNvPr id="234" name="Google Shape;234;p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 name="Google Shape;235;p7"/>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6" name="Google Shape;236;p7"/>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7" name="Google Shape;237;p7"/>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 name="Google Shape;238;p7"/>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 name="Google Shape;239;p7"/>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IV. FONCTIONNEMENT DE DOCKER</a:t>
            </a:r>
            <a:endParaRPr sz="4000">
              <a:solidFill>
                <a:srgbClr val="FFFFFF"/>
              </a:solidFill>
              <a:latin typeface="Times New Roman"/>
              <a:ea typeface="Times New Roman"/>
              <a:cs typeface="Times New Roman"/>
              <a:sym typeface="Times New Roman"/>
            </a:endParaRPr>
          </a:p>
        </p:txBody>
      </p:sp>
      <p:sp>
        <p:nvSpPr>
          <p:cNvPr id="240" name="Google Shape;240;p7"/>
          <p:cNvSpPr txBox="1"/>
          <p:nvPr/>
        </p:nvSpPr>
        <p:spPr>
          <a:xfrm>
            <a:off x="831532" y="2075706"/>
            <a:ext cx="305525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b="1">
                <a:solidFill>
                  <a:schemeClr val="dk1"/>
                </a:solidFill>
                <a:latin typeface="Times New Roman"/>
                <a:ea typeface="Times New Roman"/>
                <a:cs typeface="Times New Roman"/>
                <a:sym typeface="Times New Roman"/>
              </a:rPr>
              <a:t>Dockerfiles </a:t>
            </a:r>
            <a:endParaRPr/>
          </a:p>
        </p:txBody>
      </p:sp>
      <p:sp>
        <p:nvSpPr>
          <p:cNvPr id="241" name="Google Shape;241;p7"/>
          <p:cNvSpPr txBox="1">
            <a:spLocks noGrp="1"/>
          </p:cNvSpPr>
          <p:nvPr>
            <p:ph type="body" idx="1"/>
          </p:nvPr>
        </p:nvSpPr>
        <p:spPr>
          <a:xfrm>
            <a:off x="648925" y="2537371"/>
            <a:ext cx="10711543" cy="3573165"/>
          </a:xfrm>
          <a:prstGeom prst="rect">
            <a:avLst/>
          </a:prstGeom>
          <a:noFill/>
          <a:ln>
            <a:noFill/>
          </a:ln>
        </p:spPr>
        <p:txBody>
          <a:bodyPr spcFirstLastPara="1" wrap="square" lIns="91425" tIns="45700" rIns="91425" bIns="45700" anchor="ctr" anchorCtr="0">
            <a:noAutofit/>
          </a:bodyPr>
          <a:lstStyle/>
          <a:p>
            <a:pPr marL="228600" lvl="0" indent="-228600" algn="just" rtl="0">
              <a:lnSpc>
                <a:spcPct val="150000"/>
              </a:lnSpc>
              <a:spcBef>
                <a:spcPts val="0"/>
              </a:spcBef>
              <a:spcAft>
                <a:spcPts val="0"/>
              </a:spcAft>
              <a:buClr>
                <a:schemeClr val="dk1"/>
              </a:buClr>
              <a:buSzPts val="2100"/>
              <a:buChar char="•"/>
            </a:pPr>
            <a:r>
              <a:rPr lang="fr-FR" sz="2100">
                <a:latin typeface="Times New Roman"/>
                <a:ea typeface="Times New Roman"/>
                <a:cs typeface="Times New Roman"/>
                <a:sym typeface="Times New Roman"/>
              </a:rPr>
              <a:t>C’est un fichier texte qui décrit la création d’un conteneur. Il permet d’avoir des modèles de conteneur très personnalisables.</a:t>
            </a:r>
            <a:endParaRPr/>
          </a:p>
          <a:p>
            <a:pPr marL="228600" lvl="0" indent="-228600" algn="just" rtl="0">
              <a:lnSpc>
                <a:spcPct val="150000"/>
              </a:lnSpc>
              <a:spcBef>
                <a:spcPts val="1000"/>
              </a:spcBef>
              <a:spcAft>
                <a:spcPts val="0"/>
              </a:spcAft>
              <a:buClr>
                <a:schemeClr val="dk1"/>
              </a:buClr>
              <a:buSzPts val="2000"/>
              <a:buChar char="•"/>
            </a:pPr>
            <a:r>
              <a:rPr lang="fr-FR" sz="2000" b="1">
                <a:latin typeface="Times New Roman"/>
                <a:ea typeface="Times New Roman"/>
                <a:cs typeface="Times New Roman"/>
                <a:sym typeface="Times New Roman"/>
              </a:rPr>
              <a:t>Docker image </a:t>
            </a:r>
            <a:endParaRPr sz="2100">
              <a:latin typeface="Times New Roman"/>
              <a:ea typeface="Times New Roman"/>
              <a:cs typeface="Times New Roman"/>
              <a:sym typeface="Times New Roman"/>
            </a:endParaRPr>
          </a:p>
          <a:p>
            <a:pPr marL="228600" lvl="0" indent="-228600" algn="just" rtl="0">
              <a:lnSpc>
                <a:spcPct val="150000"/>
              </a:lnSpc>
              <a:spcBef>
                <a:spcPts val="1000"/>
              </a:spcBef>
              <a:spcAft>
                <a:spcPts val="0"/>
              </a:spcAft>
              <a:buClr>
                <a:schemeClr val="dk1"/>
              </a:buClr>
              <a:buSzPts val="2100"/>
              <a:buChar char="•"/>
            </a:pPr>
            <a:r>
              <a:rPr lang="fr-FR" sz="2100">
                <a:latin typeface="Times New Roman"/>
                <a:ea typeface="Times New Roman"/>
                <a:cs typeface="Times New Roman"/>
                <a:sym typeface="Times New Roman"/>
              </a:rPr>
              <a:t>Docker image est un fichier portable contenant les spécifications pour les composants logiciels pour lesquels le conteneur sera exécuté et comment il sera exécuté.</a:t>
            </a:r>
            <a:endParaRPr/>
          </a:p>
          <a:p>
            <a:pPr marL="228600" lvl="0" indent="-95250" algn="just" rtl="0">
              <a:lnSpc>
                <a:spcPct val="150000"/>
              </a:lnSpc>
              <a:spcBef>
                <a:spcPts val="1000"/>
              </a:spcBef>
              <a:spcAft>
                <a:spcPts val="0"/>
              </a:spcAft>
              <a:buClr>
                <a:schemeClr val="dk1"/>
              </a:buClr>
              <a:buSzPts val="2100"/>
              <a:buNone/>
            </a:pPr>
            <a:endParaRPr sz="2100">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0">
                                            <p:txEl>
                                              <p:pRg st="0" end="0"/>
                                            </p:txEl>
                                          </p:spTgt>
                                        </p:tgtEl>
                                        <p:attrNameLst>
                                          <p:attrName>style.visibility</p:attrName>
                                        </p:attrNameLst>
                                      </p:cBhvr>
                                      <p:to>
                                        <p:strVal val="visible"/>
                                      </p:to>
                                    </p:set>
                                    <p:anim calcmode="lin" valueType="num">
                                      <p:cBhvr additive="base">
                                        <p:cTn id="7" dur="500"/>
                                        <p:tgtEl>
                                          <p:spTgt spid="24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5"/>
        <p:cNvGrpSpPr/>
        <p:nvPr/>
      </p:nvGrpSpPr>
      <p:grpSpPr>
        <a:xfrm>
          <a:off x="0" y="0"/>
          <a:ext cx="0" cy="0"/>
          <a:chOff x="0" y="0"/>
          <a:chExt cx="0" cy="0"/>
        </a:xfrm>
      </p:grpSpPr>
      <p:sp>
        <p:nvSpPr>
          <p:cNvPr id="246" name="Google Shape;246;p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 name="Google Shape;247;p8"/>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8" name="Google Shape;248;p8"/>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9" name="Google Shape;249;p8"/>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0" name="Google Shape;250;p8"/>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 name="Google Shape;251;p8"/>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IV. FONCTIONNEMENT DE DOCKER</a:t>
            </a:r>
            <a:endParaRPr sz="4000">
              <a:solidFill>
                <a:srgbClr val="FFFFFF"/>
              </a:solidFill>
              <a:latin typeface="Times New Roman"/>
              <a:ea typeface="Times New Roman"/>
              <a:cs typeface="Times New Roman"/>
              <a:sym typeface="Times New Roman"/>
            </a:endParaRPr>
          </a:p>
        </p:txBody>
      </p:sp>
      <p:sp>
        <p:nvSpPr>
          <p:cNvPr id="252" name="Google Shape;252;p8"/>
          <p:cNvSpPr txBox="1"/>
          <p:nvPr/>
        </p:nvSpPr>
        <p:spPr>
          <a:xfrm>
            <a:off x="831532" y="2075706"/>
            <a:ext cx="305525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b="1">
                <a:solidFill>
                  <a:schemeClr val="dk1"/>
                </a:solidFill>
                <a:latin typeface="Times New Roman"/>
                <a:ea typeface="Times New Roman"/>
                <a:cs typeface="Times New Roman"/>
                <a:sym typeface="Times New Roman"/>
              </a:rPr>
              <a:t>Conteneur Docker </a:t>
            </a:r>
            <a:endParaRPr/>
          </a:p>
        </p:txBody>
      </p:sp>
      <p:sp>
        <p:nvSpPr>
          <p:cNvPr id="253" name="Google Shape;253;p8"/>
          <p:cNvSpPr txBox="1">
            <a:spLocks noGrp="1"/>
          </p:cNvSpPr>
          <p:nvPr>
            <p:ph type="body" idx="1"/>
          </p:nvPr>
        </p:nvSpPr>
        <p:spPr>
          <a:xfrm>
            <a:off x="648925" y="2813818"/>
            <a:ext cx="10711543" cy="4026091"/>
          </a:xfrm>
          <a:prstGeom prst="rect">
            <a:avLst/>
          </a:prstGeom>
          <a:noFill/>
          <a:ln>
            <a:noFill/>
          </a:ln>
        </p:spPr>
        <p:txBody>
          <a:bodyPr spcFirstLastPara="1" wrap="square" lIns="91425" tIns="45700" rIns="91425" bIns="45700" anchor="ctr" anchorCtr="0">
            <a:noAutofit/>
          </a:bodyPr>
          <a:lstStyle/>
          <a:p>
            <a:pPr marL="228600" lvl="0" indent="-228600" algn="just" rtl="0">
              <a:lnSpc>
                <a:spcPct val="150000"/>
              </a:lnSpc>
              <a:spcBef>
                <a:spcPts val="0"/>
              </a:spcBef>
              <a:spcAft>
                <a:spcPts val="0"/>
              </a:spcAft>
              <a:buClr>
                <a:schemeClr val="dk1"/>
              </a:buClr>
              <a:buSzPts val="2100"/>
              <a:buChar char="•"/>
            </a:pPr>
            <a:r>
              <a:rPr lang="fr-FR" sz="2100">
                <a:latin typeface="Times New Roman"/>
                <a:ea typeface="Times New Roman"/>
                <a:cs typeface="Times New Roman"/>
                <a:sym typeface="Times New Roman"/>
              </a:rPr>
              <a:t>Enveloppe permettant de packager une application avec juste ce dont elle a </a:t>
            </a:r>
            <a:endParaRPr/>
          </a:p>
          <a:p>
            <a:pPr marL="0" lvl="0" indent="0" algn="just" rtl="0">
              <a:lnSpc>
                <a:spcPct val="150000"/>
              </a:lnSpc>
              <a:spcBef>
                <a:spcPts val="1000"/>
              </a:spcBef>
              <a:spcAft>
                <a:spcPts val="0"/>
              </a:spcAft>
              <a:buClr>
                <a:schemeClr val="dk1"/>
              </a:buClr>
              <a:buSzPts val="2100"/>
              <a:buNone/>
            </a:pPr>
            <a:r>
              <a:rPr lang="fr-FR" sz="2100">
                <a:latin typeface="Times New Roman"/>
                <a:ea typeface="Times New Roman"/>
                <a:cs typeface="Times New Roman"/>
                <a:sym typeface="Times New Roman"/>
              </a:rPr>
              <a:t>    besoin pour fonctionner. </a:t>
            </a:r>
            <a:endParaRPr/>
          </a:p>
          <a:p>
            <a:pPr marL="228600" lvl="0" indent="-228600" algn="just" rtl="0">
              <a:lnSpc>
                <a:spcPct val="150000"/>
              </a:lnSpc>
              <a:spcBef>
                <a:spcPts val="1000"/>
              </a:spcBef>
              <a:spcAft>
                <a:spcPts val="0"/>
              </a:spcAft>
              <a:buClr>
                <a:schemeClr val="dk1"/>
              </a:buClr>
              <a:buSzPts val="2100"/>
              <a:buChar char="•"/>
            </a:pPr>
            <a:r>
              <a:rPr lang="fr-FR" sz="2100">
                <a:latin typeface="Times New Roman"/>
                <a:ea typeface="Times New Roman"/>
                <a:cs typeface="Times New Roman"/>
                <a:sym typeface="Times New Roman"/>
              </a:rPr>
              <a:t>Peut être déployé dans n’importe quelle machine disposant d’un container engine avec différents environnements (Dev, Test, Prod). </a:t>
            </a:r>
            <a:endParaRPr/>
          </a:p>
          <a:p>
            <a:pPr marL="228600" lvl="0" indent="-228600" algn="just" rtl="0">
              <a:lnSpc>
                <a:spcPct val="150000"/>
              </a:lnSpc>
              <a:spcBef>
                <a:spcPts val="1000"/>
              </a:spcBef>
              <a:spcAft>
                <a:spcPts val="0"/>
              </a:spcAft>
              <a:buClr>
                <a:schemeClr val="dk1"/>
              </a:buClr>
              <a:buSzPts val="2100"/>
              <a:buChar char="•"/>
            </a:pPr>
            <a:r>
              <a:rPr lang="fr-FR" sz="2100">
                <a:latin typeface="Times New Roman"/>
                <a:ea typeface="Times New Roman"/>
                <a:cs typeface="Times New Roman"/>
                <a:sym typeface="Times New Roman"/>
              </a:rPr>
              <a:t>Utilise le kernel de l’OS Hôte A son propre espace de processus et sa propre interface réseau.</a:t>
            </a:r>
            <a:endParaRPr/>
          </a:p>
          <a:p>
            <a:pPr marL="228600" lvl="0" indent="-228600" algn="just" rtl="0">
              <a:lnSpc>
                <a:spcPct val="150000"/>
              </a:lnSpc>
              <a:spcBef>
                <a:spcPts val="1000"/>
              </a:spcBef>
              <a:spcAft>
                <a:spcPts val="0"/>
              </a:spcAft>
              <a:buClr>
                <a:schemeClr val="dk1"/>
              </a:buClr>
              <a:buSzPts val="2100"/>
              <a:buChar char="•"/>
            </a:pPr>
            <a:r>
              <a:rPr lang="fr-FR" sz="2100">
                <a:latin typeface="Times New Roman"/>
                <a:ea typeface="Times New Roman"/>
                <a:cs typeface="Times New Roman"/>
                <a:sym typeface="Times New Roman"/>
              </a:rPr>
              <a:t>Isole de l’hôte, mais exécutée directement dessus. Permet de décomposer l’infrastructure applicative en petits éléments légers facile a déployer et a réutiliser.</a:t>
            </a:r>
            <a:endParaRPr/>
          </a:p>
          <a:p>
            <a:pPr marL="228600" lvl="0" indent="-95250" algn="just" rtl="0">
              <a:lnSpc>
                <a:spcPct val="150000"/>
              </a:lnSpc>
              <a:spcBef>
                <a:spcPts val="1000"/>
              </a:spcBef>
              <a:spcAft>
                <a:spcPts val="0"/>
              </a:spcAft>
              <a:buClr>
                <a:schemeClr val="dk1"/>
              </a:buClr>
              <a:buSzPts val="2100"/>
              <a:buNone/>
            </a:pPr>
            <a:endParaRPr sz="2100">
              <a:latin typeface="Times New Roman"/>
              <a:ea typeface="Times New Roman"/>
              <a:cs typeface="Times New Roman"/>
              <a:sym typeface="Times New Roman"/>
            </a:endParaRPr>
          </a:p>
        </p:txBody>
      </p:sp>
      <p:pic>
        <p:nvPicPr>
          <p:cNvPr id="254" name="Google Shape;254;p8"/>
          <p:cNvPicPr preferRelativeResize="0"/>
          <p:nvPr/>
        </p:nvPicPr>
        <p:blipFill rotWithShape="1">
          <a:blip r:embed="rId3">
            <a:alphaModFix/>
          </a:blip>
          <a:srcRect/>
          <a:stretch/>
        </p:blipFill>
        <p:spPr>
          <a:xfrm>
            <a:off x="9058940" y="1711842"/>
            <a:ext cx="3133055" cy="205208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2">
                                            <p:txEl>
                                              <p:pRg st="0" end="0"/>
                                            </p:txEl>
                                          </p:spTgt>
                                        </p:tgtEl>
                                        <p:attrNameLst>
                                          <p:attrName>style.visibility</p:attrName>
                                        </p:attrNameLst>
                                      </p:cBhvr>
                                      <p:to>
                                        <p:strVal val="visible"/>
                                      </p:to>
                                    </p:set>
                                    <p:anim calcmode="lin" valueType="num">
                                      <p:cBhvr additive="base">
                                        <p:cTn id="7" dur="500"/>
                                        <p:tgtEl>
                                          <p:spTgt spid="25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54"/>
                                        </p:tgtEl>
                                        <p:attrNameLst>
                                          <p:attrName>style.visibility</p:attrName>
                                        </p:attrNameLst>
                                      </p:cBhvr>
                                      <p:to>
                                        <p:strVal val="visible"/>
                                      </p:to>
                                    </p:set>
                                    <p:anim calcmode="lin" valueType="num">
                                      <p:cBhvr additive="base">
                                        <p:cTn id="12" dur="500"/>
                                        <p:tgtEl>
                                          <p:spTgt spid="2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8"/>
        <p:cNvGrpSpPr/>
        <p:nvPr/>
      </p:nvGrpSpPr>
      <p:grpSpPr>
        <a:xfrm>
          <a:off x="0" y="0"/>
          <a:ext cx="0" cy="0"/>
          <a:chOff x="0" y="0"/>
          <a:chExt cx="0" cy="0"/>
        </a:xfrm>
      </p:grpSpPr>
      <p:sp>
        <p:nvSpPr>
          <p:cNvPr id="259" name="Google Shape;259;p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 name="Google Shape;260;p9"/>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 name="Google Shape;261;p9"/>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 name="Google Shape;262;p9"/>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3" name="Google Shape;263;p9"/>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4" name="Google Shape;264;p9"/>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IV. FONCTIONNEMENT DE DOCKER</a:t>
            </a:r>
            <a:endParaRPr sz="4000">
              <a:solidFill>
                <a:srgbClr val="FFFFFF"/>
              </a:solidFill>
              <a:latin typeface="Times New Roman"/>
              <a:ea typeface="Times New Roman"/>
              <a:cs typeface="Times New Roman"/>
              <a:sym typeface="Times New Roman"/>
            </a:endParaRPr>
          </a:p>
        </p:txBody>
      </p:sp>
      <p:pic>
        <p:nvPicPr>
          <p:cNvPr id="265" name="Google Shape;265;p9"/>
          <p:cNvPicPr preferRelativeResize="0"/>
          <p:nvPr/>
        </p:nvPicPr>
        <p:blipFill rotWithShape="1">
          <a:blip r:embed="rId3">
            <a:alphaModFix/>
          </a:blip>
          <a:srcRect/>
          <a:stretch/>
        </p:blipFill>
        <p:spPr>
          <a:xfrm>
            <a:off x="1766660" y="2642441"/>
            <a:ext cx="8658676" cy="279079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5"/>
                                        </p:tgtEl>
                                        <p:attrNameLst>
                                          <p:attrName>style.visibility</p:attrName>
                                        </p:attrNameLst>
                                      </p:cBhvr>
                                      <p:to>
                                        <p:strVal val="visible"/>
                                      </p:to>
                                    </p:set>
                                    <p:anim calcmode="lin" valueType="num">
                                      <p:cBhvr additive="base">
                                        <p:cTn id="7" dur="500"/>
                                        <p:tgtEl>
                                          <p:spTgt spid="2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9"/>
        <p:cNvGrpSpPr/>
        <p:nvPr/>
      </p:nvGrpSpPr>
      <p:grpSpPr>
        <a:xfrm>
          <a:off x="0" y="0"/>
          <a:ext cx="0" cy="0"/>
          <a:chOff x="0" y="0"/>
          <a:chExt cx="0" cy="0"/>
        </a:xfrm>
      </p:grpSpPr>
      <p:sp>
        <p:nvSpPr>
          <p:cNvPr id="270" name="Google Shape;270;p1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 name="Google Shape;271;p10"/>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2" name="Google Shape;272;p10"/>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3" name="Google Shape;273;p10"/>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4" name="Google Shape;274;p10"/>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5" name="Google Shape;275;p10"/>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IV. FONCTIONNEMENT DE DOCKER</a:t>
            </a:r>
            <a:endParaRPr sz="4000">
              <a:solidFill>
                <a:srgbClr val="FFFFFF"/>
              </a:solidFill>
              <a:latin typeface="Times New Roman"/>
              <a:ea typeface="Times New Roman"/>
              <a:cs typeface="Times New Roman"/>
              <a:sym typeface="Times New Roman"/>
            </a:endParaRPr>
          </a:p>
        </p:txBody>
      </p:sp>
      <p:sp>
        <p:nvSpPr>
          <p:cNvPr id="276" name="Google Shape;276;p10"/>
          <p:cNvSpPr txBox="1"/>
          <p:nvPr/>
        </p:nvSpPr>
        <p:spPr>
          <a:xfrm>
            <a:off x="905959" y="2040262"/>
            <a:ext cx="305525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b="1">
                <a:solidFill>
                  <a:schemeClr val="dk1"/>
                </a:solidFill>
                <a:latin typeface="Times New Roman"/>
                <a:ea typeface="Times New Roman"/>
                <a:cs typeface="Times New Roman"/>
                <a:sym typeface="Times New Roman"/>
              </a:rPr>
              <a:t>Docker Registry</a:t>
            </a:r>
            <a:endParaRPr/>
          </a:p>
        </p:txBody>
      </p:sp>
      <p:sp>
        <p:nvSpPr>
          <p:cNvPr id="277" name="Google Shape;277;p10"/>
          <p:cNvSpPr txBox="1">
            <a:spLocks noGrp="1"/>
          </p:cNvSpPr>
          <p:nvPr>
            <p:ph type="body" idx="1"/>
          </p:nvPr>
        </p:nvSpPr>
        <p:spPr>
          <a:xfrm>
            <a:off x="641067" y="2540320"/>
            <a:ext cx="6280727" cy="3374792"/>
          </a:xfrm>
          <a:prstGeom prst="rect">
            <a:avLst/>
          </a:prstGeom>
          <a:noFill/>
          <a:ln>
            <a:noFill/>
          </a:ln>
        </p:spPr>
        <p:txBody>
          <a:bodyPr spcFirstLastPara="1" wrap="square" lIns="91425" tIns="45700" rIns="91425" bIns="45700" anchor="ctr" anchorCtr="0">
            <a:noAutofit/>
          </a:bodyPr>
          <a:lstStyle/>
          <a:p>
            <a:pPr marL="228600" lvl="0" indent="-228600" algn="just" rtl="0">
              <a:lnSpc>
                <a:spcPct val="150000"/>
              </a:lnSpc>
              <a:spcBef>
                <a:spcPts val="0"/>
              </a:spcBef>
              <a:spcAft>
                <a:spcPts val="0"/>
              </a:spcAft>
              <a:buClr>
                <a:schemeClr val="dk1"/>
              </a:buClr>
              <a:buSzPts val="2100"/>
              <a:buChar char="•"/>
            </a:pPr>
            <a:r>
              <a:rPr lang="fr-FR" sz="2100">
                <a:latin typeface="Times New Roman"/>
                <a:ea typeface="Times New Roman"/>
                <a:cs typeface="Times New Roman"/>
                <a:sym typeface="Times New Roman"/>
              </a:rPr>
              <a:t>Vous pouvez télécharger des images de conteneur contenant du code utile. Vous pouvez aussi télécharger vos propres images, les partager avec le public ou les rendre privées. </a:t>
            </a:r>
            <a:endParaRPr/>
          </a:p>
          <a:p>
            <a:pPr marL="228600" lvl="0" indent="-228600" algn="just" rtl="0">
              <a:lnSpc>
                <a:spcPct val="150000"/>
              </a:lnSpc>
              <a:spcBef>
                <a:spcPts val="1000"/>
              </a:spcBef>
              <a:spcAft>
                <a:spcPts val="0"/>
              </a:spcAft>
              <a:buClr>
                <a:schemeClr val="dk1"/>
              </a:buClr>
              <a:buSzPts val="2100"/>
              <a:buChar char="•"/>
            </a:pPr>
            <a:r>
              <a:rPr lang="fr-FR" sz="2100">
                <a:latin typeface="Times New Roman"/>
                <a:ea typeface="Times New Roman"/>
                <a:cs typeface="Times New Roman"/>
                <a:sym typeface="Times New Roman"/>
              </a:rPr>
              <a:t>Le Docker registry public géré par Docker s’appelle </a:t>
            </a:r>
            <a:r>
              <a:rPr lang="fr-FR" sz="2100" b="1">
                <a:latin typeface="Times New Roman"/>
                <a:ea typeface="Times New Roman"/>
                <a:cs typeface="Times New Roman"/>
                <a:sym typeface="Times New Roman"/>
              </a:rPr>
              <a:t>Docker Hub </a:t>
            </a:r>
            <a:endParaRPr/>
          </a:p>
        </p:txBody>
      </p:sp>
      <p:pic>
        <p:nvPicPr>
          <p:cNvPr id="278" name="Google Shape;278;p10"/>
          <p:cNvPicPr preferRelativeResize="0"/>
          <p:nvPr/>
        </p:nvPicPr>
        <p:blipFill rotWithShape="1">
          <a:blip r:embed="rId3">
            <a:alphaModFix/>
          </a:blip>
          <a:srcRect/>
          <a:stretch/>
        </p:blipFill>
        <p:spPr>
          <a:xfrm>
            <a:off x="7304568" y="3043274"/>
            <a:ext cx="4696666" cy="277273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
                                            <p:txEl>
                                              <p:pRg st="0" end="0"/>
                                            </p:txEl>
                                          </p:spTgt>
                                        </p:tgtEl>
                                        <p:attrNameLst>
                                          <p:attrName>style.visibility</p:attrName>
                                        </p:attrNameLst>
                                      </p:cBhvr>
                                      <p:to>
                                        <p:strVal val="visible"/>
                                      </p:to>
                                    </p:set>
                                    <p:anim calcmode="lin" valueType="num">
                                      <p:cBhvr additive="base">
                                        <p:cTn id="7" dur="500"/>
                                        <p:tgtEl>
                                          <p:spTgt spid="276">
                                            <p:txEl>
                                              <p:pRg st="0" end="0"/>
                                            </p:txEl>
                                          </p:spTgt>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78"/>
                                        </p:tgtEl>
                                        <p:attrNameLst>
                                          <p:attrName>style.visibility</p:attrName>
                                        </p:attrNameLst>
                                      </p:cBhvr>
                                      <p:to>
                                        <p:strVal val="visible"/>
                                      </p:to>
                                    </p:set>
                                    <p:anim calcmode="lin" valueType="num">
                                      <p:cBhvr additive="base">
                                        <p:cTn id="10" dur="500"/>
                                        <p:tgtEl>
                                          <p:spTgt spid="2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2"/>
        <p:cNvGrpSpPr/>
        <p:nvPr/>
      </p:nvGrpSpPr>
      <p:grpSpPr>
        <a:xfrm>
          <a:off x="0" y="0"/>
          <a:ext cx="0" cy="0"/>
          <a:chOff x="0" y="0"/>
          <a:chExt cx="0" cy="0"/>
        </a:xfrm>
      </p:grpSpPr>
      <p:sp>
        <p:nvSpPr>
          <p:cNvPr id="283" name="Google Shape;283;p1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 name="Google Shape;284;p11"/>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5" name="Google Shape;285;p11"/>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6" name="Google Shape;286;p11"/>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 name="Google Shape;287;p11"/>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11"/>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IV. FONCTIONNEMENT DE DOCKER</a:t>
            </a:r>
            <a:endParaRPr sz="4000">
              <a:solidFill>
                <a:srgbClr val="FFFFFF"/>
              </a:solidFill>
              <a:latin typeface="Times New Roman"/>
              <a:ea typeface="Times New Roman"/>
              <a:cs typeface="Times New Roman"/>
              <a:sym typeface="Times New Roman"/>
            </a:endParaRPr>
          </a:p>
        </p:txBody>
      </p:sp>
      <p:sp>
        <p:nvSpPr>
          <p:cNvPr id="289" name="Google Shape;289;p11"/>
          <p:cNvSpPr txBox="1"/>
          <p:nvPr/>
        </p:nvSpPr>
        <p:spPr>
          <a:xfrm>
            <a:off x="905959" y="2040262"/>
            <a:ext cx="305525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b="1">
                <a:solidFill>
                  <a:schemeClr val="dk1"/>
                </a:solidFill>
                <a:latin typeface="Times New Roman"/>
                <a:ea typeface="Times New Roman"/>
                <a:cs typeface="Times New Roman"/>
                <a:sym typeface="Times New Roman"/>
              </a:rPr>
              <a:t>Docker compose</a:t>
            </a:r>
            <a:endParaRPr/>
          </a:p>
        </p:txBody>
      </p:sp>
      <p:sp>
        <p:nvSpPr>
          <p:cNvPr id="290" name="Google Shape;290;p11"/>
          <p:cNvSpPr txBox="1">
            <a:spLocks noGrp="1"/>
          </p:cNvSpPr>
          <p:nvPr>
            <p:ph type="body" idx="1"/>
          </p:nvPr>
        </p:nvSpPr>
        <p:spPr>
          <a:xfrm>
            <a:off x="715495" y="2944757"/>
            <a:ext cx="6280727" cy="2212433"/>
          </a:xfrm>
          <a:prstGeom prst="rect">
            <a:avLst/>
          </a:prstGeom>
          <a:noFill/>
          <a:ln>
            <a:noFill/>
          </a:ln>
        </p:spPr>
        <p:txBody>
          <a:bodyPr spcFirstLastPara="1" wrap="square" lIns="91425" tIns="45700" rIns="91425" bIns="45700" anchor="ctr" anchorCtr="0">
            <a:noAutofit/>
          </a:bodyPr>
          <a:lstStyle/>
          <a:p>
            <a:pPr marL="228600" lvl="0" indent="-228600" algn="just" rtl="0">
              <a:lnSpc>
                <a:spcPct val="150000"/>
              </a:lnSpc>
              <a:spcBef>
                <a:spcPts val="0"/>
              </a:spcBef>
              <a:spcAft>
                <a:spcPts val="0"/>
              </a:spcAft>
              <a:buClr>
                <a:schemeClr val="dk1"/>
              </a:buClr>
              <a:buSzPts val="2100"/>
              <a:buChar char="•"/>
            </a:pPr>
            <a:r>
              <a:rPr lang="fr-FR" sz="2100">
                <a:latin typeface="Times New Roman"/>
                <a:ea typeface="Times New Roman"/>
                <a:cs typeface="Times New Roman"/>
                <a:sym typeface="Times New Roman"/>
              </a:rPr>
              <a:t>Docker Compose est un outil qui permet de décrire (dans un fichier </a:t>
            </a:r>
            <a:r>
              <a:rPr lang="fr-FR" sz="2100" b="1">
                <a:latin typeface="Times New Roman"/>
                <a:ea typeface="Times New Roman"/>
                <a:cs typeface="Times New Roman"/>
                <a:sym typeface="Times New Roman"/>
              </a:rPr>
              <a:t>YAML</a:t>
            </a:r>
            <a:r>
              <a:rPr lang="fr-FR" sz="2100">
                <a:latin typeface="Times New Roman"/>
                <a:ea typeface="Times New Roman"/>
                <a:cs typeface="Times New Roman"/>
                <a:sym typeface="Times New Roman"/>
              </a:rPr>
              <a:t>) et gérer (en ligne de commande) plusieurs conteneurs comme un ensemble de services interconnectés.</a:t>
            </a:r>
            <a:endParaRPr sz="2100" b="1">
              <a:latin typeface="Times New Roman"/>
              <a:ea typeface="Times New Roman"/>
              <a:cs typeface="Times New Roman"/>
              <a:sym typeface="Times New Roman"/>
            </a:endParaRPr>
          </a:p>
        </p:txBody>
      </p:sp>
      <p:pic>
        <p:nvPicPr>
          <p:cNvPr id="291" name="Google Shape;291;p11"/>
          <p:cNvPicPr preferRelativeResize="0"/>
          <p:nvPr/>
        </p:nvPicPr>
        <p:blipFill rotWithShape="1">
          <a:blip r:embed="rId3">
            <a:alphaModFix/>
          </a:blip>
          <a:srcRect/>
          <a:stretch/>
        </p:blipFill>
        <p:spPr>
          <a:xfrm>
            <a:off x="7436698" y="2990541"/>
            <a:ext cx="4314825" cy="27514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9">
                                            <p:txEl>
                                              <p:pRg st="0" end="0"/>
                                            </p:txEl>
                                          </p:spTgt>
                                        </p:tgtEl>
                                        <p:attrNameLst>
                                          <p:attrName>style.visibility</p:attrName>
                                        </p:attrNameLst>
                                      </p:cBhvr>
                                      <p:to>
                                        <p:strVal val="visible"/>
                                      </p:to>
                                    </p:set>
                                    <p:anim calcmode="lin" valueType="num">
                                      <p:cBhvr additive="base">
                                        <p:cTn id="7" dur="500"/>
                                        <p:tgtEl>
                                          <p:spTgt spid="289">
                                            <p:txEl>
                                              <p:pRg st="0" end="0"/>
                                            </p:txEl>
                                          </p:spTgt>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91"/>
                                        </p:tgtEl>
                                        <p:attrNameLst>
                                          <p:attrName>style.visibility</p:attrName>
                                        </p:attrNameLst>
                                      </p:cBhvr>
                                      <p:to>
                                        <p:strVal val="visible"/>
                                      </p:to>
                                    </p:set>
                                    <p:anim calcmode="lin" valueType="num">
                                      <p:cBhvr additive="base">
                                        <p:cTn id="10" dur="500"/>
                                        <p:tgtEl>
                                          <p:spTgt spid="29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5"/>
        <p:cNvGrpSpPr/>
        <p:nvPr/>
      </p:nvGrpSpPr>
      <p:grpSpPr>
        <a:xfrm>
          <a:off x="0" y="0"/>
          <a:ext cx="0" cy="0"/>
          <a:chOff x="0" y="0"/>
          <a:chExt cx="0" cy="0"/>
        </a:xfrm>
      </p:grpSpPr>
      <p:sp>
        <p:nvSpPr>
          <p:cNvPr id="296" name="Google Shape;296;p1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7" name="Google Shape;297;p12"/>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8" name="Google Shape;298;p12"/>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9" name="Google Shape;299;p12"/>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0" name="Google Shape;300;p12"/>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1" name="Google Shape;301;p12"/>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IV. FONCTIONNEMENT DE DOCKER</a:t>
            </a:r>
            <a:endParaRPr sz="4000">
              <a:solidFill>
                <a:srgbClr val="FFFFFF"/>
              </a:solidFill>
              <a:latin typeface="Times New Roman"/>
              <a:ea typeface="Times New Roman"/>
              <a:cs typeface="Times New Roman"/>
              <a:sym typeface="Times New Roman"/>
            </a:endParaRPr>
          </a:p>
        </p:txBody>
      </p:sp>
      <p:sp>
        <p:nvSpPr>
          <p:cNvPr id="302" name="Google Shape;302;p12"/>
          <p:cNvSpPr txBox="1"/>
          <p:nvPr/>
        </p:nvSpPr>
        <p:spPr>
          <a:xfrm>
            <a:off x="819970" y="1891970"/>
            <a:ext cx="588824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b="1">
                <a:solidFill>
                  <a:schemeClr val="dk1"/>
                </a:solidFill>
                <a:latin typeface="Times New Roman"/>
                <a:ea typeface="Times New Roman"/>
                <a:cs typeface="Times New Roman"/>
                <a:sym typeface="Times New Roman"/>
              </a:rPr>
              <a:t>Les différents types de réseaux docker</a:t>
            </a:r>
            <a:endParaRPr/>
          </a:p>
        </p:txBody>
      </p:sp>
      <p:sp>
        <p:nvSpPr>
          <p:cNvPr id="303" name="Google Shape;303;p12"/>
          <p:cNvSpPr txBox="1">
            <a:spLocks noGrp="1"/>
          </p:cNvSpPr>
          <p:nvPr>
            <p:ph type="body" idx="1"/>
          </p:nvPr>
        </p:nvSpPr>
        <p:spPr>
          <a:xfrm>
            <a:off x="607318" y="2478051"/>
            <a:ext cx="6100898" cy="3837687"/>
          </a:xfrm>
          <a:prstGeom prst="rect">
            <a:avLst/>
          </a:prstGeom>
          <a:noFill/>
          <a:ln>
            <a:noFill/>
          </a:ln>
        </p:spPr>
        <p:txBody>
          <a:bodyPr spcFirstLastPara="1" wrap="square" lIns="91425" tIns="45700" rIns="91425" bIns="45700" anchor="ctr" anchorCtr="0">
            <a:noAutofit/>
          </a:bodyPr>
          <a:lstStyle/>
          <a:p>
            <a:pPr marL="228600" lvl="0" indent="-228600" algn="just" rtl="0">
              <a:lnSpc>
                <a:spcPct val="150000"/>
              </a:lnSpc>
              <a:spcBef>
                <a:spcPts val="0"/>
              </a:spcBef>
              <a:spcAft>
                <a:spcPts val="0"/>
              </a:spcAft>
              <a:buClr>
                <a:schemeClr val="dk1"/>
              </a:buClr>
              <a:buSzPts val="2100"/>
              <a:buChar char="•"/>
            </a:pPr>
            <a:r>
              <a:rPr lang="fr-FR" sz="2100" b="1">
                <a:latin typeface="Times New Roman"/>
                <a:ea typeface="Times New Roman"/>
                <a:cs typeface="Times New Roman"/>
                <a:sym typeface="Times New Roman"/>
              </a:rPr>
              <a:t>Le driver Bridge </a:t>
            </a:r>
            <a:r>
              <a:rPr lang="fr-FR" sz="2100">
                <a:latin typeface="Times New Roman"/>
                <a:ea typeface="Times New Roman"/>
                <a:cs typeface="Times New Roman"/>
                <a:sym typeface="Times New Roman"/>
              </a:rPr>
              <a:t>: les conteneurs qui utilisent ce driver, ne peuvent communiquer qu'entre eux, cependant ils ne sont pas accessibles depuis l'extérieur. Pour que les conteneurs sur le réseau bridge puissent communiquer ou être accessibles du monde extérieur, vous devez configurer le mappage de port.</a:t>
            </a:r>
            <a:endParaRPr sz="2100" b="1">
              <a:latin typeface="Times New Roman"/>
              <a:ea typeface="Times New Roman"/>
              <a:cs typeface="Times New Roman"/>
              <a:sym typeface="Times New Roman"/>
            </a:endParaRPr>
          </a:p>
        </p:txBody>
      </p:sp>
      <p:pic>
        <p:nvPicPr>
          <p:cNvPr id="304" name="Google Shape;304;p12"/>
          <p:cNvPicPr preferRelativeResize="0"/>
          <p:nvPr/>
        </p:nvPicPr>
        <p:blipFill rotWithShape="1">
          <a:blip r:embed="rId3">
            <a:alphaModFix/>
          </a:blip>
          <a:srcRect/>
          <a:stretch/>
        </p:blipFill>
        <p:spPr>
          <a:xfrm>
            <a:off x="6974958" y="2179674"/>
            <a:ext cx="4609724" cy="413606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2">
                                            <p:txEl>
                                              <p:pRg st="0" end="0"/>
                                            </p:txEl>
                                          </p:spTgt>
                                        </p:tgtEl>
                                        <p:attrNameLst>
                                          <p:attrName>style.visibility</p:attrName>
                                        </p:attrNameLst>
                                      </p:cBhvr>
                                      <p:to>
                                        <p:strVal val="visible"/>
                                      </p:to>
                                    </p:set>
                                    <p:anim calcmode="lin" valueType="num">
                                      <p:cBhvr additive="base">
                                        <p:cTn id="7" dur="500"/>
                                        <p:tgtEl>
                                          <p:spTgt spid="302">
                                            <p:txEl>
                                              <p:pRg st="0" end="0"/>
                                            </p:txEl>
                                          </p:spTgt>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304"/>
                                        </p:tgtEl>
                                        <p:attrNameLst>
                                          <p:attrName>style.visibility</p:attrName>
                                        </p:attrNameLst>
                                      </p:cBhvr>
                                      <p:to>
                                        <p:strVal val="visible"/>
                                      </p:to>
                                    </p:set>
                                    <p:anim calcmode="lin" valueType="num">
                                      <p:cBhvr additive="base">
                                        <p:cTn id="10" dur="500"/>
                                        <p:tgtEl>
                                          <p:spTgt spid="3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8"/>
        <p:cNvGrpSpPr/>
        <p:nvPr/>
      </p:nvGrpSpPr>
      <p:grpSpPr>
        <a:xfrm>
          <a:off x="0" y="0"/>
          <a:ext cx="0" cy="0"/>
          <a:chOff x="0" y="0"/>
          <a:chExt cx="0" cy="0"/>
        </a:xfrm>
      </p:grpSpPr>
      <p:sp>
        <p:nvSpPr>
          <p:cNvPr id="309" name="Google Shape;309;p1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0" name="Google Shape;310;p13"/>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1" name="Google Shape;311;p13"/>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2" name="Google Shape;312;p13"/>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3" name="Google Shape;313;p13"/>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 name="Google Shape;314;p13"/>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IV. FONCTIONNEMENT DE DOCKER</a:t>
            </a:r>
            <a:endParaRPr sz="4000">
              <a:solidFill>
                <a:srgbClr val="FFFFFF"/>
              </a:solidFill>
              <a:latin typeface="Times New Roman"/>
              <a:ea typeface="Times New Roman"/>
              <a:cs typeface="Times New Roman"/>
              <a:sym typeface="Times New Roman"/>
            </a:endParaRPr>
          </a:p>
        </p:txBody>
      </p:sp>
      <p:sp>
        <p:nvSpPr>
          <p:cNvPr id="315" name="Google Shape;315;p13"/>
          <p:cNvSpPr txBox="1"/>
          <p:nvPr/>
        </p:nvSpPr>
        <p:spPr>
          <a:xfrm>
            <a:off x="819970" y="1891970"/>
            <a:ext cx="588824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b="1">
                <a:solidFill>
                  <a:schemeClr val="dk1"/>
                </a:solidFill>
                <a:latin typeface="Times New Roman"/>
                <a:ea typeface="Times New Roman"/>
                <a:cs typeface="Times New Roman"/>
                <a:sym typeface="Times New Roman"/>
              </a:rPr>
              <a:t>Les différents types de réseaux docker</a:t>
            </a:r>
            <a:endParaRPr/>
          </a:p>
        </p:txBody>
      </p:sp>
      <p:sp>
        <p:nvSpPr>
          <p:cNvPr id="316" name="Google Shape;316;p13"/>
          <p:cNvSpPr txBox="1">
            <a:spLocks noGrp="1"/>
          </p:cNvSpPr>
          <p:nvPr>
            <p:ph type="body" idx="1"/>
          </p:nvPr>
        </p:nvSpPr>
        <p:spPr>
          <a:xfrm>
            <a:off x="822162" y="2692389"/>
            <a:ext cx="10068402" cy="1913428"/>
          </a:xfrm>
          <a:prstGeom prst="rect">
            <a:avLst/>
          </a:prstGeom>
          <a:noFill/>
          <a:ln>
            <a:noFill/>
          </a:ln>
        </p:spPr>
        <p:txBody>
          <a:bodyPr spcFirstLastPara="1" wrap="square" lIns="91425" tIns="45700" rIns="91425" bIns="45700" anchor="ctr" anchorCtr="0">
            <a:noAutofit/>
          </a:bodyPr>
          <a:lstStyle/>
          <a:p>
            <a:pPr marL="228600" lvl="0" indent="-228600" algn="just" rtl="0">
              <a:lnSpc>
                <a:spcPct val="150000"/>
              </a:lnSpc>
              <a:spcBef>
                <a:spcPts val="0"/>
              </a:spcBef>
              <a:spcAft>
                <a:spcPts val="0"/>
              </a:spcAft>
              <a:buClr>
                <a:schemeClr val="dk1"/>
              </a:buClr>
              <a:buSzPts val="2100"/>
              <a:buChar char="•"/>
            </a:pPr>
            <a:r>
              <a:rPr lang="fr-FR" sz="2100" b="1">
                <a:latin typeface="Times New Roman"/>
                <a:ea typeface="Times New Roman"/>
                <a:cs typeface="Times New Roman"/>
                <a:sym typeface="Times New Roman"/>
              </a:rPr>
              <a:t>Le driver none: </a:t>
            </a:r>
            <a:r>
              <a:rPr lang="fr-FR" sz="2100">
                <a:latin typeface="Times New Roman"/>
                <a:ea typeface="Times New Roman"/>
                <a:cs typeface="Times New Roman"/>
                <a:sym typeface="Times New Roman"/>
              </a:rPr>
              <a:t>C'est le type de réseau idéal, si vous souhaitez interdire toute communication interne et externe avec votre conteneur, car votre conteneur sera dépourvu de toute interface réseau (sauf l'interface loopback).</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5">
                                            <p:txEl>
                                              <p:pRg st="0" end="0"/>
                                            </p:txEl>
                                          </p:spTgt>
                                        </p:tgtEl>
                                        <p:attrNameLst>
                                          <p:attrName>style.visibility</p:attrName>
                                        </p:attrNameLst>
                                      </p:cBhvr>
                                      <p:to>
                                        <p:strVal val="visible"/>
                                      </p:to>
                                    </p:set>
                                    <p:anim calcmode="lin" valueType="num">
                                      <p:cBhvr additive="base">
                                        <p:cTn id="7" dur="500"/>
                                        <p:tgtEl>
                                          <p:spTgt spid="31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0"/>
        <p:cNvGrpSpPr/>
        <p:nvPr/>
      </p:nvGrpSpPr>
      <p:grpSpPr>
        <a:xfrm>
          <a:off x="0" y="0"/>
          <a:ext cx="0" cy="0"/>
          <a:chOff x="0" y="0"/>
          <a:chExt cx="0" cy="0"/>
        </a:xfrm>
      </p:grpSpPr>
      <p:sp>
        <p:nvSpPr>
          <p:cNvPr id="321" name="Google Shape;321;p1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2" name="Google Shape;322;p14"/>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3" name="Google Shape;323;p14"/>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4" name="Google Shape;324;p14"/>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5" name="Google Shape;325;p14"/>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6" name="Google Shape;326;p14"/>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IV. FONCTIONNEMENT DE DOCKER</a:t>
            </a:r>
            <a:endParaRPr sz="4000">
              <a:solidFill>
                <a:srgbClr val="FFFFFF"/>
              </a:solidFill>
              <a:latin typeface="Times New Roman"/>
              <a:ea typeface="Times New Roman"/>
              <a:cs typeface="Times New Roman"/>
              <a:sym typeface="Times New Roman"/>
            </a:endParaRPr>
          </a:p>
        </p:txBody>
      </p:sp>
      <p:sp>
        <p:nvSpPr>
          <p:cNvPr id="327" name="Google Shape;327;p14"/>
          <p:cNvSpPr txBox="1"/>
          <p:nvPr/>
        </p:nvSpPr>
        <p:spPr>
          <a:xfrm>
            <a:off x="819970" y="1891970"/>
            <a:ext cx="588824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b="1">
                <a:solidFill>
                  <a:schemeClr val="dk1"/>
                </a:solidFill>
                <a:latin typeface="Times New Roman"/>
                <a:ea typeface="Times New Roman"/>
                <a:cs typeface="Times New Roman"/>
                <a:sym typeface="Times New Roman"/>
              </a:rPr>
              <a:t>Les différents types de réseaux docker</a:t>
            </a:r>
            <a:endParaRPr/>
          </a:p>
        </p:txBody>
      </p:sp>
      <p:sp>
        <p:nvSpPr>
          <p:cNvPr id="328" name="Google Shape;328;p14"/>
          <p:cNvSpPr txBox="1">
            <a:spLocks noGrp="1"/>
          </p:cNvSpPr>
          <p:nvPr>
            <p:ph type="body" idx="1"/>
          </p:nvPr>
        </p:nvSpPr>
        <p:spPr>
          <a:xfrm>
            <a:off x="819970" y="2621592"/>
            <a:ext cx="5163968" cy="3429000"/>
          </a:xfrm>
          <a:prstGeom prst="rect">
            <a:avLst/>
          </a:prstGeom>
          <a:noFill/>
          <a:ln>
            <a:noFill/>
          </a:ln>
        </p:spPr>
        <p:txBody>
          <a:bodyPr spcFirstLastPara="1" wrap="square" lIns="91425" tIns="45700" rIns="91425" bIns="45700" anchor="ctr" anchorCtr="0">
            <a:noAutofit/>
          </a:bodyPr>
          <a:lstStyle/>
          <a:p>
            <a:pPr marL="228600" lvl="0" indent="-228600" algn="just" rtl="0">
              <a:lnSpc>
                <a:spcPct val="150000"/>
              </a:lnSpc>
              <a:spcBef>
                <a:spcPts val="0"/>
              </a:spcBef>
              <a:spcAft>
                <a:spcPts val="0"/>
              </a:spcAft>
              <a:buClr>
                <a:schemeClr val="dk1"/>
              </a:buClr>
              <a:buSzPts val="2100"/>
              <a:buChar char="•"/>
            </a:pPr>
            <a:r>
              <a:rPr lang="fr-FR" sz="2100" b="1">
                <a:latin typeface="Times New Roman"/>
                <a:ea typeface="Times New Roman"/>
                <a:cs typeface="Times New Roman"/>
                <a:sym typeface="Times New Roman"/>
              </a:rPr>
              <a:t>Le driver host : </a:t>
            </a:r>
            <a:r>
              <a:rPr lang="fr-FR" sz="2100">
                <a:latin typeface="Times New Roman"/>
                <a:ea typeface="Times New Roman"/>
                <a:cs typeface="Times New Roman"/>
                <a:sym typeface="Times New Roman"/>
              </a:rPr>
              <a:t>Ce type de réseau permet aux conteneurs d'utiliser la même interface que l'hôte. Il supprime donc l'isolation réseau entre les conteneurs et seront par défaut accessibles de l'extérieur. De ce fait, il prendra la même IP que votre machine hôte.</a:t>
            </a:r>
            <a:endParaRPr/>
          </a:p>
        </p:txBody>
      </p:sp>
      <p:pic>
        <p:nvPicPr>
          <p:cNvPr id="329" name="Google Shape;329;p14"/>
          <p:cNvPicPr preferRelativeResize="0"/>
          <p:nvPr/>
        </p:nvPicPr>
        <p:blipFill rotWithShape="1">
          <a:blip r:embed="rId3">
            <a:alphaModFix/>
          </a:blip>
          <a:srcRect/>
          <a:stretch/>
        </p:blipFill>
        <p:spPr>
          <a:xfrm>
            <a:off x="6417130" y="2009554"/>
            <a:ext cx="5321213" cy="429555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7">
                                            <p:txEl>
                                              <p:pRg st="0" end="0"/>
                                            </p:txEl>
                                          </p:spTgt>
                                        </p:tgtEl>
                                        <p:attrNameLst>
                                          <p:attrName>style.visibility</p:attrName>
                                        </p:attrNameLst>
                                      </p:cBhvr>
                                      <p:to>
                                        <p:strVal val="visible"/>
                                      </p:to>
                                    </p:set>
                                    <p:anim calcmode="lin" valueType="num">
                                      <p:cBhvr additive="base">
                                        <p:cTn id="7" dur="500"/>
                                        <p:tgtEl>
                                          <p:spTgt spid="327">
                                            <p:txEl>
                                              <p:pRg st="0" end="0"/>
                                            </p:txEl>
                                          </p:spTgt>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329"/>
                                        </p:tgtEl>
                                        <p:attrNameLst>
                                          <p:attrName>style.visibility</p:attrName>
                                        </p:attrNameLst>
                                      </p:cBhvr>
                                      <p:to>
                                        <p:strVal val="visible"/>
                                      </p:to>
                                    </p:set>
                                    <p:anim calcmode="lin" valueType="num">
                                      <p:cBhvr additive="base">
                                        <p:cTn id="10" dur="500"/>
                                        <p:tgtEl>
                                          <p:spTgt spid="3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3"/>
        <p:cNvGrpSpPr/>
        <p:nvPr/>
      </p:nvGrpSpPr>
      <p:grpSpPr>
        <a:xfrm>
          <a:off x="0" y="0"/>
          <a:ext cx="0" cy="0"/>
          <a:chOff x="0" y="0"/>
          <a:chExt cx="0" cy="0"/>
        </a:xfrm>
      </p:grpSpPr>
      <p:sp>
        <p:nvSpPr>
          <p:cNvPr id="334" name="Google Shape;334;p1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5" name="Google Shape;335;p15"/>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6" name="Google Shape;336;p15"/>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 name="Google Shape;337;p15"/>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8" name="Google Shape;338;p15"/>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9" name="Google Shape;339;p15"/>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IV. FONCTIONNEMENT DE DOCKER</a:t>
            </a:r>
            <a:endParaRPr sz="4000">
              <a:solidFill>
                <a:srgbClr val="FFFFFF"/>
              </a:solidFill>
              <a:latin typeface="Times New Roman"/>
              <a:ea typeface="Times New Roman"/>
              <a:cs typeface="Times New Roman"/>
              <a:sym typeface="Times New Roman"/>
            </a:endParaRPr>
          </a:p>
        </p:txBody>
      </p:sp>
      <p:sp>
        <p:nvSpPr>
          <p:cNvPr id="340" name="Google Shape;340;p15"/>
          <p:cNvSpPr txBox="1"/>
          <p:nvPr/>
        </p:nvSpPr>
        <p:spPr>
          <a:xfrm>
            <a:off x="819970" y="1891970"/>
            <a:ext cx="588824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b="1">
                <a:solidFill>
                  <a:schemeClr val="dk1"/>
                </a:solidFill>
                <a:latin typeface="Times New Roman"/>
                <a:ea typeface="Times New Roman"/>
                <a:cs typeface="Times New Roman"/>
                <a:sym typeface="Times New Roman"/>
              </a:rPr>
              <a:t>Les différents types de réseaux docker</a:t>
            </a:r>
            <a:endParaRPr/>
          </a:p>
        </p:txBody>
      </p:sp>
      <p:sp>
        <p:nvSpPr>
          <p:cNvPr id="341" name="Google Shape;341;p15"/>
          <p:cNvSpPr txBox="1">
            <a:spLocks noGrp="1"/>
          </p:cNvSpPr>
          <p:nvPr>
            <p:ph type="body" idx="1"/>
          </p:nvPr>
        </p:nvSpPr>
        <p:spPr>
          <a:xfrm>
            <a:off x="614766" y="2449661"/>
            <a:ext cx="6885767" cy="4312313"/>
          </a:xfrm>
          <a:prstGeom prst="rect">
            <a:avLst/>
          </a:prstGeom>
          <a:noFill/>
          <a:ln>
            <a:noFill/>
          </a:ln>
        </p:spPr>
        <p:txBody>
          <a:bodyPr spcFirstLastPara="1" wrap="square" lIns="91425" tIns="45700" rIns="91425" bIns="45700" anchor="ctr" anchorCtr="0">
            <a:noAutofit/>
          </a:bodyPr>
          <a:lstStyle/>
          <a:p>
            <a:pPr marL="228600" lvl="0" indent="-228600" algn="just" rtl="0">
              <a:lnSpc>
                <a:spcPct val="150000"/>
              </a:lnSpc>
              <a:spcBef>
                <a:spcPts val="0"/>
              </a:spcBef>
              <a:spcAft>
                <a:spcPts val="0"/>
              </a:spcAft>
              <a:buClr>
                <a:schemeClr val="dk1"/>
              </a:buClr>
              <a:buSzPts val="2100"/>
              <a:buChar char="•"/>
            </a:pPr>
            <a:r>
              <a:rPr lang="fr-FR" sz="2100" b="1">
                <a:latin typeface="Times New Roman"/>
                <a:ea typeface="Times New Roman"/>
                <a:cs typeface="Times New Roman"/>
                <a:sym typeface="Times New Roman"/>
              </a:rPr>
              <a:t>Le driver macvlan : </a:t>
            </a:r>
            <a:r>
              <a:rPr lang="fr-FR" sz="2100">
                <a:latin typeface="Times New Roman"/>
                <a:ea typeface="Times New Roman"/>
                <a:cs typeface="Times New Roman"/>
                <a:sym typeface="Times New Roman"/>
              </a:rPr>
              <a:t>L'utilisation du driver macvlan est parfois le meilleur choix lorsque vous utilisez des applications qui s'attendent à être directement connectées au réseau physique, car le driver Macvlan vous permet d'attribuer une adresse MAC à un conteneur, le faisant apparaître comme un périphérique physique sur votre réseau. Le moteur Docker route le trafic vers les conteneurs en fonction de leurs adresses MAC.</a:t>
            </a:r>
            <a:endParaRPr/>
          </a:p>
        </p:txBody>
      </p:sp>
      <p:pic>
        <p:nvPicPr>
          <p:cNvPr id="342" name="Google Shape;342;p15"/>
          <p:cNvPicPr preferRelativeResize="0"/>
          <p:nvPr/>
        </p:nvPicPr>
        <p:blipFill rotWithShape="1">
          <a:blip r:embed="rId3">
            <a:alphaModFix/>
          </a:blip>
          <a:srcRect/>
          <a:stretch/>
        </p:blipFill>
        <p:spPr>
          <a:xfrm>
            <a:off x="7519286" y="1917309"/>
            <a:ext cx="4548668" cy="464615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0">
                                            <p:txEl>
                                              <p:pRg st="0" end="0"/>
                                            </p:txEl>
                                          </p:spTgt>
                                        </p:tgtEl>
                                        <p:attrNameLst>
                                          <p:attrName>style.visibility</p:attrName>
                                        </p:attrNameLst>
                                      </p:cBhvr>
                                      <p:to>
                                        <p:strVal val="visible"/>
                                      </p:to>
                                    </p:set>
                                    <p:anim calcmode="lin" valueType="num">
                                      <p:cBhvr additive="base">
                                        <p:cTn id="7" dur="500"/>
                                        <p:tgtEl>
                                          <p:spTgt spid="34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6"/>
        <p:cNvGrpSpPr/>
        <p:nvPr/>
      </p:nvGrpSpPr>
      <p:grpSpPr>
        <a:xfrm>
          <a:off x="0" y="0"/>
          <a:ext cx="0" cy="0"/>
          <a:chOff x="0" y="0"/>
          <a:chExt cx="0" cy="0"/>
        </a:xfrm>
      </p:grpSpPr>
      <p:sp>
        <p:nvSpPr>
          <p:cNvPr id="347" name="Google Shape;347;p1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8" name="Google Shape;348;p16"/>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9" name="Google Shape;349;p16"/>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 name="Google Shape;350;p16"/>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1" name="Google Shape;351;p16"/>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2" name="Google Shape;352;p16"/>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V. CONTEXTE D’UTILISATION</a:t>
            </a:r>
            <a:endParaRPr sz="4000">
              <a:solidFill>
                <a:srgbClr val="FFFFFF"/>
              </a:solidFill>
              <a:latin typeface="Times New Roman"/>
              <a:ea typeface="Times New Roman"/>
              <a:cs typeface="Times New Roman"/>
              <a:sym typeface="Times New Roman"/>
            </a:endParaRPr>
          </a:p>
        </p:txBody>
      </p:sp>
      <p:sp>
        <p:nvSpPr>
          <p:cNvPr id="353" name="Google Shape;353;p16"/>
          <p:cNvSpPr txBox="1">
            <a:spLocks noGrp="1"/>
          </p:cNvSpPr>
          <p:nvPr>
            <p:ph type="body" idx="1"/>
          </p:nvPr>
        </p:nvSpPr>
        <p:spPr>
          <a:xfrm>
            <a:off x="845721" y="1885279"/>
            <a:ext cx="10421829" cy="4128606"/>
          </a:xfrm>
          <a:prstGeom prst="rect">
            <a:avLst/>
          </a:prstGeom>
          <a:noFill/>
          <a:ln>
            <a:noFill/>
          </a:ln>
        </p:spPr>
        <p:txBody>
          <a:bodyPr spcFirstLastPara="1" wrap="square" lIns="91425" tIns="45700" rIns="91425" bIns="45700" anchor="ctr" anchorCtr="0">
            <a:noAutofit/>
          </a:bodyPr>
          <a:lstStyle/>
          <a:p>
            <a:pPr marL="228600" lvl="0" indent="-228600" algn="just" rtl="0">
              <a:lnSpc>
                <a:spcPct val="150000"/>
              </a:lnSpc>
              <a:spcBef>
                <a:spcPts val="0"/>
              </a:spcBef>
              <a:spcAft>
                <a:spcPts val="0"/>
              </a:spcAft>
              <a:buClr>
                <a:schemeClr val="dk1"/>
              </a:buClr>
              <a:buSzPts val="2100"/>
              <a:buChar char="•"/>
            </a:pPr>
            <a:r>
              <a:rPr lang="fr-FR" sz="2100">
                <a:latin typeface="Times New Roman"/>
                <a:ea typeface="Times New Roman"/>
                <a:cs typeface="Times New Roman"/>
                <a:sym typeface="Times New Roman"/>
              </a:rPr>
              <a:t>Les conteneurs utilisés par le logiciel Docker ont des caractéristiques qui permettent notamment de l’utiliser dans les cas suivants : </a:t>
            </a:r>
            <a:endParaRPr/>
          </a:p>
          <a:p>
            <a:pPr marL="914400" lvl="1" indent="-457200" algn="just" rtl="0">
              <a:lnSpc>
                <a:spcPct val="150000"/>
              </a:lnSpc>
              <a:spcBef>
                <a:spcPts val="500"/>
              </a:spcBef>
              <a:spcAft>
                <a:spcPts val="0"/>
              </a:spcAft>
              <a:buClr>
                <a:schemeClr val="dk1"/>
              </a:buClr>
              <a:buSzPts val="2100"/>
              <a:buFont typeface="Calibri"/>
              <a:buAutoNum type="arabicPeriod"/>
            </a:pPr>
            <a:r>
              <a:rPr lang="fr-FR" sz="2100">
                <a:latin typeface="Times New Roman"/>
                <a:ea typeface="Times New Roman"/>
                <a:cs typeface="Times New Roman"/>
                <a:sym typeface="Times New Roman"/>
              </a:rPr>
              <a:t>Application traditionnelle / Développement d’applications </a:t>
            </a:r>
            <a:endParaRPr/>
          </a:p>
          <a:p>
            <a:pPr marL="914400" lvl="1" indent="-457200" algn="just" rtl="0">
              <a:lnSpc>
                <a:spcPct val="150000"/>
              </a:lnSpc>
              <a:spcBef>
                <a:spcPts val="500"/>
              </a:spcBef>
              <a:spcAft>
                <a:spcPts val="0"/>
              </a:spcAft>
              <a:buClr>
                <a:schemeClr val="dk1"/>
              </a:buClr>
              <a:buSzPts val="2100"/>
              <a:buFont typeface="Calibri"/>
              <a:buAutoNum type="arabicPeriod"/>
            </a:pPr>
            <a:r>
              <a:rPr lang="fr-FR" sz="2100">
                <a:latin typeface="Times New Roman"/>
                <a:ea typeface="Times New Roman"/>
                <a:cs typeface="Times New Roman"/>
                <a:sym typeface="Times New Roman"/>
              </a:rPr>
              <a:t>Microservices </a:t>
            </a:r>
            <a:endParaRPr/>
          </a:p>
          <a:p>
            <a:pPr marL="914400" lvl="1" indent="-457200" algn="just" rtl="0">
              <a:lnSpc>
                <a:spcPct val="150000"/>
              </a:lnSpc>
              <a:spcBef>
                <a:spcPts val="500"/>
              </a:spcBef>
              <a:spcAft>
                <a:spcPts val="0"/>
              </a:spcAft>
              <a:buClr>
                <a:schemeClr val="dk1"/>
              </a:buClr>
              <a:buSzPts val="2100"/>
              <a:buFont typeface="Calibri"/>
              <a:buAutoNum type="arabicPeriod"/>
            </a:pPr>
            <a:r>
              <a:rPr lang="fr-FR" sz="2100">
                <a:latin typeface="Times New Roman"/>
                <a:ea typeface="Times New Roman"/>
                <a:cs typeface="Times New Roman"/>
                <a:sym typeface="Times New Roman"/>
              </a:rPr>
              <a:t>Big data </a:t>
            </a:r>
            <a:endParaRPr/>
          </a:p>
          <a:p>
            <a:pPr marL="914400" lvl="1" indent="-457200" algn="just" rtl="0">
              <a:lnSpc>
                <a:spcPct val="150000"/>
              </a:lnSpc>
              <a:spcBef>
                <a:spcPts val="500"/>
              </a:spcBef>
              <a:spcAft>
                <a:spcPts val="0"/>
              </a:spcAft>
              <a:buClr>
                <a:schemeClr val="dk1"/>
              </a:buClr>
              <a:buSzPts val="2100"/>
              <a:buFont typeface="Calibri"/>
              <a:buAutoNum type="arabicPeriod"/>
            </a:pPr>
            <a:r>
              <a:rPr lang="fr-FR" sz="2100">
                <a:latin typeface="Times New Roman"/>
                <a:ea typeface="Times New Roman"/>
                <a:cs typeface="Times New Roman"/>
                <a:sym typeface="Times New Roman"/>
              </a:rPr>
              <a:t>Test d’applications sur divers systèmes d’exploitation </a:t>
            </a:r>
            <a:endParaRPr/>
          </a:p>
          <a:p>
            <a:pPr marL="914400" lvl="1" indent="-457200" algn="just" rtl="0">
              <a:lnSpc>
                <a:spcPct val="150000"/>
              </a:lnSpc>
              <a:spcBef>
                <a:spcPts val="500"/>
              </a:spcBef>
              <a:spcAft>
                <a:spcPts val="0"/>
              </a:spcAft>
              <a:buClr>
                <a:schemeClr val="dk1"/>
              </a:buClr>
              <a:buSzPts val="2100"/>
              <a:buFont typeface="Calibri"/>
              <a:buAutoNum type="arabicPeriod"/>
            </a:pPr>
            <a:r>
              <a:rPr lang="fr-FR" sz="2100">
                <a:latin typeface="Times New Roman"/>
                <a:ea typeface="Times New Roman"/>
                <a:cs typeface="Times New Roman"/>
                <a:sym typeface="Times New Roman"/>
              </a:rPr>
              <a:t>Transformation digitale Migration cloud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7"/>
        <p:cNvGrpSpPr/>
        <p:nvPr/>
      </p:nvGrpSpPr>
      <p:grpSpPr>
        <a:xfrm>
          <a:off x="0" y="0"/>
          <a:ext cx="0" cy="0"/>
          <a:chOff x="0" y="0"/>
          <a:chExt cx="0" cy="0"/>
        </a:xfrm>
      </p:grpSpPr>
      <p:sp>
        <p:nvSpPr>
          <p:cNvPr id="358" name="Google Shape;358;p1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9" name="Google Shape;359;p17"/>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0" name="Google Shape;360;p17"/>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1" name="Google Shape;361;p17"/>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2" name="Google Shape;362;p17"/>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3" name="Google Shape;363;p17"/>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VI. AVANTAGES</a:t>
            </a:r>
            <a:endParaRPr sz="4000">
              <a:solidFill>
                <a:srgbClr val="FFFFFF"/>
              </a:solidFill>
              <a:latin typeface="Times New Roman"/>
              <a:ea typeface="Times New Roman"/>
              <a:cs typeface="Times New Roman"/>
              <a:sym typeface="Times New Roman"/>
            </a:endParaRPr>
          </a:p>
        </p:txBody>
      </p:sp>
      <p:sp>
        <p:nvSpPr>
          <p:cNvPr id="364" name="Google Shape;364;p17"/>
          <p:cNvSpPr txBox="1">
            <a:spLocks noGrp="1"/>
          </p:cNvSpPr>
          <p:nvPr>
            <p:ph type="body" idx="1"/>
          </p:nvPr>
        </p:nvSpPr>
        <p:spPr>
          <a:xfrm>
            <a:off x="845721" y="2378448"/>
            <a:ext cx="10421829" cy="2994238"/>
          </a:xfrm>
          <a:prstGeom prst="rect">
            <a:avLst/>
          </a:prstGeom>
          <a:noFill/>
          <a:ln>
            <a:noFill/>
          </a:ln>
        </p:spPr>
        <p:txBody>
          <a:bodyPr spcFirstLastPara="1" wrap="square" lIns="91425" tIns="45700" rIns="91425" bIns="45700" anchor="ctr" anchorCtr="0">
            <a:noAutofit/>
          </a:bodyPr>
          <a:lstStyle/>
          <a:p>
            <a:pPr marL="228600" lvl="0" indent="-228600" algn="just" rtl="0">
              <a:lnSpc>
                <a:spcPct val="150000"/>
              </a:lnSpc>
              <a:spcBef>
                <a:spcPts val="0"/>
              </a:spcBef>
              <a:spcAft>
                <a:spcPts val="0"/>
              </a:spcAft>
              <a:buClr>
                <a:schemeClr val="dk1"/>
              </a:buClr>
              <a:buSzPts val="2100"/>
              <a:buChar char="•"/>
            </a:pPr>
            <a:r>
              <a:rPr lang="fr-FR" sz="2100">
                <a:latin typeface="Times New Roman"/>
                <a:ea typeface="Times New Roman"/>
                <a:cs typeface="Times New Roman"/>
                <a:sym typeface="Times New Roman"/>
              </a:rPr>
              <a:t>Meilleure performance que les VM </a:t>
            </a:r>
            <a:endParaRPr/>
          </a:p>
          <a:p>
            <a:pPr marL="228600" lvl="0" indent="-228600" algn="just" rtl="0">
              <a:lnSpc>
                <a:spcPct val="150000"/>
              </a:lnSpc>
              <a:spcBef>
                <a:spcPts val="1000"/>
              </a:spcBef>
              <a:spcAft>
                <a:spcPts val="0"/>
              </a:spcAft>
              <a:buClr>
                <a:schemeClr val="dk1"/>
              </a:buClr>
              <a:buSzPts val="2100"/>
              <a:buChar char="•"/>
            </a:pPr>
            <a:r>
              <a:rPr lang="fr-FR" sz="2100">
                <a:latin typeface="Times New Roman"/>
                <a:ea typeface="Times New Roman"/>
                <a:cs typeface="Times New Roman"/>
                <a:sym typeface="Times New Roman"/>
              </a:rPr>
              <a:t>Portabilité d’un environnement à l’autre </a:t>
            </a:r>
            <a:endParaRPr/>
          </a:p>
          <a:p>
            <a:pPr marL="228600" lvl="0" indent="-228600" algn="just" rtl="0">
              <a:lnSpc>
                <a:spcPct val="150000"/>
              </a:lnSpc>
              <a:spcBef>
                <a:spcPts val="1000"/>
              </a:spcBef>
              <a:spcAft>
                <a:spcPts val="0"/>
              </a:spcAft>
              <a:buClr>
                <a:schemeClr val="dk1"/>
              </a:buClr>
              <a:buSzPts val="2100"/>
              <a:buChar char="•"/>
            </a:pPr>
            <a:r>
              <a:rPr lang="fr-FR" sz="2100">
                <a:latin typeface="Times New Roman"/>
                <a:ea typeface="Times New Roman"/>
                <a:cs typeface="Times New Roman"/>
                <a:sym typeface="Times New Roman"/>
              </a:rPr>
              <a:t>Cohérence entre les environnent Dev, test, et prod </a:t>
            </a:r>
            <a:endParaRPr/>
          </a:p>
          <a:p>
            <a:pPr marL="228600" lvl="0" indent="-228600" algn="just" rtl="0">
              <a:lnSpc>
                <a:spcPct val="150000"/>
              </a:lnSpc>
              <a:spcBef>
                <a:spcPts val="1000"/>
              </a:spcBef>
              <a:spcAft>
                <a:spcPts val="0"/>
              </a:spcAft>
              <a:buClr>
                <a:schemeClr val="dk1"/>
              </a:buClr>
              <a:buSzPts val="2100"/>
              <a:buChar char="•"/>
            </a:pPr>
            <a:r>
              <a:rPr lang="fr-FR" sz="2100">
                <a:latin typeface="Times New Roman"/>
                <a:ea typeface="Times New Roman"/>
                <a:cs typeface="Times New Roman"/>
                <a:sym typeface="Times New Roman"/>
              </a:rPr>
              <a:t>Permet de modulariser facilement l’application </a:t>
            </a:r>
            <a:endParaRPr/>
          </a:p>
          <a:p>
            <a:pPr marL="228600" lvl="0" indent="-228600" algn="just" rtl="0">
              <a:lnSpc>
                <a:spcPct val="150000"/>
              </a:lnSpc>
              <a:spcBef>
                <a:spcPts val="1000"/>
              </a:spcBef>
              <a:spcAft>
                <a:spcPts val="0"/>
              </a:spcAft>
              <a:buClr>
                <a:schemeClr val="dk1"/>
              </a:buClr>
              <a:buSzPts val="2100"/>
              <a:buChar char="•"/>
            </a:pPr>
            <a:r>
              <a:rPr lang="fr-FR" sz="2100">
                <a:latin typeface="Times New Roman"/>
                <a:ea typeface="Times New Roman"/>
                <a:cs typeface="Times New Roman"/>
                <a:sym typeface="Times New Roman"/>
              </a:rPr>
              <a:t>Gérer l’héritage technique(Ancienne application) grâce à l’isolement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8"/>
        <p:cNvGrpSpPr/>
        <p:nvPr/>
      </p:nvGrpSpPr>
      <p:grpSpPr>
        <a:xfrm>
          <a:off x="0" y="0"/>
          <a:ext cx="0" cy="0"/>
          <a:chOff x="0" y="0"/>
          <a:chExt cx="0" cy="0"/>
        </a:xfrm>
      </p:grpSpPr>
      <p:sp>
        <p:nvSpPr>
          <p:cNvPr id="369" name="Google Shape;369;p1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0" name="Google Shape;370;p18"/>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1" name="Google Shape;371;p18"/>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2" name="Google Shape;372;p18"/>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3" name="Google Shape;373;p18"/>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4" name="Google Shape;374;p18"/>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VI. INCONVENIENTS</a:t>
            </a:r>
            <a:endParaRPr sz="4000">
              <a:solidFill>
                <a:srgbClr val="FFFFFF"/>
              </a:solidFill>
              <a:latin typeface="Times New Roman"/>
              <a:ea typeface="Times New Roman"/>
              <a:cs typeface="Times New Roman"/>
              <a:sym typeface="Times New Roman"/>
            </a:endParaRPr>
          </a:p>
        </p:txBody>
      </p:sp>
      <p:sp>
        <p:nvSpPr>
          <p:cNvPr id="375" name="Google Shape;375;p18"/>
          <p:cNvSpPr txBox="1">
            <a:spLocks noGrp="1"/>
          </p:cNvSpPr>
          <p:nvPr>
            <p:ph type="body" idx="1"/>
          </p:nvPr>
        </p:nvSpPr>
        <p:spPr>
          <a:xfrm>
            <a:off x="718130" y="1885279"/>
            <a:ext cx="10421829" cy="2750516"/>
          </a:xfrm>
          <a:prstGeom prst="rect">
            <a:avLst/>
          </a:prstGeom>
          <a:noFill/>
          <a:ln>
            <a:noFill/>
          </a:ln>
        </p:spPr>
        <p:txBody>
          <a:bodyPr spcFirstLastPara="1" wrap="square" lIns="91425" tIns="45700" rIns="91425" bIns="45700" anchor="ctr" anchorCtr="0">
            <a:noAutofit/>
          </a:bodyPr>
          <a:lstStyle/>
          <a:p>
            <a:pPr marL="647670" lvl="0" indent="-342900" algn="just" rtl="0">
              <a:lnSpc>
                <a:spcPct val="150000"/>
              </a:lnSpc>
              <a:spcBef>
                <a:spcPts val="0"/>
              </a:spcBef>
              <a:spcAft>
                <a:spcPts val="0"/>
              </a:spcAft>
              <a:buClr>
                <a:srgbClr val="000000"/>
              </a:buClr>
              <a:buSzPts val="2100"/>
              <a:buChar char="•"/>
            </a:pPr>
            <a:r>
              <a:rPr lang="fr-FR" sz="2100" b="1">
                <a:solidFill>
                  <a:srgbClr val="000000"/>
                </a:solidFill>
                <a:latin typeface="Times New Roman"/>
                <a:ea typeface="Times New Roman"/>
                <a:cs typeface="Times New Roman"/>
                <a:sym typeface="Times New Roman"/>
              </a:rPr>
              <a:t>N’offrent pas une vitesse sans faille </a:t>
            </a:r>
            <a:r>
              <a:rPr lang="fr-FR" sz="2100">
                <a:solidFill>
                  <a:srgbClr val="000000"/>
                </a:solidFill>
                <a:latin typeface="Times New Roman"/>
                <a:ea typeface="Times New Roman"/>
                <a:cs typeface="Times New Roman"/>
                <a:sym typeface="Times New Roman"/>
              </a:rPr>
              <a:t>: les conteneurs engendrent moins de frais que les machines virtuelles, mais leur impact sur les performances est toujours mesurable.</a:t>
            </a:r>
            <a:endParaRPr/>
          </a:p>
          <a:p>
            <a:pPr marL="647670" lvl="0" indent="-342900" algn="just" rtl="0">
              <a:lnSpc>
                <a:spcPct val="150000"/>
              </a:lnSpc>
              <a:spcBef>
                <a:spcPts val="1000"/>
              </a:spcBef>
              <a:spcAft>
                <a:spcPts val="0"/>
              </a:spcAft>
              <a:buClr>
                <a:srgbClr val="000000"/>
              </a:buClr>
              <a:buSzPts val="2100"/>
              <a:buChar char="•"/>
            </a:pPr>
            <a:r>
              <a:rPr lang="fr-FR" sz="2100" b="1">
                <a:solidFill>
                  <a:srgbClr val="000000"/>
                </a:solidFill>
                <a:latin typeface="Times New Roman"/>
                <a:ea typeface="Times New Roman"/>
                <a:cs typeface="Times New Roman"/>
                <a:sym typeface="Times New Roman"/>
              </a:rPr>
              <a:t>Les conteneurs Docker sont sans état et immuables </a:t>
            </a:r>
            <a:r>
              <a:rPr lang="fr-FR" sz="2100">
                <a:solidFill>
                  <a:srgbClr val="000000"/>
                </a:solidFill>
                <a:latin typeface="Times New Roman"/>
                <a:ea typeface="Times New Roman"/>
                <a:cs typeface="Times New Roman"/>
                <a:sym typeface="Times New Roman"/>
              </a:rPr>
              <a:t>: Les conteneurs démarrent et s’exécutent à partir d’une image décrivant leur contenu. Cette image est immuable par défaut. Une fois créée, elle ne change pas.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9"/>
        <p:cNvGrpSpPr/>
        <p:nvPr/>
      </p:nvGrpSpPr>
      <p:grpSpPr>
        <a:xfrm>
          <a:off x="0" y="0"/>
          <a:ext cx="0" cy="0"/>
          <a:chOff x="0" y="0"/>
          <a:chExt cx="0" cy="0"/>
        </a:xfrm>
      </p:grpSpPr>
      <p:sp>
        <p:nvSpPr>
          <p:cNvPr id="380" name="Google Shape;380;p1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1" name="Google Shape;381;p19"/>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2" name="Google Shape;382;p19"/>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3" name="Google Shape;383;p19"/>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4" name="Google Shape;384;p19"/>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5" name="Google Shape;385;p19"/>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VII. PRATIQUE</a:t>
            </a:r>
            <a:endParaRPr sz="4000">
              <a:solidFill>
                <a:srgbClr val="FFFFFF"/>
              </a:solidFill>
              <a:latin typeface="Times New Roman"/>
              <a:ea typeface="Times New Roman"/>
              <a:cs typeface="Times New Roman"/>
              <a:sym typeface="Times New Roman"/>
            </a:endParaRPr>
          </a:p>
        </p:txBody>
      </p:sp>
      <p:pic>
        <p:nvPicPr>
          <p:cNvPr id="386" name="Google Shape;386;p19" descr="Mise en oeuvre | CNRD"/>
          <p:cNvPicPr preferRelativeResize="0"/>
          <p:nvPr/>
        </p:nvPicPr>
        <p:blipFill rotWithShape="1">
          <a:blip r:embed="rId3">
            <a:alphaModFix/>
          </a:blip>
          <a:srcRect/>
          <a:stretch/>
        </p:blipFill>
        <p:spPr>
          <a:xfrm>
            <a:off x="3061950" y="1910686"/>
            <a:ext cx="5794971" cy="441982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grpSp>
        <p:nvGrpSpPr>
          <p:cNvPr id="392" name="Google Shape;392;p20"/>
          <p:cNvGrpSpPr/>
          <p:nvPr/>
        </p:nvGrpSpPr>
        <p:grpSpPr>
          <a:xfrm>
            <a:off x="1908089" y="1068592"/>
            <a:ext cx="8452021" cy="4720815"/>
            <a:chOff x="4325258" y="1229517"/>
            <a:chExt cx="3541486" cy="3769865"/>
          </a:xfrm>
        </p:grpSpPr>
        <p:sp>
          <p:nvSpPr>
            <p:cNvPr id="393" name="Google Shape;393;p20"/>
            <p:cNvSpPr/>
            <p:nvPr/>
          </p:nvSpPr>
          <p:spPr>
            <a:xfrm>
              <a:off x="4792319" y="2392018"/>
              <a:ext cx="2607364" cy="2607364"/>
            </a:xfrm>
            <a:prstGeom prst="diamond">
              <a:avLst/>
            </a:prstGeom>
            <a:no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4" name="Google Shape;394;p20"/>
            <p:cNvSpPr/>
            <p:nvPr/>
          </p:nvSpPr>
          <p:spPr>
            <a:xfrm>
              <a:off x="4325258" y="1229517"/>
              <a:ext cx="3541486" cy="3541486"/>
            </a:xfrm>
            <a:prstGeom prst="diamond">
              <a:avLst/>
            </a:prstGeom>
            <a:no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95" name="Google Shape;395;p20"/>
          <p:cNvSpPr txBox="1">
            <a:spLocks noGrp="1"/>
          </p:cNvSpPr>
          <p:nvPr>
            <p:ph type="ctrTitle"/>
          </p:nvPr>
        </p:nvSpPr>
        <p:spPr>
          <a:xfrm>
            <a:off x="1524000" y="2431805"/>
            <a:ext cx="9144000" cy="1994392"/>
          </a:xfrm>
          <a:prstGeom prst="rect">
            <a:avLst/>
          </a:prstGeom>
          <a:noFill/>
          <a:ln>
            <a:noFill/>
          </a:ln>
          <a:effectLst>
            <a:outerShdw blurRad="50800" dist="38100" dir="18900000" algn="bl" rotWithShape="0">
              <a:srgbClr val="000000">
                <a:alpha val="40000"/>
              </a:srgbClr>
            </a:outerShdw>
          </a:effectLst>
        </p:spPr>
        <p:txBody>
          <a:bodyPr spcFirstLastPara="1" wrap="square" lIns="0" tIns="0" rIns="0" bIns="0" anchor="ctr" anchorCtr="0">
            <a:spAutoFit/>
          </a:bodyPr>
          <a:lstStyle/>
          <a:p>
            <a:pPr marL="0" lvl="0" indent="0" algn="ctr" rtl="0">
              <a:lnSpc>
                <a:spcPct val="90000"/>
              </a:lnSpc>
              <a:spcBef>
                <a:spcPts val="0"/>
              </a:spcBef>
              <a:spcAft>
                <a:spcPts val="0"/>
              </a:spcAft>
              <a:buClr>
                <a:srgbClr val="222A35"/>
              </a:buClr>
              <a:buSzPts val="7200"/>
              <a:buFont typeface="Times New Roman"/>
              <a:buNone/>
            </a:pPr>
            <a:r>
              <a:rPr lang="fr-FR" sz="7200" b="1">
                <a:solidFill>
                  <a:srgbClr val="222A35"/>
                </a:solidFill>
                <a:latin typeface="Times New Roman"/>
                <a:ea typeface="Times New Roman"/>
                <a:cs typeface="Times New Roman"/>
                <a:sym typeface="Times New Roman"/>
              </a:rPr>
              <a:t>Merci de votre attention</a:t>
            </a:r>
            <a:endParaRPr sz="7200">
              <a:solidFill>
                <a:srgbClr val="222A35"/>
              </a:solidFill>
              <a:latin typeface="Times New Roman"/>
              <a:ea typeface="Times New Roman"/>
              <a:cs typeface="Times New Roman"/>
              <a:sym typeface="Times New Roman"/>
            </a:endParaRPr>
          </a:p>
        </p:txBody>
      </p:sp>
      <p:sp>
        <p:nvSpPr>
          <p:cNvPr id="396" name="Google Shape;396;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FR"/>
              <a:t>30/03/2025</a:t>
            </a:r>
            <a:endParaRPr/>
          </a:p>
        </p:txBody>
      </p:sp>
      <p:sp>
        <p:nvSpPr>
          <p:cNvPr id="397" name="Google Shape;39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fr-FR"/>
              <a:t>20</a:t>
            </a:fld>
            <a:endParaRPr/>
          </a:p>
        </p:txBody>
      </p:sp>
    </p:spTree>
  </p:cSld>
  <p:clrMapOvr>
    <a:masterClrMapping/>
  </p:clrMapOvr>
</p:sld>
</file>

<file path=ppt/theme/theme1.xml><?xml version="1.0" encoding="utf-8"?>
<a:theme xmlns:a="http://schemas.openxmlformats.org/drawingml/2006/main" name="Office Theme">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5DB7BE2CA5D2C429FC637B5E46DBA60" ma:contentTypeVersion="3" ma:contentTypeDescription="Crée un document." ma:contentTypeScope="" ma:versionID="6f3577ceabfdbc509c4faa4701710f67">
  <xsd:schema xmlns:xsd="http://www.w3.org/2001/XMLSchema" xmlns:xs="http://www.w3.org/2001/XMLSchema" xmlns:p="http://schemas.microsoft.com/office/2006/metadata/properties" xmlns:ns2="328d567b-d583-47bf-b2ea-0efbdd114a23" targetNamespace="http://schemas.microsoft.com/office/2006/metadata/properties" ma:root="true" ma:fieldsID="eba54e47455da24a47cd1e13eaba82aa" ns2:_="">
    <xsd:import namespace="328d567b-d583-47bf-b2ea-0efbdd114a2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8d567b-d583-47bf-b2ea-0efbdd114a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E91D812-A27F-4804-BD1E-3F678867622F}">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18C1AF2-2503-44CE-AB0A-33F94630D8E5}">
  <ds:schemaRefs>
    <ds:schemaRef ds:uri="http://schemas.microsoft.com/sharepoint/v3/contenttype/forms"/>
  </ds:schemaRefs>
</ds:datastoreItem>
</file>

<file path=customXml/itemProps3.xml><?xml version="1.0" encoding="utf-8"?>
<ds:datastoreItem xmlns:ds="http://schemas.openxmlformats.org/officeDocument/2006/customXml" ds:itemID="{89CC6802-7135-49D8-9889-0936B5AA67A4}"/>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20</Notes>
  <HiddenSlides>0</HiddenSlides>
  <ScaleCrop>false</ScaleCrop>
  <HeadingPairs>
    <vt:vector size="4" baseType="variant">
      <vt:variant>
        <vt:lpstr>Theme</vt:lpstr>
      </vt:variant>
      <vt:variant>
        <vt:i4>2</vt:i4>
      </vt:variant>
      <vt:variant>
        <vt:lpstr>Slide Titles</vt:lpstr>
      </vt:variant>
      <vt:variant>
        <vt:i4>20</vt:i4>
      </vt:variant>
    </vt:vector>
  </HeadingPairs>
  <TitlesOfParts>
    <vt:vector size="22" baseType="lpstr">
      <vt:lpstr>Office Theme</vt:lpstr>
      <vt:lpstr>Thème Office</vt:lpstr>
      <vt:lpstr>PowerPoint Presentation</vt:lpstr>
      <vt:lpstr>PLAN</vt:lpstr>
      <vt:lpstr>I. QU’EST-CE DOCKER ?</vt:lpstr>
      <vt:lpstr>II. ORIGINES DE DOCKER ?</vt:lpstr>
      <vt:lpstr>III. L’ARCHITECTURE DE DOCKER ?</vt:lpstr>
      <vt:lpstr>IV. FONCTIONNEMENT DE DOCKER</vt:lpstr>
      <vt:lpstr>IV. FONCTIONNEMENT DE DOCKER</vt:lpstr>
      <vt:lpstr>IV. FONCTIONNEMENT DE DOCKER</vt:lpstr>
      <vt:lpstr>IV. FONCTIONNEMENT DE DOCKER</vt:lpstr>
      <vt:lpstr>IV. FONCTIONNEMENT DE DOCKER</vt:lpstr>
      <vt:lpstr>IV. FONCTIONNEMENT DE DOCKER</vt:lpstr>
      <vt:lpstr>IV. FONCTIONNEMENT DE DOCKER</vt:lpstr>
      <vt:lpstr>IV. FONCTIONNEMENT DE DOCKER</vt:lpstr>
      <vt:lpstr>IV. FONCTIONNEMENT DE DOCKER</vt:lpstr>
      <vt:lpstr>IV. FONCTIONNEMENT DE DOCKER</vt:lpstr>
      <vt:lpstr>V. CONTEXTE D’UTILISATION</vt:lpstr>
      <vt:lpstr>VI. AVANTAGES</vt:lpstr>
      <vt:lpstr>VI. INCONVENIENTS</vt:lpstr>
      <vt:lpstr>VII. PRATIQUE</vt:lpstr>
      <vt:lpstr>Merci de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DIOP, MOHAMET</dc:creator>
  <cp:revision>1</cp:revision>
  <dcterms:created xsi:type="dcterms:W3CDTF">2021-04-02T19:44:19Z</dcterms:created>
  <dcterms:modified xsi:type="dcterms:W3CDTF">2026-02-02T08:23:11Z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463cba9-5f6c-478d-9329-7b2295e4e8ed_Enabled">
    <vt:lpwstr>true</vt:lpwstr>
  </property>
  <property fmtid="{D5CDD505-2E9C-101B-9397-08002B2CF9AE}" pid="3" name="MSIP_Label_e463cba9-5f6c-478d-9329-7b2295e4e8ed_SetDate">
    <vt:lpwstr>2021-04-02T19:45:45Z</vt:lpwstr>
  </property>
  <property fmtid="{D5CDD505-2E9C-101B-9397-08002B2CF9AE}" pid="4" name="MSIP_Label_e463cba9-5f6c-478d-9329-7b2295e4e8ed_Method">
    <vt:lpwstr>Standard</vt:lpwstr>
  </property>
  <property fmtid="{D5CDD505-2E9C-101B-9397-08002B2CF9AE}" pid="5" name="MSIP_Label_e463cba9-5f6c-478d-9329-7b2295e4e8ed_Name">
    <vt:lpwstr>All Employees_2</vt:lpwstr>
  </property>
  <property fmtid="{D5CDD505-2E9C-101B-9397-08002B2CF9AE}" pid="6" name="MSIP_Label_e463cba9-5f6c-478d-9329-7b2295e4e8ed_SiteId">
    <vt:lpwstr>33440fc6-b7c7-412c-bb73-0e70b0198d5a</vt:lpwstr>
  </property>
  <property fmtid="{D5CDD505-2E9C-101B-9397-08002B2CF9AE}" pid="7" name="MSIP_Label_e463cba9-5f6c-478d-9329-7b2295e4e8ed_ActionId">
    <vt:lpwstr>217ab9b6-6d40-43c4-8a75-c765a150599d</vt:lpwstr>
  </property>
  <property fmtid="{D5CDD505-2E9C-101B-9397-08002B2CF9AE}" pid="8" name="MSIP_Label_e463cba9-5f6c-478d-9329-7b2295e4e8ed_ContentBits">
    <vt:lpwstr>0</vt:lpwstr>
  </property>
  <property fmtid="{D5CDD505-2E9C-101B-9397-08002B2CF9AE}" pid="9" name="ContentTypeId">
    <vt:lpwstr>0x01010005DB7BE2CA5D2C429FC637B5E46DBA60</vt:lpwstr>
  </property>
  <property fmtid="{D5CDD505-2E9C-101B-9397-08002B2CF9AE}" pid="10" name="MSIP_Label_47e7dfc5-2bf4-4a75-8664-2dc4b3bb1d09_Enabled">
    <vt:lpwstr>true</vt:lpwstr>
  </property>
  <property fmtid="{D5CDD505-2E9C-101B-9397-08002B2CF9AE}" pid="11" name="MSIP_Label_47e7dfc5-2bf4-4a75-8664-2dc4b3bb1d09_SetDate">
    <vt:lpwstr>2026-02-02T08:23:11Z</vt:lpwstr>
  </property>
  <property fmtid="{D5CDD505-2E9C-101B-9397-08002B2CF9AE}" pid="12" name="MSIP_Label_47e7dfc5-2bf4-4a75-8664-2dc4b3bb1d09_Method">
    <vt:lpwstr>Standard</vt:lpwstr>
  </property>
  <property fmtid="{D5CDD505-2E9C-101B-9397-08002B2CF9AE}" pid="13" name="MSIP_Label_47e7dfc5-2bf4-4a75-8664-2dc4b3bb1d09_Name">
    <vt:lpwstr>defa4170-0d19-0005-0004-bc88714345d2</vt:lpwstr>
  </property>
  <property fmtid="{D5CDD505-2E9C-101B-9397-08002B2CF9AE}" pid="14" name="MSIP_Label_47e7dfc5-2bf4-4a75-8664-2dc4b3bb1d09_SiteId">
    <vt:lpwstr>413600cf-bd4e-4c7c-8a61-69e73cddf731</vt:lpwstr>
  </property>
  <property fmtid="{D5CDD505-2E9C-101B-9397-08002B2CF9AE}" pid="15" name="MSIP_Label_47e7dfc5-2bf4-4a75-8664-2dc4b3bb1d09_ActionId">
    <vt:lpwstr>b2e0cf8c-4137-4350-a33e-ba1369c33b6c</vt:lpwstr>
  </property>
  <property fmtid="{D5CDD505-2E9C-101B-9397-08002B2CF9AE}" pid="16" name="MSIP_Label_47e7dfc5-2bf4-4a75-8664-2dc4b3bb1d09_ContentBits">
    <vt:lpwstr>0</vt:lpwstr>
  </property>
  <property fmtid="{D5CDD505-2E9C-101B-9397-08002B2CF9AE}" pid="17" name="MSIP_Label_47e7dfc5-2bf4-4a75-8664-2dc4b3bb1d09_Tag">
    <vt:lpwstr>10, 3, 0, 2</vt:lpwstr>
  </property>
</Properties>
</file>