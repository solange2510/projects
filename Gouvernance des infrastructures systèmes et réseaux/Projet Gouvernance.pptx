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0" r:id="rId31"/>
    <p:sldId id="281" r:id="rId32"/>
    <p:sldId id="282" r:id="rId33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l'entreprise fil rouge : Essential Bank, microfinance fictive. Annoncer le plan en 7 parties : de la fiche d'identité jusqu'au plan d'action sécurité. Rappeler que chaque partie alimente la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l'enchaînement : on part des valeurs métier (les 3 services bancaires), on identifie qui peut nous attaquer, puis comment, et on termine par le traitement du risque.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Lien clé : la dépendance Azure/Stripe vue en partie 1 devient ici une obligation réglementaire (DORA impose la maîtrise du risque lié aux tiers TIC).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sur la cohérence valeur 'résilience' ↔ démarche. Ouvrir sur les prochaines étapes du fil rouge : PCA détaillé, SMSI, certifications.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10" Type="http://schemas.openxmlformats.org/officeDocument/2006/relationships/image" Target="../media/image-efrei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1417320"/>
            <a:ext cx="1371600" cy="1371600"/>
          </a:xfrm>
          <a:prstGeom prst="ellipse">
            <a:avLst/>
          </a:prstGeom>
          <a:solidFill>
            <a:srgbClr val="118AB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719072"/>
            <a:ext cx="768096" cy="768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BANK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68680" y="3977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Gouvernance, audit et gestion des risques d'un établissement financier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68680" y="5120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fil rouge — Gouvernance des infrastructures, systèmes et réseaux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Cybersécurité &amp; Management (M1-CSM) · EFREI Paris ·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Solange Dominique EYAGA NDEME</a:t>
            </a:r>
            <a:endParaRPr lang="en-US" sz="1200" dirty="0"/>
          </a:p>
        </p:txBody>
      </p:sp>
      <p:sp>
        <p:nvSpPr>
          <p:cNvPr id="20" name="Logo plate"/>
          <p:cNvSpPr/>
          <p:nvPr/>
        </p:nvSpPr>
        <p:spPr>
          <a:xfrm>
            <a:off x="10089000" y="487680"/>
            <a:ext cx="1554480" cy="149244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22000"/>
              </a:srgbClr>
            </a:outerShdw>
          </a:effectLst>
        </p:spPr>
      </p:sp>
      <p:pic>
        <p:nvPicPr>
          <p:cNvPr id="21" name="Logo EFREI" descr="Logo EFREI Pari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89000" y="587680"/>
            <a:ext cx="1354480" cy="12924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fil rouge en 7 étapes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7452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7647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 entreprise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Identité, activité, gouvernance d'Essential Bank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306324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9535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Inventaire &amp; cartographie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31927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SI, schéma réseau et cartographie des actifs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425196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1422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Pré-audit interne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50799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Constats et analyse d'écarts de conformité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544068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533095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risques — EBIOS RM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569671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ateliers EBIOS Risk Manager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16002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64808" y="187452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32320" y="17647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&amp; audit des prestataires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0" y="213055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Prestataires critiques, SLA et exigences DORA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27889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64808" y="306324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1" name="Text 29"/>
          <p:cNvSpPr/>
          <p:nvPr/>
        </p:nvSpPr>
        <p:spPr>
          <a:xfrm>
            <a:off x="6464808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32320" y="29535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Continuité &amp; reprise d'activité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32320" y="331927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besoins de continuité et PRA (reprise après sinistre)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39776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64808" y="4251960"/>
            <a:ext cx="502920" cy="5029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6" name="Text 34"/>
          <p:cNvSpPr/>
          <p:nvPr/>
        </p:nvSpPr>
        <p:spPr>
          <a:xfrm>
            <a:off x="6464808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132320" y="41422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d'action &amp; conclusion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32320" y="450799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 priorisée et bilan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4572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51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868680" y="2514600"/>
            <a:ext cx="1325880" cy="1325880"/>
          </a:xfrm>
          <a:prstGeom prst="ellipse">
            <a:avLst/>
          </a:prstGeom>
          <a:solidFill>
            <a:srgbClr val="118AB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807208"/>
            <a:ext cx="740664" cy="740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87168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 entreprise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FICHE ENTREPRISE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 d'identité &amp; activité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Carte d'identité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Nom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Bank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Forme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de crédit (microfinance), agréé ACPR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Création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 2025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Taille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collaborateurs · CA ≈ 15 M€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Localisation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Bagnolet (siège) + 3 agences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Mission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accompagner les petites entreprises dans leur développement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Valeurs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proximité, résilience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2788920"/>
          </a:xfrm>
          <a:prstGeom prst="roundRect">
            <a:avLst>
              <a:gd name="adj" fmla="val 262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Activité principale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Secteur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— microfinance de proximité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Services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comptes, crédit, virement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Cible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et B2C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Canaux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 + agences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Technologies 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(Azure), IoT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· FICHE ENTREPRISE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Gouvernance &amp; organisation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Rôles clés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14600" y="228600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22860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06240" y="228600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2860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297180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718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14600" y="297180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29718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06240" y="2971800"/>
            <a:ext cx="15087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9718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63640" y="16002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Partenaires &amp; prestataires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0" y="224028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de France · BPI France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· Stripe (paiement)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Business (télécom)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(hébergement cloud)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4572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51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868680" y="2514600"/>
            <a:ext cx="1325880" cy="1325880"/>
          </a:xfrm>
          <a:prstGeom prst="ellipse">
            <a:avLst/>
          </a:prstGeom>
          <a:solidFill>
            <a:srgbClr val="118AB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807208"/>
            <a:ext cx="740664" cy="740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87168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Inventaire &amp; cartographie</a:t>
            </a:r>
            <a:endParaRPr lang="en-US" sz="3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INVENTAIRE &amp; CARTOGRAPHIE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d'information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Inventaire du SI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297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VLAN segmentés (métier, serveurs, agences)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pare-feux ASA en coupure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Routeurs inter-sites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internes + postes utilisateurs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cloud : Azure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externalisé : Stripe / PayPal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559552" y="2523712"/>
            <a:ext cx="6025896" cy="2633535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Schéma d'architecture réseau Packet Tracer d'Essential Ban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2651728"/>
            <a:ext cx="5769864" cy="23775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532120" y="5193824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d'architecture réseau (Packet Tracer) — 3 VLAN, routeurs et pare-feux ASA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· INVENTAIRE &amp; CARTOGRAPHIE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Valeurs métier ↔ biens supports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572000"/>
                <a:gridCol w="35021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métier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Biens supports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concernées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Création de comptes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App. gestion données utilisateurs · Azure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personnelles (KYC)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Octroi de crédit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App. crédit · Azure · BPI / Banque de France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financières, scoring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Stripe · PayPal · réseau / ASA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Transactions, IBAN, soldes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4572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51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868680" y="2514600"/>
            <a:ext cx="1325880" cy="1325880"/>
          </a:xfrm>
          <a:prstGeom prst="ellipse">
            <a:avLst/>
          </a:prstGeom>
          <a:solidFill>
            <a:srgbClr val="118AB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807208"/>
            <a:ext cx="740664" cy="740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87168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Pré-audit interne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· PRÉ-AUDIT INTERNE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Démarche &amp; référentiels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Périmètre &amp; méthode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: SI et conformité d'Essential Bank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documentaire (organisation, contrats)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sur l'environnement IT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d'écarts (existant vs exigences)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Référentiels retenus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286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· DORA · ISO/IEC 27001-27002 · ISO 22301 · SecNumCloud · RGS · AI Act (RIA)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· PRÉ-AUDIT INTERNE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Constats &amp; analyse d'écarts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2F6EF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A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forts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de conformité en place (RSSI, DPO)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Prestataires reconnus (Azure, Stripe, BPI)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Conscience réglementaire dès la création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segmenté en VLAN avec pare-feux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CE7EC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Écarts à traiter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RGPD incomplète (registres)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PCA / PRA conforme DORA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contrats de sous-traitance à renforcer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identités et des accès (IAM)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des objets connectés (IoT)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4572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51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868680" y="2514600"/>
            <a:ext cx="1325880" cy="1325880"/>
          </a:xfrm>
          <a:prstGeom prst="ellipse">
            <a:avLst/>
          </a:prstGeom>
          <a:solidFill>
            <a:srgbClr val="118AB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807208"/>
            <a:ext cx="740664" cy="740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87168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risques — EBIOS RM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· EBIOS RISK MANAGER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méthode en 5 ateliers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148840" cy="2468880"/>
          </a:xfrm>
          <a:prstGeom prst="roundRect">
            <a:avLst>
              <a:gd name="adj" fmla="val 3404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1308" y="2606040"/>
            <a:ext cx="603504" cy="60350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6" name="Text 4"/>
          <p:cNvSpPr/>
          <p:nvPr/>
        </p:nvSpPr>
        <p:spPr>
          <a:xfrm>
            <a:off x="1321308" y="26060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333756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Cadrage &amp; socle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3950208"/>
            <a:ext cx="1929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métier, biens supports, socle de sécurité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9192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8AB2"/>
                </a:solidFill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816352" y="2377440"/>
            <a:ext cx="2148840" cy="2468880"/>
          </a:xfrm>
          <a:prstGeom prst="roundRect">
            <a:avLst>
              <a:gd name="adj" fmla="val 3404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9020" y="2606040"/>
            <a:ext cx="603504" cy="60350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2" name="Text 10"/>
          <p:cNvSpPr/>
          <p:nvPr/>
        </p:nvSpPr>
        <p:spPr>
          <a:xfrm>
            <a:off x="3589020" y="26060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26080" y="333756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de risque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3950208"/>
            <a:ext cx="1929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d'attaquants et objectifs visés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46904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8AB2"/>
                </a:solidFill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84064" y="2377440"/>
            <a:ext cx="2148840" cy="2468880"/>
          </a:xfrm>
          <a:prstGeom prst="roundRect">
            <a:avLst>
              <a:gd name="adj" fmla="val 3404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6732" y="2606040"/>
            <a:ext cx="603504" cy="60350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8" name="Text 16"/>
          <p:cNvSpPr/>
          <p:nvPr/>
        </p:nvSpPr>
        <p:spPr>
          <a:xfrm>
            <a:off x="5856732" y="26060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93792" y="333756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Scénarios stratégiques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93792" y="3950208"/>
            <a:ext cx="1929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&amp; parties prenantes critiques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14616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8AB2"/>
                </a:solidFill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51776" y="2377440"/>
            <a:ext cx="2148840" cy="2468880"/>
          </a:xfrm>
          <a:prstGeom prst="roundRect">
            <a:avLst>
              <a:gd name="adj" fmla="val 3404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24444" y="2606040"/>
            <a:ext cx="603504" cy="60350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4" name="Text 22"/>
          <p:cNvSpPr/>
          <p:nvPr/>
        </p:nvSpPr>
        <p:spPr>
          <a:xfrm>
            <a:off x="8124444" y="26060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61504" y="333756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Scénarios opérationnels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61504" y="3950208"/>
            <a:ext cx="1929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opératoires techniques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328" y="3200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8AB2"/>
                </a:solidFill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619488" y="2377440"/>
            <a:ext cx="2148840" cy="2468880"/>
          </a:xfrm>
          <a:prstGeom prst="roundRect">
            <a:avLst>
              <a:gd name="adj" fmla="val 3404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92156" y="2606040"/>
            <a:ext cx="603504" cy="603504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0" name="Text 28"/>
          <p:cNvSpPr/>
          <p:nvPr/>
        </p:nvSpPr>
        <p:spPr>
          <a:xfrm>
            <a:off x="10392156" y="26060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729216" y="3337560"/>
            <a:ext cx="1929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du risque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29216" y="3950208"/>
            <a:ext cx="19293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Mesures, plan d'action, risques résiduels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· EBIOS 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Ateliers 1 &amp; 2 appliqués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Atelier 1 — Cadrage &amp; socle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métier : création de comptes, crédit, virement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Biens supports : appli données utilisateurs, Azure, Stripe, VLAN/ASA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redoutés : fuite de données comptes, indisponibilité des virements, altération de transactions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: mesures de sécurité déjà en place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Atelier 2 — Sources de risque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Cybercriminels : ransomware, phishing (gain financier)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Fraudeurs : détournement de virements / paiements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Hacktivistes : atteinte à l'image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compromis : fuite via prestataire (Azure, Stripe)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· EBIOS 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Scénarios, traitement &amp; cartographie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Ateliers 3 à 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09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A3 — Stratégique :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compromission via un prestataire critique (Azure / Stripe).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A4 — Opérationnel :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→ ransomware → chiffrement des données ; intrusion IoT.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A5 — Traitement (ISO 31000) :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/ réduire / transférer / accepter, puis mesurer le risque résiduel.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8932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risques retenus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2194560"/>
          <a:ext cx="565099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868680"/>
                <a:gridCol w="868680"/>
                <a:gridCol w="158191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Vrais.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Traitement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Ransomware (phishing)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Réduire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Fuite via prestataire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Réduire / transférer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Indispo. cloud / virements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Réduire (PRA)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Non-conformité RGPD / DORA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Réduire (gouvernance)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4572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51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868680" y="2514600"/>
            <a:ext cx="1325880" cy="1325880"/>
          </a:xfrm>
          <a:prstGeom prst="ellipse">
            <a:avLst/>
          </a:prstGeom>
          <a:solidFill>
            <a:srgbClr val="118AB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807208"/>
            <a:ext cx="740664" cy="740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87168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&amp; audit des prestataires</a:t>
            </a:r>
            <a:endParaRPr lang="en-US" sz="3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· SLA &amp; PRESTATAIRES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Prestataires critiques &amp; DORA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Prestataires critiques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— hébergement de tout le SI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/ PayPal — chaîne de paiement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Difficilement substituables → qualifiés de critiques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 partagée (cloud) à clarifier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CEEDD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B7C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Exigences DORA sur les tiers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des prestataires TIC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et droit d'audit des tiers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de résilience dans les contrats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continuité côté prestataire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· SLA &amp; PRESTATAIRES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 &amp; exigences de continuité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1828800"/>
                <a:gridCol w="23134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 (KPI)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cas d'écart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Hébergement (Azure)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Disponibilité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Pénalité / avoir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Paiement (Stripe)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Disponibilité / taux de réussite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99,95 %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Pénalité contractuelle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critique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Délai de rétablissement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4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Escalade + reporting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4572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51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868680" y="2514600"/>
            <a:ext cx="1325880" cy="1325880"/>
          </a:xfrm>
          <a:prstGeom prst="ellipse">
            <a:avLst/>
          </a:prstGeom>
          <a:solidFill>
            <a:srgbClr val="118AB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807208"/>
            <a:ext cx="740664" cy="740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87168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Continuité &amp; reprise d'activité</a:t>
            </a:r>
            <a:endParaRPr lang="en-US" sz="3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· PCA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Besoins de continuité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03120"/>
                <a:gridCol w="2377440"/>
                <a:gridCol w="35021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Activité essentielle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DMIA (RTO)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PDMA (RPO)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dégradé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Virements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4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 (quasi nul)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Traitement différé en agence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aux comptes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Consultation en lecture seule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Octroi de crédit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48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24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 manuelle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· PCA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&amp; gestion de crise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de continuité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 priorité de reprise (virements d'abord)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du SI : redondance, sauvegardes, reprise à chaud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de secours et de contournement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réflexes par métier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 de crise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Cellule de crise : DG, RSSI, DSI, DPO, métiers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de crise et procédure d'alerte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en mode dégradé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exercices et RETEX, puis maintenance du plan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8320" y="4572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0" b="1" dirty="0">
                <a:solidFill>
                  <a:srgbClr val="514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868680" y="2514600"/>
            <a:ext cx="1325880" cy="1325880"/>
          </a:xfrm>
          <a:prstGeom prst="ellipse">
            <a:avLst/>
          </a:prstGeom>
          <a:solidFill>
            <a:srgbClr val="118AB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807208"/>
            <a:ext cx="740664" cy="740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87168" y="29718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d'action &amp; conclusion</a:t>
            </a:r>
            <a:endParaRPr lang="en-US" sz="3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· PLAN D'ACTION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Feuille de route priorisée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3063240" cy="640080"/>
          </a:xfrm>
          <a:prstGeom prst="roundRect">
            <a:avLst>
              <a:gd name="adj" fmla="val 11429"/>
            </a:avLst>
          </a:prstGeom>
          <a:solidFill>
            <a:srgbClr val="118AB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Court terme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591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 mois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Registres RGPD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/ IAM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3-2-1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Sensibilisation phishing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2011680"/>
            <a:ext cx="3063240" cy="640080"/>
          </a:xfrm>
          <a:prstGeom prst="roundRect">
            <a:avLst>
              <a:gd name="adj" fmla="val 11429"/>
            </a:avLst>
          </a:prstGeom>
          <a:solidFill>
            <a:srgbClr val="06A77D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057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Moyen terme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4568" y="23591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9 mois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90288" y="288036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DORA (registre tiers, tests)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/ PRA formalisé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Azure &amp; Stripe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11896" y="2011680"/>
            <a:ext cx="3063240" cy="640080"/>
          </a:xfrm>
          <a:prstGeom prst="roundRect">
            <a:avLst>
              <a:gd name="adj" fmla="val 11429"/>
            </a:avLst>
          </a:prstGeom>
          <a:solidFill>
            <a:srgbClr val="EF476F"/>
          </a:solidFill>
          <a:ln/>
        </p:spPr>
      </p:sp>
      <p:sp>
        <p:nvSpPr>
          <p:cNvPr id="16" name="Text 14"/>
          <p:cNvSpPr/>
          <p:nvPr/>
        </p:nvSpPr>
        <p:spPr>
          <a:xfrm>
            <a:off x="8311896" y="2057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terme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11896" y="23591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18 mois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57616" y="288036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SMSI structuré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ISO 27001 &amp; 22301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Exercices de crise réguliers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7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68680" y="182880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D'une simple fiche d'identité, Essential Bank devient le terrain d'une démarche complète de gouvernance, d'audit et de gestion des risques.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7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 microfinance fortement régulée, elle doit bâtir en priorité un socle de conformité (RGPD, DORA) et de résilience — en cohérence directe avec sa valeur affichée : la résilience.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F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prochaines briques : formaliser le PCA/PRA, structurer le SMSI et viser les certifications ISO 27001 et 22301.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· PRA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PCA au PRA : objectifs de reprise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03120"/>
                <a:gridCol w="2377440"/>
                <a:gridCol w="35021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Processus essentiel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DMIA (RTO)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 (PRMA)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 de reprise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306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banking (comptes, virements)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— vital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Trésorerie &amp; paiements prestataires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— critique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Banque de France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— critique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· PRA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Stratégies de reprise &amp; PRI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Reprise selon le scénario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Rançongiciel : restaurer une sauvegarde saine, puis bascule Azure DR (à froid)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 serveur : bascule automatique (failover) — reprise à chaud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 Telecom : lien 4G/5G de secours, accès direct au cloud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Sinistre site (incendie, inondation) : repli ou télétravail, SI cloud préservé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8A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 — le volet SI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Disaster Recovery : réplication en région secondaire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3-2-1, instantanés toutes les 6 h (RPO 6 h)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Redémarrage : réseau, sécurité, données, core banking, paiements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: ne jamais restaurer une sauvegarde compromise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· PRA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3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Piloter la reprise &amp; la faire vivre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3063240" cy="640080"/>
          </a:xfrm>
          <a:prstGeom prst="roundRect">
            <a:avLst>
              <a:gd name="adj" fmla="val 11429"/>
            </a:avLst>
          </a:prstGeom>
          <a:solidFill>
            <a:srgbClr val="118AB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Cellule de reprise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591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pilote 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: le DSI (déclenche et coordonne)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 : restauration, contrôle anti-réinfection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: intégrité des données, notif. CNIL (72 h)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 &amp; DRH : paiements, mobilisation des équipes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44568" y="2011680"/>
            <a:ext cx="3063240" cy="640080"/>
          </a:xfrm>
          <a:prstGeom prst="roundRect">
            <a:avLst>
              <a:gd name="adj" fmla="val 11429"/>
            </a:avLst>
          </a:prstGeom>
          <a:solidFill>
            <a:srgbClr val="06A77D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057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Retour à la normale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4568" y="23591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automatique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90288" y="288036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: cause traitée, données réconciliées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planifiée vers la production principale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Levée du mode dégradé décidée par le DG, puis RETEX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EF1FB"/>
          </a:solidFill>
          <a:ln w="9525">
            <a:solidFill>
              <a:srgbClr val="D9DE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11896" y="2011680"/>
            <a:ext cx="3063240" cy="640080"/>
          </a:xfrm>
          <a:prstGeom prst="roundRect">
            <a:avLst>
              <a:gd name="adj" fmla="val 11429"/>
            </a:avLst>
          </a:prstGeom>
          <a:solidFill>
            <a:srgbClr val="EF476F"/>
          </a:solidFill>
          <a:ln/>
        </p:spPr>
      </p:sp>
      <p:sp>
        <p:nvSpPr>
          <p:cNvPr id="16" name="Text 14"/>
          <p:cNvSpPr/>
          <p:nvPr/>
        </p:nvSpPr>
        <p:spPr>
          <a:xfrm>
            <a:off x="8311896" y="2057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&amp; maintenance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11896" y="23591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 DORA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57616" y="288036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testée chaque mois, failover par trimestre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rançongiciel annuel (RTO/RPO réels vs cibles)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du PRA au moins une fois par an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 Bank - Gouvernance, audit et risques</dc:title>
  <dc:subject>PptxGenJS Presentation</dc:subject>
  <dc:creator>Projet fil rouge - M1 CSM-4</dc:creator>
  <cp:lastModifiedBy>Projet fil rouge - M1 CSM-4</cp:lastModifiedBy>
  <cp:revision>1</cp:revision>
  <dcterms:created xsi:type="dcterms:W3CDTF">2026-06-26T04:16:00Z</dcterms:created>
  <dcterms:modified xsi:type="dcterms:W3CDTF">2026-06-26T04:16:00Z</dcterms:modified>
</cp:coreProperties>
</file>