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l'entreprise fil rouge : Essential Bank, microfinance fictive. Annoncer le plan en 7 parties : de la fiche d'identité jusqu'au plan d'action sécurité. Rappeler que chaque partie alimente la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l'enchaînement : on part des valeurs métier (les 3 services bancaires), on identifie qui peut nous attaquer, puis comment, et on termine par le traitement du risque.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Lien clé : la dépendance Azure/Stripe vue en partie 1 devient ici une obligation réglementaire (DORA impose la maîtrise du risque lié aux tiers TIC).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Conclure sur la cohérence valeur 'résilience' ↔ démarche. Ouvrir sur les prochaines étapes du fil rouge : PCA détaillé, SMSI, certifications.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730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1417320"/>
            <a:ext cx="1371600" cy="1371600"/>
          </a:xfrm>
          <a:prstGeom prst="ellipse">
            <a:avLst/>
          </a:prstGeom>
          <a:solidFill>
            <a:srgbClr val="118AB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1719072"/>
            <a:ext cx="768096" cy="7680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971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ESSENTIAL BANK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868680" y="39776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Gouvernance, audit et gestion des risques d'un établissement financier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868680" y="5120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fil rouge — Gouvernance des infrastructures, systèmes et réseaux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Cybersécurité &amp; Management (CSM-4) · EFREI · 2026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68680" y="6035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6A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Votre nom · logo à insérer 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fil rouge en 7 étapes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74520"/>
            <a:ext cx="502920" cy="502920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76479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Fiche entreprise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13055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Identité, activité, gouvernance d'Essential Bank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3063240"/>
            <a:ext cx="502920" cy="502920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295351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Inventaire &amp; cartographie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331927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SI, schéma réseau et cartographie des actifs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4251960"/>
            <a:ext cx="502920" cy="502920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414223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Pré-audit interne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50799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Constats et analyse d'écarts de conformité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16636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5440680"/>
            <a:ext cx="502920" cy="502920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5440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17320" y="533095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des risques — EBIOS RM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569671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5 ateliers EBIOS Risk Manager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63640" y="160020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64808" y="1874520"/>
            <a:ext cx="502920" cy="502920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26" name="Text 24"/>
          <p:cNvSpPr/>
          <p:nvPr/>
        </p:nvSpPr>
        <p:spPr>
          <a:xfrm>
            <a:off x="6464808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132320" y="176479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 &amp; audit des prestataires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32320" y="213055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Prestataires critiques, SLA et exigences DORA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63640" y="278892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64808" y="3063240"/>
            <a:ext cx="502920" cy="502920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31" name="Text 29"/>
          <p:cNvSpPr/>
          <p:nvPr/>
        </p:nvSpPr>
        <p:spPr>
          <a:xfrm>
            <a:off x="6464808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132320" y="295351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continuité d'activité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32320" y="331927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de continuité, stratégie et gestion de crise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263640" y="397764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64808" y="4251960"/>
            <a:ext cx="502920" cy="502920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36" name="Text 34"/>
          <p:cNvSpPr/>
          <p:nvPr/>
        </p:nvSpPr>
        <p:spPr>
          <a:xfrm>
            <a:off x="6464808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132320" y="414223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d'action &amp; conclusion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132320" y="450799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Feuille de route priorisée et bilan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730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18320" y="45720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0" b="1" dirty="0">
                <a:solidFill>
                  <a:srgbClr val="514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868680" y="2514600"/>
            <a:ext cx="1325880" cy="1325880"/>
          </a:xfrm>
          <a:prstGeom prst="ellipse">
            <a:avLst/>
          </a:prstGeom>
          <a:solidFill>
            <a:srgbClr val="118AB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807208"/>
            <a:ext cx="740664" cy="7406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14600" y="2606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6A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487168" y="297180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Fiche entreprise</a:t>
            </a:r>
            <a:endParaRPr lang="en-US" sz="3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· FICHE ENTREPRISE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Carte d'identité &amp; activité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8A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Carte d'identité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983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Bank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 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 de crédit (microfinance), agréé ACPR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novembre 2025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 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collaborateurs · CA ≈ 15 M€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 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Bagnolet (siège) + 3 agences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accompagner les petites entreprises dans leur développement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proximité, résilience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49240" cy="2788920"/>
          </a:xfrm>
          <a:prstGeom prst="roundRect">
            <a:avLst>
              <a:gd name="adj" fmla="val 2623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8A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Activité principale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37960" y="224028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— microfinance de proximité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 comptes, crédit, virement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et B2C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Canaux 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ligne + agences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(Azure), IoT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4572000"/>
            <a:ext cx="5349240" cy="1508760"/>
          </a:xfrm>
          <a:prstGeom prst="roundRect">
            <a:avLst>
              <a:gd name="adj" fmla="val 4848"/>
            </a:avLst>
          </a:prstGeom>
          <a:solidFill>
            <a:srgbClr val="FCEEDD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4709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B7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 retenue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37960" y="502920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Effectif fixé à 30 (les documents indiquaient 20 puis 30) : plus cohérent avec un organigramme à 6 directions et 6 rôles clés.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· FICHE ENTREPRISE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Gouvernance &amp; organisation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8A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Rôles clés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15087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860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514600" y="2286000"/>
            <a:ext cx="15087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22860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06240" y="2286000"/>
            <a:ext cx="15087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22860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DRH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2971800"/>
            <a:ext cx="15087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9718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DSI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514600" y="2971800"/>
            <a:ext cx="15087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29718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RSSI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206240" y="2971800"/>
            <a:ext cx="15087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0" y="29718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069080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E2F6EF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2960" y="4206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A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fort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4526280"/>
            <a:ext cx="4983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présence d'un RSSI et d'un DPO dès la création montre une gouvernance de la sécurité et de la conformité intégrée — un atout pour DORA et le RGPD.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63640" y="160020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3796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8A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Partenaires &amp; prestataires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83680" y="2240280"/>
            <a:ext cx="4800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 de France · BPI France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 · Stripe (paiement)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Business (télécom)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(hébergement cloud)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63640" y="406908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CE7EC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37960" y="4206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de vigilance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37960" y="4526280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dépendance à Azure et Stripe : ce sont des prestataires critiques (responsabilité partagée), traités en partie 5.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730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18320" y="45720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0" b="1" dirty="0">
                <a:solidFill>
                  <a:srgbClr val="514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868680" y="2514600"/>
            <a:ext cx="1325880" cy="1325880"/>
          </a:xfrm>
          <a:prstGeom prst="ellipse">
            <a:avLst/>
          </a:prstGeom>
          <a:solidFill>
            <a:srgbClr val="118AB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807208"/>
            <a:ext cx="740664" cy="7406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14600" y="2606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6A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487168" y="297180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Inventaire &amp; cartographie</a:t>
            </a:r>
            <a:endParaRPr lang="en-US" sz="3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· INVENTAIRE &amp; CARTOGRAPHIE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Système d'information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754880" cy="4480560"/>
          </a:xfrm>
          <a:prstGeom prst="roundRect">
            <a:avLst>
              <a:gd name="adj" fmla="val 1633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8A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Inventaire du SI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2976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VLAN segmentés (métier, serveurs, agences)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pare-feux ASA en coupure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Routeurs inter-sites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Serveurs internes + postes utilisateurs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 cloud : Azure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externalisé : Stripe / PayPal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559552" y="2523712"/>
            <a:ext cx="6025896" cy="2633535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Schéma d'architecture réseau Packet Tracer d'Essential Ban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7568" y="2651728"/>
            <a:ext cx="5769864" cy="23775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532120" y="5193824"/>
            <a:ext cx="6080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d'architecture réseau (Packet Tracer) — 3 VLAN, routeurs et pare-feux ASA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· INVENTAIRE &amp; CARTOGRAPHIE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Valeurs métier ↔ biens supports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Cartographie qui sert de socle à l'analyse de risque EBIOS (partie 4).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167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4572000"/>
                <a:gridCol w="350215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Valeur métier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8AB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Biens supports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8AB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Données concernées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8AB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Création de comptes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App. gestion données utilisateurs · Azure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Données personnelles (KYC)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Octroi de crédit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App. crédit · Azure · BPI / Banque de France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Données financières, scoring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Stripe · PayPal · réseau / ASA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Transactions, IBAN, soldes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12080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FCE7EC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5349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critique : </a:t>
            </a:r>
            <a:pPr indent="0" marL="0">
              <a:buNone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gestion des données utilisateurs — sa perte aurait un fort impact métier et déclencherait le PCA.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730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18320" y="45720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0" b="1" dirty="0">
                <a:solidFill>
                  <a:srgbClr val="514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868680" y="2514600"/>
            <a:ext cx="1325880" cy="1325880"/>
          </a:xfrm>
          <a:prstGeom prst="ellipse">
            <a:avLst/>
          </a:prstGeom>
          <a:solidFill>
            <a:srgbClr val="118AB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807208"/>
            <a:ext cx="740664" cy="7406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14600" y="2606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6A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487168" y="297180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Pré-audit interne</a:t>
            </a:r>
            <a:endParaRPr lang="en-US" sz="3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 · PRÉ-AUDIT INTERNE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Démarche &amp; référentiels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8A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Périmètre &amp; méthode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: SI et conformité d'Essential Bank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 documentaire (organisation, contrats)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sur l'environnement IT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d'écarts (existant vs exigences)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Référentiels retenus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4572000"/>
            <a:ext cx="5074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 · DORA · ISO/IEC 27001-27002 · ISO 22301 · SecNumCloud · RGS · AI Act (RIA)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CEEDD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B7C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Précisions sur les référentiels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2286000"/>
            <a:ext cx="4892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ISO » → ISO/IEC 27001 &amp; 27002 (SMSI) et ISO 22301 (continuité).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RIA » → règlement européen sur l'IA (AI Act), utile si scoring crédit / détection de fraude.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HDS écarté : il vise les données de santé, sans objet pour une banque.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: conformité RGPD + DORA, comme identifié dans le pré-audit.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 · PRÉ-AUDIT INTERNE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Constats &amp; analyse d'écarts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E2F6EF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A7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Points forts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5029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de conformité en place (RSSI, DPO)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Prestataires reconnus (Azure, Stripe, BPI)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Conscience réglementaire dès la création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segmenté en VLAN avec pare-feux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CE7EC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7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Écarts à traiter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0" y="228600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RGPD incomplète (registres)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PCA / PRA conforme DORA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contrats de sous-traitance à renforcer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identités et des accès (IAM)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Exposition des objets connectés (IoT)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730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18320" y="45720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0" b="1" dirty="0">
                <a:solidFill>
                  <a:srgbClr val="514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868680" y="2514600"/>
            <a:ext cx="1325880" cy="1325880"/>
          </a:xfrm>
          <a:prstGeom prst="ellipse">
            <a:avLst/>
          </a:prstGeom>
          <a:solidFill>
            <a:srgbClr val="118AB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807208"/>
            <a:ext cx="740664" cy="7406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14600" y="2606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6A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487168" y="297180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des risques — EBIOS RM</a:t>
            </a:r>
            <a:endParaRPr lang="en-US" sz="3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4 · EBIOS RISK MANAGER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méthode en 5 ateliers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148840" cy="2468880"/>
          </a:xfrm>
          <a:prstGeom prst="roundRect">
            <a:avLst>
              <a:gd name="adj" fmla="val 3404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1308" y="2606040"/>
            <a:ext cx="603504" cy="603504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6" name="Text 4"/>
          <p:cNvSpPr/>
          <p:nvPr/>
        </p:nvSpPr>
        <p:spPr>
          <a:xfrm>
            <a:off x="1321308" y="26060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58368" y="3337560"/>
            <a:ext cx="1929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Cadrage &amp; socle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3950208"/>
            <a:ext cx="1929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métier, biens supports, socle de sécurité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679192" y="32004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8AB2"/>
                </a:solidFill>
              </a:rPr>
              <a:t>›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816352" y="2377440"/>
            <a:ext cx="2148840" cy="2468880"/>
          </a:xfrm>
          <a:prstGeom prst="roundRect">
            <a:avLst>
              <a:gd name="adj" fmla="val 3404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89020" y="2606040"/>
            <a:ext cx="603504" cy="603504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12" name="Text 10"/>
          <p:cNvSpPr/>
          <p:nvPr/>
        </p:nvSpPr>
        <p:spPr>
          <a:xfrm>
            <a:off x="3589020" y="26060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926080" y="3337560"/>
            <a:ext cx="1929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de risque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26080" y="3950208"/>
            <a:ext cx="1929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Profils d'attaquants et objectifs visés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46904" y="32004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8AB2"/>
                </a:solidFill>
              </a:rPr>
              <a:t>›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084064" y="2377440"/>
            <a:ext cx="2148840" cy="2468880"/>
          </a:xfrm>
          <a:prstGeom prst="roundRect">
            <a:avLst>
              <a:gd name="adj" fmla="val 3404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56732" y="2606040"/>
            <a:ext cx="603504" cy="603504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18" name="Text 16"/>
          <p:cNvSpPr/>
          <p:nvPr/>
        </p:nvSpPr>
        <p:spPr>
          <a:xfrm>
            <a:off x="5856732" y="26060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193792" y="3337560"/>
            <a:ext cx="1929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Scénarios stratégiques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93792" y="3950208"/>
            <a:ext cx="1929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Écosystème &amp; parties prenantes critiques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214616" y="32004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8AB2"/>
                </a:solidFill>
              </a:rPr>
              <a:t>›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7351776" y="2377440"/>
            <a:ext cx="2148840" cy="2468880"/>
          </a:xfrm>
          <a:prstGeom prst="roundRect">
            <a:avLst>
              <a:gd name="adj" fmla="val 3404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24444" y="2606040"/>
            <a:ext cx="603504" cy="603504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24" name="Text 22"/>
          <p:cNvSpPr/>
          <p:nvPr/>
        </p:nvSpPr>
        <p:spPr>
          <a:xfrm>
            <a:off x="8124444" y="26060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461504" y="3337560"/>
            <a:ext cx="1929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Scénarios opérationnels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61504" y="3950208"/>
            <a:ext cx="1929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 opératoires techniques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482328" y="32004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8AB2"/>
                </a:solidFill>
              </a:rPr>
              <a:t>›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9619488" y="2377440"/>
            <a:ext cx="2148840" cy="2468880"/>
          </a:xfrm>
          <a:prstGeom prst="roundRect">
            <a:avLst>
              <a:gd name="adj" fmla="val 3404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392156" y="2606040"/>
            <a:ext cx="603504" cy="603504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30" name="Text 28"/>
          <p:cNvSpPr/>
          <p:nvPr/>
        </p:nvSpPr>
        <p:spPr>
          <a:xfrm>
            <a:off x="10392156" y="26060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729216" y="3337560"/>
            <a:ext cx="1929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Traitement du risque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729216" y="3950208"/>
            <a:ext cx="1929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Mesures, plan d'action, risques résiduels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48640" y="5212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L'analyse réutilise la cartographie de la partie 2 et alimente le PCA (partie 6).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4 · EBIOS RM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Ateliers 1 &amp; 2 appliqués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8A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Atelier 1 — Cadrage &amp; socle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métier : création de comptes, crédit, virement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Biens supports : appli données utilisateurs, Azure, Stripe, VLAN/ASA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Événements redoutés : fuite de données comptes, indisponibilité des virements, altération de transactions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Socle : mesures de sécurité déjà en place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8A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Atelier 2 — Sources de risque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83680" y="224028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Cybercriminels : ransomware, phishing (gain financier)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Fraudeurs : détournement de virements / paiements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Hacktivistes : atteinte à l'image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Tiers compromis : fuite via prestataire (Azure, Stripe)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4 · EBIOS RM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Scénarios, traitement &amp; cartographie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8A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Ateliers 3 à 5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709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— Stratégique :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compromission via un prestataire critique (Azure / Stripe).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— Opérationnel :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→ ransomware → chiffrement des données ; intrusion IoT.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 — Traitement (ISO 31000) :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éviter / réduire / transférer / accepter, puis mesurer le risque résiduel.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8932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risques retenus</a:t>
            </a:r>
            <a:endParaRPr lang="en-US" sz="1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2194560"/>
          <a:ext cx="5650992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868680"/>
                <a:gridCol w="868680"/>
                <a:gridCol w="158191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Vrais.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Traitement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6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Ransomware (phishing)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Élevée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Réduire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Fuite via prestataire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Réduire / transférer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Indispo. cloud / virements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Élevé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Réduire (PRA)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Non-conformité RGPD / DORA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Élevée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Élevé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Réduire (gouvernance)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3730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18320" y="45720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0" b="1" dirty="0">
                <a:solidFill>
                  <a:srgbClr val="514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868680" y="2514600"/>
            <a:ext cx="1325880" cy="1325880"/>
          </a:xfrm>
          <a:prstGeom prst="ellipse">
            <a:avLst/>
          </a:prstGeom>
          <a:solidFill>
            <a:srgbClr val="118AB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807208"/>
            <a:ext cx="740664" cy="7406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14600" y="2606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6A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5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487168" y="297180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 &amp; audit des prestataires</a:t>
            </a:r>
            <a:endParaRPr lang="en-US" sz="3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5 · SLA &amp; PRESTATAIRES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Prestataires critiques &amp; DORA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8A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Prestataires critiques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5029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— hébergement de tout le SI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/ PayPal — chaîne de paiement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Difficilement substituables → qualifiés de critiques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Responsabilité partagée (cloud) à clarifier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CEEDD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B7C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Exigences DORA sur les tiers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0" y="228600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des prestataires TIC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et droit d'audit des tiers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Clauses de résilience dans les contrats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de continuité côté prestataire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5 · SLA &amp; PRESTATAIRES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 &amp; exigences de continuité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d'engagements de service à contractualiser avec les prestataires critiques.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1828800"/>
                <a:gridCol w="231343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8AB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Indicateur (KPI)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8AB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8AB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cas d'écart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8AB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Hébergement (Azure)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Disponibilité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99,9 %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Pénalité / avoir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Paiement (Stripe)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Disponibilité / taux de réussite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99,95 %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Pénalité contractuelle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critique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Délai de rétablissement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4 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Escalade + reporting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074920"/>
            <a:ext cx="11091672" cy="1097280"/>
          </a:xfrm>
          <a:prstGeom prst="roundRect">
            <a:avLst>
              <a:gd name="adj" fmla="val 6667"/>
            </a:avLst>
          </a:prstGeom>
          <a:solidFill>
            <a:srgbClr val="E2F6EF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5212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exiger en plus : ISO 22301 / SecNumCloud, DMIA contractuel, mode dégradé et procédure de gestion de crise côté prestataire.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730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18320" y="45720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0" b="1" dirty="0">
                <a:solidFill>
                  <a:srgbClr val="514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868680" y="2514600"/>
            <a:ext cx="1325880" cy="1325880"/>
          </a:xfrm>
          <a:prstGeom prst="ellipse">
            <a:avLst/>
          </a:prstGeom>
          <a:solidFill>
            <a:srgbClr val="118AB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807208"/>
            <a:ext cx="740664" cy="7406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14600" y="2606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6A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6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487168" y="297180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continuité d'activité</a:t>
            </a:r>
            <a:endParaRPr lang="en-US" sz="3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6 · PCA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Besoins de continuité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une banque, les transactions tolèrent une perte de données quasi nulle : le PDMA est l'indicateur le plus contraignant.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9167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103120"/>
                <a:gridCol w="2377440"/>
                <a:gridCol w="350215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Activité essentielle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DMIA (RTO)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PDMA (RPO)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 dégradé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6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Virements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4 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 (quasi nul)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Traitement différé en agence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Accès aux comptes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 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15 min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Consultation en lecture seule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Octroi de crédit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48 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24 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 manuelle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074920"/>
            <a:ext cx="11091672" cy="1097280"/>
          </a:xfrm>
          <a:prstGeom prst="roundRect">
            <a:avLst>
              <a:gd name="adj" fmla="val 6667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5212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critiques à préserver : </a:t>
            </a:r>
            <a:pPr indent="0" marL="0">
              <a:buNone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et données (Azure), chaîne de paiement (Stripe), personnes clés, locaux des agences.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6 · PCA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Stratégie &amp; gestion de crise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8A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Stratégie de continuité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5029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 de priorité de reprise (virements d'abord)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du SI : redondance, sauvegardes, reprise à chaud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de secours et de contournement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Fiches réflexes par métier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8A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 de crise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0" y="228600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Cellule de crise : DG, RSSI, DSI, DPO, métiers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Annuaire de crise et procédure d'alerte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en mode dégradé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exercices et RETEX, puis maintenance du plan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3730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18320" y="45720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0" b="1" dirty="0">
                <a:solidFill>
                  <a:srgbClr val="514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868680" y="2514600"/>
            <a:ext cx="1325880" cy="1325880"/>
          </a:xfrm>
          <a:prstGeom prst="ellipse">
            <a:avLst/>
          </a:prstGeom>
          <a:solidFill>
            <a:srgbClr val="118AB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807208"/>
            <a:ext cx="740664" cy="7406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14600" y="2606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6A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7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487168" y="297180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d'action &amp; conclusion</a:t>
            </a:r>
            <a:endParaRPr lang="en-US" sz="3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7 · PLAN D'ACTION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Feuille de route priorisée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3063240" cy="640080"/>
          </a:xfrm>
          <a:prstGeom prst="roundRect">
            <a:avLst>
              <a:gd name="adj" fmla="val 11429"/>
            </a:avLst>
          </a:prstGeom>
          <a:solidFill>
            <a:srgbClr val="118AB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574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Court terme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3591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3 mois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2971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Registres RGPD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/ IAM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Sauvegardes 3-2-1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Sensibilisation phishing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15968" y="178308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44568" y="2011680"/>
            <a:ext cx="3063240" cy="640080"/>
          </a:xfrm>
          <a:prstGeom prst="roundRect">
            <a:avLst>
              <a:gd name="adj" fmla="val 11429"/>
            </a:avLst>
          </a:prstGeom>
          <a:solidFill>
            <a:srgbClr val="06A77D"/>
          </a:solidFill>
          <a:ln/>
        </p:spPr>
      </p:sp>
      <p:sp>
        <p:nvSpPr>
          <p:cNvPr id="11" name="Text 9"/>
          <p:cNvSpPr/>
          <p:nvPr/>
        </p:nvSpPr>
        <p:spPr>
          <a:xfrm>
            <a:off x="4544568" y="20574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Moyen terme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44568" y="23591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– 9 mois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90288" y="2880360"/>
            <a:ext cx="2971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DORA (registre tiers, tests)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/ PRA formalisé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 Azure &amp; Stripe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83296" y="178308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11896" y="2011680"/>
            <a:ext cx="3063240" cy="640080"/>
          </a:xfrm>
          <a:prstGeom prst="roundRect">
            <a:avLst>
              <a:gd name="adj" fmla="val 11429"/>
            </a:avLst>
          </a:prstGeom>
          <a:solidFill>
            <a:srgbClr val="EF476F"/>
          </a:solidFill>
          <a:ln/>
        </p:spPr>
      </p:sp>
      <p:sp>
        <p:nvSpPr>
          <p:cNvPr id="16" name="Text 14"/>
          <p:cNvSpPr/>
          <p:nvPr/>
        </p:nvSpPr>
        <p:spPr>
          <a:xfrm>
            <a:off x="8311896" y="20574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 terme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11896" y="23591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– 18 mois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357616" y="2880360"/>
            <a:ext cx="2971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SMSI structuré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ISO 27001 &amp; 22301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Exercices de crise réguliers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3730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68680" y="1828800"/>
            <a:ext cx="10241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D'une simple fiche d'identité, Essential Bank devient le terrain d'une démarche complète de gouvernance, d'audit et de gestion des risques.</a:t>
            </a:r>
            <a:endParaRPr lang="en-US" sz="1700" dirty="0"/>
          </a:p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Jeune microfinance fortement régulée, elle doit bâtir en priorité un socle de conformité (RGPD, DORA) et de résilience — en cohérence directe avec sa valeur affichée : la résilience.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prochaines briques : formaliser le PCA/PRA, structurer le SMSI et viser les certifications ISO 27001 et 22301.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68680" y="5486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A7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— questions 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Essential Bank - Gouvernance, audit et risques</dc:title>
  <dc:subject>PptxGenJS Presentation</dc:subject>
  <dc:creator>Projet fil rouge - M1 CSM-4</dc:creator>
  <cp:lastModifiedBy>Projet fil rouge - M1 CSM-4</cp:lastModifiedBy>
  <cp:revision>1</cp:revision>
  <dcterms:created xsi:type="dcterms:W3CDTF">2026-06-26T04:16:00Z</dcterms:created>
  <dcterms:modified xsi:type="dcterms:W3CDTF">2026-06-26T04:16:00Z</dcterms:modified>
</cp:coreProperties>
</file>