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0050D7">
              <a:alpha val="25000"/>
            </a:srgbClr>
          </a:solidFill>
          <a:ln w="12700">
            <a:solidFill>
              <a:srgbClr val="0050D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011680" cy="2011680"/>
          </a:xfrm>
          <a:prstGeom prst="ellipse">
            <a:avLst/>
          </a:prstGeom>
          <a:solidFill>
            <a:srgbClr val="5B9EF7">
              <a:alpha val="15000"/>
            </a:srgbClr>
          </a:solidFill>
          <a:ln w="12700">
            <a:solidFill>
              <a:srgbClr val="5B9EF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"/>
            <a:ext cx="2011680" cy="50292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OVHcloud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Consultants Green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Plan de Sobriété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5B9EF7"/>
                </a:solidFill>
              </a:rPr>
              <a:t>Numérique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C8FF"/>
                </a:solidFill>
              </a:rPr>
              <a:t>Un plan d'action concret sur 2 ans pour un cloud plus durable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4572000" cy="36576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9CC"/>
                </a:solidFill>
              </a:rPr>
              <a:t>Groupe 1  ·  Soutenance Séance 4  ·  2025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OVHcloud – Présentation de l'entreprise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743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88720"/>
            <a:ext cx="1965960" cy="1463040"/>
          </a:xfrm>
          <a:prstGeom prst="rect">
            <a:avLst/>
          </a:prstGeom>
          <a:solidFill>
            <a:srgbClr val="0050D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1887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450 000+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" y="1874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serveurs actifs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286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F"/>
                </a:solidFill>
              </a:rPr>
              <a:t>dans 40 datacenters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50592" y="1188720"/>
            <a:ext cx="1965960" cy="1463040"/>
          </a:xfrm>
          <a:prstGeom prst="rect">
            <a:avLst/>
          </a:prstGeom>
          <a:solidFill>
            <a:srgbClr val="00C38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11887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1,6 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450592" y="1874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50592" y="2286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F"/>
                </a:solidFill>
              </a:rPr>
              <a:t>+140 pays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26864" y="1188720"/>
            <a:ext cx="1965960" cy="1463040"/>
          </a:xfrm>
          <a:prstGeom prst="rect">
            <a:avLst/>
          </a:prstGeom>
          <a:solidFill>
            <a:srgbClr val="00318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26864" y="11887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 continents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26864" y="1874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présence mondiale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26864" y="2286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F"/>
                </a:solidFill>
              </a:rPr>
              <a:t>Europe, Amériques, Asie-Pac.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03136" y="1188720"/>
            <a:ext cx="1965960" cy="1463040"/>
          </a:xfrm>
          <a:prstGeom prst="rect">
            <a:avLst/>
          </a:prstGeom>
          <a:solidFill>
            <a:srgbClr val="7B3F9E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03136" y="11887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1999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803136" y="1874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fondée à Roubaix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03136" y="2286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F"/>
                </a:solidFill>
              </a:rPr>
              <a:t>par Octave Klaba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2834640"/>
            <a:ext cx="8595360" cy="36576"/>
          </a:xfrm>
          <a:prstGeom prst="rect">
            <a:avLst/>
          </a:prstGeom>
          <a:solidFill>
            <a:srgbClr val="5B9EF7"/>
          </a:solidFill>
          <a:ln w="12700">
            <a:solidFill>
              <a:srgbClr val="5B9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3152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Modèle intégré vertical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Conception, fabrication et exploitation des serveurs en interne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4320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3152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Leader cloud européen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1520" y="4142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Cloud public, privé, bare metal, hébergement web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66344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12064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Cloud souverain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120640" y="3273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Certification SecNumCloud 3.2 (ANSSI, jan. 2024)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663440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♻️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120640" y="3794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Économie circulaire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120640" y="4142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100% des serveurs démontés et composants réemployés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E"/>
                </a:solidFill>
              </a:rPr>
              <a:t>Source : OVHcloud Corporate – corporate.ovhcloud.com  ·  Wikipedia OVHcloud 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Contexte &amp; Enjeux – Impact du Numérique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743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43000"/>
            <a:ext cx="2560320" cy="1920240"/>
          </a:xfrm>
          <a:prstGeom prst="rect">
            <a:avLst/>
          </a:prstGeom>
          <a:solidFill>
            <a:srgbClr val="001A50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43000"/>
            <a:ext cx="2560320" cy="73152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50D7"/>
                </a:solidFill>
              </a:rPr>
              <a:t>2–3%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6576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8FF"/>
                </a:solidFill>
              </a:rPr>
              <a:t>de la conso électrique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C8FF"/>
                </a:solidFill>
              </a:rPr>
              <a:t>européenne (datacenters)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77AA"/>
                </a:solidFill>
              </a:rPr>
              <a:t>OVHcloud Corporate, 2024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560320" cy="1920240"/>
          </a:xfrm>
          <a:prstGeom prst="rect">
            <a:avLst/>
          </a:prstGeom>
          <a:solidFill>
            <a:srgbClr val="001A50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43000"/>
            <a:ext cx="2560320" cy="7315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7A00"/>
                </a:solidFill>
              </a:rPr>
              <a:t>×2–3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20040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8FF"/>
                </a:solidFill>
              </a:rPr>
              <a:t>Hausse des émissions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C8FF"/>
                </a:solidFill>
              </a:rPr>
              <a:t>numérique d'ici 2030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0040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77AA"/>
                </a:solidFill>
              </a:rPr>
              <a:t>OVHcloud Corporate, 2024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143000"/>
            <a:ext cx="2560320" cy="1920240"/>
          </a:xfrm>
          <a:prstGeom prst="rect">
            <a:avLst/>
          </a:prstGeom>
          <a:solidFill>
            <a:srgbClr val="001A50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1143000"/>
            <a:ext cx="2560320" cy="73152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12344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B3F9E"/>
                </a:solidFill>
              </a:rPr>
              <a:t>54,5%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6035040" y="2011680"/>
            <a:ext cx="256032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8FF"/>
                </a:solidFill>
              </a:rPr>
              <a:t>des émissions OVHcloud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C8FF"/>
                </a:solidFill>
              </a:rPr>
              <a:t>viennent du Scope 3 (2023)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3504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77AA"/>
                </a:solidFill>
              </a:rPr>
              <a:t>OVHcloud Blog, fév. 2024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3246120"/>
            <a:ext cx="8412480" cy="1554480"/>
          </a:xfrm>
          <a:prstGeom prst="rect">
            <a:avLst/>
          </a:prstGeom>
          <a:solidFill>
            <a:srgbClr val="001838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3375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EF7"/>
                </a:solidFill>
              </a:rPr>
              <a:t>Pourquoi OVHcloud est concerné ?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3749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EF7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C8D8F8"/>
                </a:solidFill>
              </a:rPr>
              <a:t>L'essentiel de l'empreinte carbone vient de la FABRICATION des serveurs (upstream), pas de l'usage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059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EF7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C8D8F8"/>
                </a:solidFill>
              </a:rPr>
              <a:t>Scope 3 = 54,5% des émissions totales (2023) → chaîne d'approvisionnement critique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43708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EF7"/>
                </a:solidFill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C8D8F8"/>
                </a:solidFill>
              </a:rPr>
              <a:t>Croissance de l'IA → augmentation massive de la demande en puissance de calcul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1030"/>
          </a:solidFill>
          <a:ln w="12700">
            <a:solidFill>
              <a:srgbClr val="0010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66AA"/>
                </a:solidFill>
              </a:rPr>
              <a:t>Sources : OVHcloud Blog fév. 2024 · OVHcloud Corporate 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Positionnement Réglementaire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743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88720"/>
            <a:ext cx="4114800" cy="15087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88720"/>
            <a:ext cx="109728" cy="150876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261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0D7"/>
                </a:solidFill>
              </a:rPr>
              <a:t>CSRD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80" y="128016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D32F2F">
              <a:alpha val="15000"/>
            </a:srgbClr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0" y="1280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32F2F"/>
                </a:solidFill>
              </a:rPr>
              <a:t>OBLIGATOIRE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189"/>
                </a:solidFill>
              </a:rPr>
              <a:t>Corporate Sustainability Reporting Directive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19933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OVHcloud (coté en bourse) soumis dès 2025 · reporting extra-financier obligatoire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2880360"/>
            <a:ext cx="4114800" cy="15087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880360"/>
            <a:ext cx="109728" cy="1508760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389"/>
                </a:solidFill>
              </a:rPr>
              <a:t>RGESN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926080" y="29718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0C389">
              <a:alpha val="15000"/>
            </a:srgbClr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26080" y="29718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389"/>
                </a:solidFill>
              </a:rPr>
              <a:t>RECOMMANDÉ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5720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189"/>
                </a:solidFill>
              </a:rPr>
              <a:t>Référentiel Général Écoconception Services Numériques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36850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Bonnes pratiques écoconception applicables aux services cloud · 79 critères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1188720"/>
            <a:ext cx="4114800" cy="15087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1188720"/>
            <a:ext cx="109728" cy="150876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1261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3F9E"/>
                </a:solidFill>
              </a:rPr>
              <a:t>ISO 50001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360920" y="128016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FF7A00">
              <a:alpha val="15000"/>
            </a:srgbClr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60920" y="1280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7A00"/>
                </a:solidFill>
              </a:rPr>
              <a:t>EN COURS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920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189"/>
                </a:solidFill>
              </a:rPr>
              <a:t>Management de l'énergie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92040" y="19933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Certification pour maîtrise consommation énergétique datacenters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09160" y="2880360"/>
            <a:ext cx="4114800" cy="150876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880360"/>
            <a:ext cx="109728" cy="150876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92040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189"/>
                </a:solidFill>
              </a:rPr>
              <a:t>SBTi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360920" y="2971800"/>
            <a:ext cx="1280160" cy="329184"/>
          </a:xfrm>
          <a:prstGeom prst="roundRect">
            <a:avLst>
              <a:gd name="adj" fmla="val 13889"/>
            </a:avLst>
          </a:prstGeom>
          <a:solidFill>
            <a:srgbClr val="0050D7">
              <a:alpha val="15000"/>
            </a:srgbClr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60920" y="29718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50D7"/>
                </a:solidFill>
              </a:rPr>
              <a:t>ENGAGÉ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89204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3189"/>
                </a:solidFill>
              </a:rPr>
              <a:t>Science Based Targets initiative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92040" y="36850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OVHcloud engagé : -73,4% GES scopes 1&amp;2 d'ici 2030 (vs baseline)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E"/>
                </a:solidFill>
              </a:rPr>
              <a:t>Sources : EUR-Lex CSRD 2022/2464 · RGESN v2 2024 · OVHcloud Corporate sustainability commitments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Cartographie des Usages Numériques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65760" cy="36576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22%  Fabrication serveurs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365760" cy="36576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45%  Électricité datacenters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365760" cy="365760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33%  Opérations &amp; logistique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9CC"/>
                </a:solidFill>
              </a:rPr>
              <a:t>Répartition des émissions OVHcloud (2023)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3749040" cy="3657600"/>
          </a:xfrm>
          <a:prstGeom prst="rect">
            <a:avLst/>
          </a:prstGeom>
          <a:solidFill>
            <a:srgbClr val="001838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1887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EF7"/>
                </a:solidFill>
              </a:rPr>
              <a:t>Points de consommation clés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682496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3212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Énergie datacenters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32120" y="19842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CC"/>
                </a:solidFill>
              </a:rPr>
              <a:t>Principale source (45% empreinte 2023)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39572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Fabrication serveurs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532120" y="2697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CC"/>
                </a:solidFill>
              </a:rPr>
              <a:t>22% des émissions – composants achetés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1089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53212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Usage cloud clients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532120" y="34107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CC"/>
                </a:solidFill>
              </a:rPr>
              <a:t>Scope 3 aval – 54,5% émissions totales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82219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8039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Postes collaborateurs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532120" y="41239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CC"/>
                </a:solidFill>
              </a:rPr>
              <a:t>Flottes IT, téléphonie, périphériques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1030"/>
          </a:solidFill>
          <a:ln w="12700">
            <a:solidFill>
              <a:srgbClr val="00103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66AA"/>
                </a:solidFill>
              </a:rPr>
              <a:t>Source : Méthodologie calculatrice carbone OVHcloud (nov. 2023) · OVHcloud Blog fév. 2024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Analyse Critique – Forces &amp; Risques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402336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ATOUTS OVHcloud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023360" cy="420624"/>
          </a:xfrm>
          <a:prstGeom prst="rect">
            <a:avLst/>
          </a:prstGeom>
          <a:solidFill>
            <a:srgbClr val="F0FFF8"/>
          </a:solidFill>
          <a:ln w="12700">
            <a:solidFill>
              <a:srgbClr val="CCEE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89"/>
                </a:solidFill>
              </a:rPr>
              <a:t>PUE 1,28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618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vs moyenne industrie 1,55 (Uptime Institute 2022)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93976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122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89"/>
                </a:solidFill>
              </a:rPr>
              <a:t>WUE 0,2 l/kWh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1122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vs moyenne industrie 1,8 l/kWh (US DoE)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4023360" cy="420624"/>
          </a:xfrm>
          <a:prstGeom prst="rect">
            <a:avLst/>
          </a:prstGeom>
          <a:solidFill>
            <a:srgbClr val="F0FFF8"/>
          </a:solidFill>
          <a:ln w="12700">
            <a:solidFill>
              <a:srgbClr val="CCEE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06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89"/>
                </a:solidFill>
              </a:rPr>
              <a:t>91% énergie renouvelable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dans le mix énergétique 2023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81528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99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89"/>
                </a:solidFill>
              </a:rPr>
              <a:t>17% pièces reconditionnées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099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sur 100 composants utilisés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575304"/>
            <a:ext cx="4023360" cy="420624"/>
          </a:xfrm>
          <a:prstGeom prst="rect">
            <a:avLst/>
          </a:prstGeom>
          <a:solidFill>
            <a:srgbClr val="F0FFF8"/>
          </a:solidFill>
          <a:ln w="12700">
            <a:solidFill>
              <a:srgbClr val="CCEE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93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89"/>
                </a:solidFill>
              </a:rPr>
              <a:t>Durée de vie serveurs ≥5 ans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5935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jusqu'à 9 ans avec refabrication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87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389"/>
                </a:solidFill>
              </a:rPr>
              <a:t>27 datacenters réhabilités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40873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bâtiments réemployés (vs construction neuve)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1143000"/>
            <a:ext cx="4023360" cy="402336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1430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RISQUES &amp; LIMITES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600200"/>
            <a:ext cx="4023360" cy="50292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D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618488"/>
            <a:ext cx="1554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</a:rPr>
              <a:t>Greenwashing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1618488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Calculatrice carbone non comparable aux normes AWS/Azure/GCP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176272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D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194560"/>
            <a:ext cx="1554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</a:rPr>
              <a:t>Dépendance fournisseurs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2194560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Composants (cartes mères) en tension post-COVID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752344"/>
            <a:ext cx="4023360" cy="50292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D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770632"/>
            <a:ext cx="1554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</a:rPr>
              <a:t>Scope 3 dominant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2770632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54,5% des émissions hors contrôle direct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328416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DD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346704"/>
            <a:ext cx="1554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</a:rPr>
              <a:t>Coûts de transition IA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3346704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GPU haute conso énergétique +++ pour IA générative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3904488"/>
            <a:ext cx="4023360" cy="50292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D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922776"/>
            <a:ext cx="1554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</a:rPr>
              <a:t>Reporting CSRD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3922776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Obligation légale à mettre en place dès 2025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BBEE"/>
                </a:solidFill>
              </a:rPr>
              <a:t>Sources : OVHcloud Corporate · OVHcloud Blog · Europe1 nov. 2024 · Uptime Institute 2022 · US DoE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Leviers &amp; Plan d'Action – Vision Globale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97480" cy="3611880"/>
          </a:xfrm>
          <a:prstGeom prst="rect">
            <a:avLst/>
          </a:prstGeom>
          <a:solidFill>
            <a:srgbClr val="001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697480" cy="7315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389"/>
                </a:solidFill>
              </a:rPr>
              <a:t>Court Terme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0C389">
              <a:alpha val="20000"/>
            </a:srgbClr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389"/>
                </a:solidFill>
              </a:rPr>
              <a:t>3–6 mois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" y="2148840"/>
            <a:ext cx="182880" cy="182880"/>
          </a:xfrm>
          <a:prstGeom prst="ellipse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Audit complet des postes collaborateurs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807208"/>
            <a:ext cx="182880" cy="182880"/>
          </a:xfrm>
          <a:prstGeom prst="ellipse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7157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Déploiement calculatrice carbone (Cloud Public)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3465576"/>
            <a:ext cx="182880" cy="182880"/>
          </a:xfrm>
          <a:prstGeom prst="ellipse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3741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Formation Green IT pour 100% équipes 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4123944"/>
            <a:ext cx="182880" cy="182880"/>
          </a:xfrm>
          <a:prstGeom prst="ellipse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40325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Politique achat : priorité matériel reconditionné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1097280"/>
            <a:ext cx="2697480" cy="3611880"/>
          </a:xfrm>
          <a:prstGeom prst="rect">
            <a:avLst/>
          </a:prstGeom>
          <a:solidFill>
            <a:srgbClr val="001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097280"/>
            <a:ext cx="2697480" cy="73152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1704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0D7"/>
                </a:solidFill>
              </a:rPr>
              <a:t>Moyen Terme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94760" y="1645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050D7">
              <a:alpha val="20000"/>
            </a:srgbClr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1645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0D7"/>
                </a:solidFill>
              </a:rPr>
              <a:t>6 mois – 1 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9272" y="2148840"/>
            <a:ext cx="182880" cy="182880"/>
          </a:xfrm>
          <a:prstGeom prst="ellipse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57016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Extension reconditionnement : objectif 25%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9272" y="2807208"/>
            <a:ext cx="182880" cy="182880"/>
          </a:xfrm>
          <a:prstGeom prst="ellipse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7016" y="27157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Déploiement IA refroidissement intelligent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9272" y="3465576"/>
            <a:ext cx="182880" cy="182880"/>
          </a:xfrm>
          <a:prstGeom prst="ellipse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7016" y="33741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KPI carbone intégrés au reporting CSRD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9272" y="4123944"/>
            <a:ext cx="182880" cy="182880"/>
          </a:xfrm>
          <a:prstGeom prst="ellipse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57016" y="40325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Charte sobriété numérique clients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097280"/>
            <a:ext cx="2697480" cy="3611880"/>
          </a:xfrm>
          <a:prstGeom prst="rect">
            <a:avLst/>
          </a:prstGeom>
          <a:solidFill>
            <a:srgbClr val="001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097280"/>
            <a:ext cx="2697480" cy="7315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11704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00"/>
                </a:solidFill>
              </a:rPr>
              <a:t>Long Terme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675120" y="16459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7A00">
              <a:alpha val="20000"/>
            </a:srgbClr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645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A00"/>
                </a:solidFill>
              </a:rPr>
              <a:t>+ 1 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9632" y="2148840"/>
            <a:ext cx="182880" cy="18288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2057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-73,4% émissions Scope 1&amp;2 (objectif 2030)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99632" y="2807208"/>
            <a:ext cx="182880" cy="18288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27157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Certification ISO 50001 sur tous les DC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9632" y="3465576"/>
            <a:ext cx="182880" cy="18288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33741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Hybrid Immersion Cooling généralisé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99632" y="4123944"/>
            <a:ext cx="182880" cy="18288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37376" y="40325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8"/>
                </a:solidFill>
              </a:rPr>
              <a:t>Label NF Environnement services cloud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1030"/>
          </a:solidFill>
          <a:ln w="12700">
            <a:solidFill>
              <a:srgbClr val="0010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66AA"/>
                </a:solidFill>
              </a:rPr>
              <a:t>Sources : OVHcloud Corporate · RGESN v2 2024 · SBTi OVHcloud 2030 targets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Diagramme de Gantt – Roadmap 24 mois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032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189"/>
                </a:solidFill>
              </a:rPr>
              <a:t>M1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34899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189"/>
                </a:solidFill>
              </a:rPr>
              <a:t>M3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348990" y="1399032"/>
            <a:ext cx="0" cy="329184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13766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189"/>
                </a:solidFill>
              </a:rPr>
              <a:t>M6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137660" y="1399032"/>
            <a:ext cx="0" cy="329184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492633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189"/>
                </a:solidFill>
              </a:rPr>
              <a:t>M9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926330" y="1399032"/>
            <a:ext cx="0" cy="329184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71500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189"/>
                </a:solidFill>
              </a:rPr>
              <a:t>M12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715000" y="1399032"/>
            <a:ext cx="0" cy="329184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650367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189"/>
                </a:solidFill>
              </a:rPr>
              <a:t>M15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503670" y="1399032"/>
            <a:ext cx="0" cy="329184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729234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189"/>
                </a:solidFill>
              </a:rPr>
              <a:t>M18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292340" y="1399032"/>
            <a:ext cx="0" cy="329184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808101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189"/>
                </a:solidFill>
              </a:rPr>
              <a:t>M21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8081010" y="1399032"/>
            <a:ext cx="0" cy="329184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8869680" y="1143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189"/>
                </a:solidFill>
              </a:rPr>
              <a:t>M24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869680" y="1399032"/>
            <a:ext cx="0" cy="3291840"/>
          </a:xfrm>
          <a:prstGeom prst="line">
            <a:avLst/>
          </a:prstGeom>
          <a:noFill/>
          <a:ln w="6350">
            <a:solidFill>
              <a:srgbClr val="CCCCCC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2560320" y="1399032"/>
            <a:ext cx="1577340" cy="3246120"/>
          </a:xfrm>
          <a:prstGeom prst="rect">
            <a:avLst/>
          </a:prstGeom>
          <a:solidFill>
            <a:srgbClr val="00C389">
              <a:alpha val="8000"/>
            </a:srgbClr>
          </a:solidFill>
          <a:ln w="12700">
            <a:solidFill>
              <a:srgbClr val="00C389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37660" y="1399032"/>
            <a:ext cx="1577340" cy="3246120"/>
          </a:xfrm>
          <a:prstGeom prst="rect">
            <a:avLst/>
          </a:prstGeom>
          <a:solidFill>
            <a:srgbClr val="0050D7">
              <a:alpha val="8000"/>
            </a:srgbClr>
          </a:solidFill>
          <a:ln w="12700">
            <a:solidFill>
              <a:srgbClr val="0050D7">
                <a:alpha val="2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15000" y="1399032"/>
            <a:ext cx="3154680" cy="3246120"/>
          </a:xfrm>
          <a:prstGeom prst="rect">
            <a:avLst/>
          </a:prstGeom>
          <a:solidFill>
            <a:srgbClr val="FF7A00">
              <a:alpha val="8000"/>
            </a:srgbClr>
          </a:solidFill>
          <a:ln w="12700">
            <a:solidFill>
              <a:srgbClr val="FF7A00">
                <a:alpha val="2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28600" y="1435608"/>
            <a:ext cx="228600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1435608"/>
            <a:ext cx="219456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5A"/>
                </a:solidFill>
              </a:rPr>
              <a:t>Audit postes collaborateurs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560320" y="1453896"/>
            <a:ext cx="525780" cy="228600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28600" y="1755648"/>
            <a:ext cx="228600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1755648"/>
            <a:ext cx="219456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5A"/>
                </a:solidFill>
              </a:rPr>
              <a:t>Formation Green IT équipes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823210" y="1773936"/>
            <a:ext cx="788670" cy="228600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28600" y="2075688"/>
            <a:ext cx="228600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4320" y="2075688"/>
            <a:ext cx="219456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5A"/>
                </a:solidFill>
              </a:rPr>
              <a:t>Calculatrice carbone Cloud Public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086100" y="2093976"/>
            <a:ext cx="1051560" cy="228600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28600" y="2395728"/>
            <a:ext cx="228600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4320" y="2395728"/>
            <a:ext cx="219456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5A"/>
                </a:solidFill>
              </a:rPr>
              <a:t>Politique achat reconditionné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348990" y="2414016"/>
            <a:ext cx="788670" cy="228600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28600" y="2715768"/>
            <a:ext cx="228600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2715768"/>
            <a:ext cx="219456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5A"/>
                </a:solidFill>
              </a:rPr>
              <a:t>Extension reconditionnement 25%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874770" y="2734056"/>
            <a:ext cx="1314450" cy="22860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28600" y="3035808"/>
            <a:ext cx="228600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74320" y="3035808"/>
            <a:ext cx="219456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5A"/>
                </a:solidFill>
              </a:rPr>
              <a:t>IA refroidissement intelligent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137660" y="3054096"/>
            <a:ext cx="1577340" cy="22860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28600" y="3355848"/>
            <a:ext cx="228600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74320" y="3355848"/>
            <a:ext cx="219456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5A"/>
                </a:solidFill>
              </a:rPr>
              <a:t>KPI carbone – reporting CSRD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400550" y="3374136"/>
            <a:ext cx="1051560" cy="22860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28600" y="3675888"/>
            <a:ext cx="228600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74320" y="3675888"/>
            <a:ext cx="219456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5A"/>
                </a:solidFill>
              </a:rPr>
              <a:t>Hybrid Immersion Cooling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715000" y="3694176"/>
            <a:ext cx="2103120" cy="2286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28600" y="3995928"/>
            <a:ext cx="228600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74320" y="3995928"/>
            <a:ext cx="219456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5A"/>
                </a:solidFill>
              </a:rPr>
              <a:t>Certification ISO 50001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240780" y="4014216"/>
            <a:ext cx="1577340" cy="2286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28600" y="4315968"/>
            <a:ext cx="2286000" cy="265176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74320" y="4315968"/>
            <a:ext cx="219456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5A"/>
                </a:solidFill>
              </a:rPr>
              <a:t>Label NF Environnement cloud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766560" y="4334256"/>
            <a:ext cx="2103120" cy="2286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371600" y="4709160"/>
            <a:ext cx="274320" cy="20116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719072" y="47091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5A"/>
                </a:solidFill>
              </a:rPr>
              <a:t>Court terme (0–6 mois)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3931920" y="4709160"/>
            <a:ext cx="274320" cy="201168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279392" y="47091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5A"/>
                </a:solidFill>
              </a:rPr>
              <a:t>Moyen terme (6–12 mois)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6492240" y="4709160"/>
            <a:ext cx="274320" cy="2011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839712" y="47091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5A"/>
                </a:solidFill>
              </a:rPr>
              <a:t>Long terme (12–24 mois)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Indicateurs de Suivi – KPI Carbone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743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97280"/>
            <a:ext cx="2697480" cy="1554480"/>
          </a:xfrm>
          <a:prstGeom prst="rect">
            <a:avLst/>
          </a:prstGeom>
          <a:solidFill>
            <a:srgbClr val="001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2697480" cy="54864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207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0D7"/>
                </a:solidFill>
              </a:rPr>
              <a:t>PUE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84048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9CC"/>
                </a:solidFill>
              </a:rPr>
              <a:t>Power Usage Effectiveness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384048" y="1965960"/>
            <a:ext cx="1097280" cy="502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40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4048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9CC"/>
                </a:solidFill>
              </a:rPr>
              <a:t>Actuel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84048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1,28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755648" y="1965960"/>
            <a:ext cx="1097280" cy="502920"/>
          </a:xfrm>
          <a:prstGeom prst="rect">
            <a:avLst/>
          </a:prstGeom>
          <a:solidFill>
            <a:srgbClr val="0050D7">
              <a:alpha val="25000"/>
            </a:srgbClr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755648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Objectif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755648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≤ 1,20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337560" y="1097280"/>
            <a:ext cx="2697480" cy="1554480"/>
          </a:xfrm>
          <a:prstGeom prst="rect">
            <a:avLst/>
          </a:prstGeom>
          <a:solidFill>
            <a:srgbClr val="001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337560" y="1097280"/>
            <a:ext cx="2697480" cy="54864"/>
          </a:xfrm>
          <a:prstGeom prst="rect">
            <a:avLst/>
          </a:prstGeom>
          <a:solidFill>
            <a:srgbClr val="5B9EF7"/>
          </a:solidFill>
          <a:ln w="12700">
            <a:solidFill>
              <a:srgbClr val="5B9EF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2344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86200" y="1207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EF7"/>
                </a:solidFill>
              </a:rPr>
              <a:t>WUE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447288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9CC"/>
                </a:solidFill>
              </a:rPr>
              <a:t>Water Usage Effectiveness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447288" y="1965960"/>
            <a:ext cx="1097280" cy="502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40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447288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9CC"/>
                </a:solidFill>
              </a:rPr>
              <a:t>Actuel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3447288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0,2 l/kWh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818888" y="1965960"/>
            <a:ext cx="1097280" cy="502920"/>
          </a:xfrm>
          <a:prstGeom prst="rect">
            <a:avLst/>
          </a:prstGeom>
          <a:solidFill>
            <a:srgbClr val="5B9EF7">
              <a:alpha val="25000"/>
            </a:srgbClr>
          </a:solidFill>
          <a:ln w="12700">
            <a:solidFill>
              <a:srgbClr val="5B9EF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18888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Objectif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818888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≤ 0,15 l/kWh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400800" y="1097280"/>
            <a:ext cx="2697480" cy="1554480"/>
          </a:xfrm>
          <a:prstGeom prst="rect">
            <a:avLst/>
          </a:prstGeom>
          <a:solidFill>
            <a:srgbClr val="001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00800" y="1097280"/>
            <a:ext cx="2697480" cy="54864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234440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49440" y="1207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389"/>
                </a:solidFill>
              </a:rPr>
              <a:t>CUE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510528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9CC"/>
                </a:solidFill>
              </a:rPr>
              <a:t>Carbon Usage Effectiveness (2023)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6510528" y="1965960"/>
            <a:ext cx="1097280" cy="502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408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510528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9CC"/>
                </a:solidFill>
              </a:rPr>
              <a:t>Actuel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6510528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0,18 kgCO₂/kWh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882128" y="1965960"/>
            <a:ext cx="1097280" cy="502920"/>
          </a:xfrm>
          <a:prstGeom prst="rect">
            <a:avLst/>
          </a:prstGeom>
          <a:solidFill>
            <a:srgbClr val="00C389">
              <a:alpha val="25000"/>
            </a:srgbClr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882128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Objectif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7882128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≤ 0,12 kgCO₂/kWh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274320" y="2880360"/>
            <a:ext cx="2697480" cy="1554480"/>
          </a:xfrm>
          <a:prstGeom prst="rect">
            <a:avLst/>
          </a:prstGeom>
          <a:solidFill>
            <a:srgbClr val="001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274320" y="2880360"/>
            <a:ext cx="2697480" cy="54864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17520"/>
            <a:ext cx="347472" cy="34747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22960" y="2990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A00"/>
                </a:solidFill>
              </a:rPr>
              <a:t>Taux recond.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384048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9CC"/>
                </a:solidFill>
              </a:rPr>
              <a:t>Composants reconditionnés / 100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384048" y="3749040"/>
            <a:ext cx="1097280" cy="502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4088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84048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9CC"/>
                </a:solidFill>
              </a:rPr>
              <a:t>Actuel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384048" y="3959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17%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1755648" y="3749040"/>
            <a:ext cx="1097280" cy="502920"/>
          </a:xfrm>
          <a:prstGeom prst="rect">
            <a:avLst/>
          </a:prstGeom>
          <a:solidFill>
            <a:srgbClr val="FF7A00">
              <a:alpha val="25000"/>
            </a:srgbClr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1755648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Objectif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1755648" y="3959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25%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3337560" y="2880360"/>
            <a:ext cx="2697480" cy="1554480"/>
          </a:xfrm>
          <a:prstGeom prst="rect">
            <a:avLst/>
          </a:prstGeom>
          <a:solidFill>
            <a:srgbClr val="001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3337560" y="2880360"/>
            <a:ext cx="2697480" cy="54864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3017520"/>
            <a:ext cx="347472" cy="347472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3886200" y="2990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3F9E"/>
                </a:solidFill>
              </a:rPr>
              <a:t>Durée vie serveur</a:t>
            </a:r>
            <a:endParaRPr lang="en-US" sz="1400" dirty="0"/>
          </a:p>
        </p:txBody>
      </p:sp>
      <p:sp>
        <p:nvSpPr>
          <p:cNvPr id="53" name="Text 45"/>
          <p:cNvSpPr/>
          <p:nvPr/>
        </p:nvSpPr>
        <p:spPr>
          <a:xfrm>
            <a:off x="3447288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9CC"/>
                </a:solidFill>
              </a:rPr>
              <a:t>Moyenne durée de vie OVHcloud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3447288" y="3749040"/>
            <a:ext cx="1097280" cy="502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4088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3447288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9CC"/>
                </a:solidFill>
              </a:rPr>
              <a:t>Actuel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3447288" y="3959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4,5 ans (moy.)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4818888" y="3749040"/>
            <a:ext cx="1097280" cy="502920"/>
          </a:xfrm>
          <a:prstGeom prst="rect">
            <a:avLst/>
          </a:prstGeom>
          <a:solidFill>
            <a:srgbClr val="7B3F9E">
              <a:alpha val="25000"/>
            </a:srgbClr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4818888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Objectif</a:t>
            </a:r>
            <a:endParaRPr lang="en-US" sz="800" dirty="0"/>
          </a:p>
        </p:txBody>
      </p:sp>
      <p:sp>
        <p:nvSpPr>
          <p:cNvPr id="59" name="Text 51"/>
          <p:cNvSpPr/>
          <p:nvPr/>
        </p:nvSpPr>
        <p:spPr>
          <a:xfrm>
            <a:off x="4818888" y="3959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≥ 6 ans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6400800" y="2880360"/>
            <a:ext cx="2697480" cy="1554480"/>
          </a:xfrm>
          <a:prstGeom prst="rect">
            <a:avLst/>
          </a:prstGeom>
          <a:solidFill>
            <a:srgbClr val="001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1" name="Shape 53"/>
          <p:cNvSpPr/>
          <p:nvPr/>
        </p:nvSpPr>
        <p:spPr>
          <a:xfrm>
            <a:off x="6400800" y="2880360"/>
            <a:ext cx="2697480" cy="54864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pic>
        <p:nvPicPr>
          <p:cNvPr id="6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017520"/>
            <a:ext cx="347472" cy="347472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6949440" y="2990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389"/>
                </a:solidFill>
              </a:rPr>
              <a:t>Énergie renouvl.</a:t>
            </a:r>
            <a:endParaRPr lang="en-US" sz="1400" dirty="0"/>
          </a:p>
        </p:txBody>
      </p:sp>
      <p:sp>
        <p:nvSpPr>
          <p:cNvPr id="64" name="Text 55"/>
          <p:cNvSpPr/>
          <p:nvPr/>
        </p:nvSpPr>
        <p:spPr>
          <a:xfrm>
            <a:off x="6510528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9CC"/>
                </a:solidFill>
              </a:rPr>
              <a:t>Part d'ENR dans le mix (2023)</a:t>
            </a:r>
            <a:endParaRPr lang="en-US" sz="800" dirty="0"/>
          </a:p>
        </p:txBody>
      </p:sp>
      <p:sp>
        <p:nvSpPr>
          <p:cNvPr id="65" name="Shape 56"/>
          <p:cNvSpPr/>
          <p:nvPr/>
        </p:nvSpPr>
        <p:spPr>
          <a:xfrm>
            <a:off x="6510528" y="3749040"/>
            <a:ext cx="1097280" cy="502920"/>
          </a:xfrm>
          <a:prstGeom prst="rect">
            <a:avLst/>
          </a:prstGeom>
          <a:solidFill>
            <a:srgbClr val="002060"/>
          </a:solidFill>
          <a:ln w="12700">
            <a:solidFill>
              <a:srgbClr val="004088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6510528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9CC"/>
                </a:solidFill>
              </a:rPr>
              <a:t>Actuel</a:t>
            </a:r>
            <a:endParaRPr lang="en-US" sz="800" dirty="0"/>
          </a:p>
        </p:txBody>
      </p:sp>
      <p:sp>
        <p:nvSpPr>
          <p:cNvPr id="67" name="Text 58"/>
          <p:cNvSpPr/>
          <p:nvPr/>
        </p:nvSpPr>
        <p:spPr>
          <a:xfrm>
            <a:off x="6510528" y="3959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91%</a:t>
            </a:r>
            <a:endParaRPr lang="en-US" sz="900" dirty="0"/>
          </a:p>
        </p:txBody>
      </p:sp>
      <p:sp>
        <p:nvSpPr>
          <p:cNvPr id="68" name="Shape 59"/>
          <p:cNvSpPr/>
          <p:nvPr/>
        </p:nvSpPr>
        <p:spPr>
          <a:xfrm>
            <a:off x="7882128" y="3749040"/>
            <a:ext cx="1097280" cy="502920"/>
          </a:xfrm>
          <a:prstGeom prst="rect">
            <a:avLst/>
          </a:prstGeom>
          <a:solidFill>
            <a:srgbClr val="00C389">
              <a:alpha val="25000"/>
            </a:srgbClr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69" name="Text 60"/>
          <p:cNvSpPr/>
          <p:nvPr/>
        </p:nvSpPr>
        <p:spPr>
          <a:xfrm>
            <a:off x="7882128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Objectif</a:t>
            </a:r>
            <a:endParaRPr lang="en-US" sz="800" dirty="0"/>
          </a:p>
        </p:txBody>
      </p:sp>
      <p:sp>
        <p:nvSpPr>
          <p:cNvPr id="70" name="Text 61"/>
          <p:cNvSpPr/>
          <p:nvPr/>
        </p:nvSpPr>
        <p:spPr>
          <a:xfrm>
            <a:off x="7882128" y="39593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100%</a:t>
            </a:r>
            <a:endParaRPr lang="en-US" sz="900" dirty="0"/>
          </a:p>
        </p:txBody>
      </p:sp>
      <p:sp>
        <p:nvSpPr>
          <p:cNvPr id="71" name="Shape 6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1030"/>
          </a:solidFill>
          <a:ln w="12700">
            <a:solidFill>
              <a:srgbClr val="001030"/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66AA"/>
                </a:solidFill>
              </a:rPr>
              <a:t>Sources : OVHcloud Corporate 2024 · OVHcloud Blog fév. 2024 · Méthodologie calculatrice carbone nov. 2023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Gouvernance &amp; Pilotage du Plan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743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023360" y="1143000"/>
            <a:ext cx="1097280" cy="45720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2336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COMITÉ GREEN IT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0" y="1600200"/>
            <a:ext cx="0" cy="365760"/>
          </a:xfrm>
          <a:prstGeom prst="line">
            <a:avLst/>
          </a:prstGeom>
          <a:noFill/>
          <a:ln w="25400">
            <a:solidFill>
              <a:srgbClr val="00318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5880" y="1965960"/>
            <a:ext cx="0" cy="274320"/>
          </a:xfrm>
          <a:prstGeom prst="line">
            <a:avLst/>
          </a:prstGeom>
          <a:noFill/>
          <a:ln w="25400">
            <a:solidFill>
              <a:srgbClr val="0050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2240280"/>
            <a:ext cx="2011680" cy="21031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240280"/>
            <a:ext cx="2011680" cy="54864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377440"/>
            <a:ext cx="594360" cy="594360"/>
          </a:xfrm>
          <a:prstGeom prst="ellipse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189"/>
                </a:solidFill>
              </a:rPr>
              <a:t>Chef de projet Green IT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432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50D7"/>
                </a:solidFill>
              </a:rPr>
              <a:t>Prénom NOM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4320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Pilotage global · Reporting trimestriel · Arbitrages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502152" y="1965960"/>
            <a:ext cx="0" cy="274320"/>
          </a:xfrm>
          <a:prstGeom prst="line">
            <a:avLst/>
          </a:prstGeom>
          <a:noFill/>
          <a:ln w="25400">
            <a:solidFill>
              <a:srgbClr val="00C38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50592" y="2240280"/>
            <a:ext cx="2011680" cy="21031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50592" y="2240280"/>
            <a:ext cx="2011680" cy="54864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63824" y="2377440"/>
            <a:ext cx="594360" cy="594360"/>
          </a:xfrm>
          <a:prstGeom prst="ellipse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63824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450592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Référent Infrastructure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450592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389"/>
                </a:solidFill>
              </a:rPr>
              <a:t>Prénom NOM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450592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PUE/WUE · Watercooling · Datacenters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678424" y="1965960"/>
            <a:ext cx="0" cy="274320"/>
          </a:xfrm>
          <a:prstGeom prst="line">
            <a:avLst/>
          </a:prstGeom>
          <a:noFill/>
          <a:ln w="25400">
            <a:solidFill>
              <a:srgbClr val="7B3F9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26864" y="2240280"/>
            <a:ext cx="2011680" cy="21031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26864" y="2240280"/>
            <a:ext cx="2011680" cy="54864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40096" y="2377440"/>
            <a:ext cx="594360" cy="594360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40096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626864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Référent Achats IT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626864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3F9E"/>
                </a:solidFill>
              </a:rPr>
              <a:t>Prénom NOM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626864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Politique reconditionné · Supply chain · Fournisseurs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854696" y="1965960"/>
            <a:ext cx="0" cy="27432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803136" y="2240280"/>
            <a:ext cx="2011680" cy="210312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803136" y="2240280"/>
            <a:ext cx="2011680" cy="54864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16368" y="2377440"/>
            <a:ext cx="594360" cy="59436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16368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803136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Référent RSE &amp; Reporting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803136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7A00"/>
                </a:solidFill>
              </a:rPr>
              <a:t>Prénom NOM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803136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CSRD · Bilan carbone · Communication externe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274320" y="4389120"/>
            <a:ext cx="859536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5B9EF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4389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89"/>
                </a:solidFill>
              </a:rPr>
              <a:t>📅  Fréquence de suivi :  Mensuelle (KPI opérationnels)  ·  Trimestrielle (comité Green IT)  ·  Annuelle (rapport RSE / CSRD)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50D7">
              <a:alpha val="20000"/>
            </a:srgbClr>
          </a:solidFill>
          <a:ln w="12700">
            <a:solidFill>
              <a:srgbClr val="0050D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5B9EF7">
              <a:alpha val="12000"/>
            </a:srgbClr>
          </a:solidFill>
          <a:ln w="12700">
            <a:solidFill>
              <a:srgbClr val="5B9EF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Valeur Ajoutée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4114800" cy="36576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3840480" cy="1188720"/>
          </a:xfrm>
          <a:prstGeom prst="rect">
            <a:avLst/>
          </a:prstGeom>
          <a:solidFill>
            <a:srgbClr val="001838"/>
          </a:solidFill>
          <a:ln w="8890">
            <a:solidFill>
              <a:srgbClr val="0050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ROI Économique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FF"/>
                </a:solidFill>
              </a:rPr>
              <a:t>Réduction coûts énergétiques · Allongement durée de vie matériel · Évitement CAPEX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840480" cy="1188720"/>
          </a:xfrm>
          <a:prstGeom prst="rect">
            <a:avLst/>
          </a:prstGeom>
          <a:solidFill>
            <a:srgbClr val="001838"/>
          </a:solidFill>
          <a:ln w="8890">
            <a:solidFill>
              <a:srgbClr val="0050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🌱  ROI Environnemental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FF"/>
                </a:solidFill>
              </a:rPr>
              <a:t>-73,4% GES scopes 1&amp;2 d'ici 2030 · 100% ENR · WUE record industrie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3840480" cy="1188720"/>
          </a:xfrm>
          <a:prstGeom prst="rect">
            <a:avLst/>
          </a:prstGeom>
          <a:solidFill>
            <a:srgbClr val="001838"/>
          </a:solidFill>
          <a:ln w="8890">
            <a:solidFill>
              <a:srgbClr val="0050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 ROI Social &amp; Attractivité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600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FF"/>
                </a:solidFill>
              </a:rPr>
              <a:t>Employeur responsable · Confiance clients · Différenciation concurrentielle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468880"/>
            <a:ext cx="3840480" cy="1188720"/>
          </a:xfrm>
          <a:prstGeom prst="rect">
            <a:avLst/>
          </a:prstGeom>
          <a:solidFill>
            <a:srgbClr val="001838"/>
          </a:solidFill>
          <a:ln w="8890">
            <a:solidFill>
              <a:srgbClr val="0050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 Conformité &amp; Risques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FF"/>
                </a:solidFill>
              </a:rPr>
              <a:t>CSRD anticipée · SBTi aligné · Greenwashing évité par transparence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0050D7"/>
          </a:solidFill>
          <a:ln w="12700">
            <a:solidFill>
              <a:srgbClr val="0050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"Pionnier du cloud durable depuis 2003 – accélérer la sobriété numérique, c'est l'ADN d'OVHcloud"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1030"/>
          </a:solidFill>
          <a:ln w="12700">
            <a:solidFill>
              <a:srgbClr val="001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66AA"/>
                </a:solidFill>
              </a:rPr>
              <a:t>OVHcloud – Plan de Sobriété Numérique 2025-2027  ·  Sources : OVHcloud Corporate &amp; Blog · SBTi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898687CDFD71489FE41F23CBB2D498" ma:contentTypeVersion="10" ma:contentTypeDescription="Crée un document." ma:contentTypeScope="" ma:versionID="11d0eb1f314104d4ced24556b6d4ac64">
  <xsd:schema xmlns:xsd="http://www.w3.org/2001/XMLSchema" xmlns:xs="http://www.w3.org/2001/XMLSchema" xmlns:p="http://schemas.microsoft.com/office/2006/metadata/properties" xmlns:ns2="e1ba188e-b0e5-44c1-9554-a16dba1bb17f" xmlns:ns3="e1b118b4-d9d6-4c76-978c-617ab2cbb075" targetNamespace="http://schemas.microsoft.com/office/2006/metadata/properties" ma:root="true" ma:fieldsID="d57453f46f2299a81bdb9a3d3ef77328" ns2:_="" ns3:_="">
    <xsd:import namespace="e1ba188e-b0e5-44c1-9554-a16dba1bb17f"/>
    <xsd:import namespace="e1b118b4-d9d6-4c76-978c-617ab2cbb0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a188e-b0e5-44c1-9554-a16dba1bb1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f809d85-0f24-42ce-a366-0efc0a589b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118b4-d9d6-4c76-978c-617ab2cbb0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960f8bf-9a53-4402-aad3-d4d1bbd5128f}" ma:internalName="TaxCatchAll" ma:showField="CatchAllData" ma:web="e1b118b4-d9d6-4c76-978c-617ab2cbb0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ba188e-b0e5-44c1-9554-a16dba1bb17f">
      <Terms xmlns="http://schemas.microsoft.com/office/infopath/2007/PartnerControls"/>
    </lcf76f155ced4ddcb4097134ff3c332f>
    <TaxCatchAll xmlns="e1b118b4-d9d6-4c76-978c-617ab2cbb075" xsi:nil="true"/>
  </documentManagement>
</p:properties>
</file>

<file path=customXml/itemProps1.xml><?xml version="1.0" encoding="utf-8"?>
<ds:datastoreItem xmlns:ds="http://schemas.openxmlformats.org/officeDocument/2006/customXml" ds:itemID="{77F3EEB2-57EB-4DD0-88A6-676D85160196}"/>
</file>

<file path=customXml/itemProps2.xml><?xml version="1.0" encoding="utf-8"?>
<ds:datastoreItem xmlns:ds="http://schemas.openxmlformats.org/officeDocument/2006/customXml" ds:itemID="{98F1A272-6CE7-4797-ABCD-A5455CCD2EA1}"/>
</file>

<file path=customXml/itemProps3.xml><?xml version="1.0" encoding="utf-8"?>
<ds:datastoreItem xmlns:ds="http://schemas.openxmlformats.org/officeDocument/2006/customXml" ds:itemID="{AEF44AEB-64CD-41FD-8270-945A09F99D3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Sobriété Numérique – OVHcloud</dc:title>
  <dc:subject>PptxGenJS Presentation</dc:subject>
  <dc:creator>PptxGenJS</dc:creator>
  <cp:lastModifiedBy>PptxGenJS</cp:lastModifiedBy>
  <cp:revision>1</cp:revision>
  <dcterms:created xsi:type="dcterms:W3CDTF">2026-03-16T19:01:20Z</dcterms:created>
  <dcterms:modified xsi:type="dcterms:W3CDTF">2026-03-16T19:01:20Z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0x01010041898687CDFD71489FE41F23CBB2D498</vt:lpwstr>
  </property>
</Properties>
</file>