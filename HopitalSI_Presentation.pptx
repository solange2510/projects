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9" r:id="rId13"/>
    <p:sldId id="264" r:id="rId14"/>
    <p:sldId id="270" r:id="rId15"/>
    <p:sldId id="265" r:id="rId16"/>
    <p:sldId id="266" r:id="rId17"/>
    <p:sldId id="267" r:id="rId18"/>
    <p:sldId id="268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37B8F2-F9D5-44C7-8CC2-FF777770C5BF}" v="371" dt="2026-06-25T12:21:16.2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4" autoAdjust="0"/>
  </p:normalViewPr>
  <p:slideViewPr>
    <p:cSldViewPr snapToGrid="0" snapToObjects="1">
      <p:cViewPr varScale="1">
        <p:scale>
          <a:sx n="140" d="100"/>
          <a:sy n="140" d="100"/>
        </p:scale>
        <p:origin x="7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-Marc AWAD" userId="S::jean-marc.awad@efrei.net::158af6dd-6d2c-4c68-8b39-136a4cc970fa" providerId="AD" clId="Web-{F822FCEB-4257-120A-B4B1-9421597A26E8}"/>
    <pc:docChg chg="mod">
      <pc:chgData name="Jean-Marc AWAD" userId="S::jean-marc.awad@efrei.net::158af6dd-6d2c-4c68-8b39-136a4cc970fa" providerId="AD" clId="Web-{F822FCEB-4257-120A-B4B1-9421597A26E8}" dt="2026-06-25T12:00:34.226" v="0" actId="33475"/>
      <pc:docMkLst>
        <pc:docMk/>
      </pc:docMkLst>
    </pc:docChg>
  </pc:docChgLst>
  <pc:docChgLst>
    <pc:chgData name="Ludivine PERRIER-BABIN" userId="cf8bfd84-3245-446d-a685-f69e9946e565" providerId="ADAL" clId="{3D8453E6-5DDB-4535-92E2-459A1B00C15A}"/>
    <pc:docChg chg="undo custSel addSld modSld">
      <pc:chgData name="Ludivine PERRIER-BABIN" userId="cf8bfd84-3245-446d-a685-f69e9946e565" providerId="ADAL" clId="{3D8453E6-5DDB-4535-92E2-459A1B00C15A}" dt="2026-06-25T12:26:15.450" v="487" actId="20577"/>
      <pc:docMkLst>
        <pc:docMk/>
      </pc:docMkLst>
      <pc:sldChg chg="modSp mod modNotesTx">
        <pc:chgData name="Ludivine PERRIER-BABIN" userId="cf8bfd84-3245-446d-a685-f69e9946e565" providerId="ADAL" clId="{3D8453E6-5DDB-4535-92E2-459A1B00C15A}" dt="2026-06-25T12:19:54.592" v="382" actId="20577"/>
        <pc:sldMkLst>
          <pc:docMk/>
          <pc:sldMk cId="0" sldId="256"/>
        </pc:sldMkLst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6"/>
            <ac:spMk id="2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6"/>
            <ac:spMk id="4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6"/>
            <ac:spMk id="5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6"/>
            <ac:spMk id="6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6"/>
            <ac:spMk id="7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6"/>
            <ac:spMk id="8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6"/>
            <ac:spMk id="9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6"/>
            <ac:spMk id="11" creationId="{00000000-0000-0000-0000-000000000000}"/>
          </ac:spMkLst>
        </pc:spChg>
      </pc:sldChg>
      <pc:sldChg chg="modSp mod modNotesTx">
        <pc:chgData name="Ludivine PERRIER-BABIN" userId="cf8bfd84-3245-446d-a685-f69e9946e565" providerId="ADAL" clId="{3D8453E6-5DDB-4535-92E2-459A1B00C15A}" dt="2026-06-25T12:20:03.270" v="389" actId="20577"/>
        <pc:sldMkLst>
          <pc:docMk/>
          <pc:sldMk cId="0" sldId="257"/>
        </pc:sldMkLst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7"/>
            <ac:spMk id="2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7"/>
            <ac:spMk id="3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7"/>
            <ac:spMk id="7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7"/>
            <ac:spMk id="22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7"/>
            <ac:spMk id="23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7"/>
            <ac:spMk id="26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09:54:36.910" v="39" actId="20577"/>
          <ac:spMkLst>
            <pc:docMk/>
            <pc:sldMk cId="0" sldId="257"/>
            <ac:spMk id="27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7"/>
            <ac:spMk id="28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7"/>
            <ac:spMk id="31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7"/>
            <ac:spMk id="32" creationId="{00000000-0000-0000-0000-000000000000}"/>
          </ac:spMkLst>
        </pc:spChg>
      </pc:sldChg>
      <pc:sldChg chg="modSp mod modNotesTx">
        <pc:chgData name="Ludivine PERRIER-BABIN" userId="cf8bfd84-3245-446d-a685-f69e9946e565" providerId="ADAL" clId="{3D8453E6-5DDB-4535-92E2-459A1B00C15A}" dt="2026-06-25T12:21:07.805" v="400" actId="20577"/>
        <pc:sldMkLst>
          <pc:docMk/>
          <pc:sldMk cId="0" sldId="258"/>
        </pc:sldMkLst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8"/>
            <ac:spMk id="8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8"/>
            <ac:spMk id="14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8"/>
            <ac:spMk id="16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8"/>
            <ac:spMk id="17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8"/>
            <ac:spMk id="20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8"/>
            <ac:spMk id="21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8"/>
            <ac:spMk id="22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8"/>
            <ac:spMk id="23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8"/>
            <ac:spMk id="24" creationId="{00000000-0000-0000-0000-000000000000}"/>
          </ac:spMkLst>
        </pc:spChg>
      </pc:sldChg>
      <pc:sldChg chg="modSp mod modNotesTx">
        <pc:chgData name="Ludivine PERRIER-BABIN" userId="cf8bfd84-3245-446d-a685-f69e9946e565" providerId="ADAL" clId="{3D8453E6-5DDB-4535-92E2-459A1B00C15A}" dt="2026-06-25T12:21:12.374" v="402" actId="20577"/>
        <pc:sldMkLst>
          <pc:docMk/>
          <pc:sldMk cId="0" sldId="259"/>
        </pc:sldMkLst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9"/>
            <ac:spMk id="2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59"/>
            <ac:spMk id="3" creationId="{00000000-0000-0000-0000-000000000000}"/>
          </ac:spMkLst>
        </pc:spChg>
      </pc:sldChg>
      <pc:sldChg chg="modSp mod modNotesTx">
        <pc:chgData name="Ludivine PERRIER-BABIN" userId="cf8bfd84-3245-446d-a685-f69e9946e565" providerId="ADAL" clId="{3D8453E6-5DDB-4535-92E2-459A1B00C15A}" dt="2026-06-25T12:21:15.620" v="404" actId="20577"/>
        <pc:sldMkLst>
          <pc:docMk/>
          <pc:sldMk cId="0" sldId="260"/>
        </pc:sldMkLst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0"/>
            <ac:spMk id="2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0"/>
            <ac:spMk id="3" creationId="{00000000-0000-0000-0000-000000000000}"/>
          </ac:spMkLst>
        </pc:spChg>
      </pc:sldChg>
      <pc:sldChg chg="modSp mod modNotesTx">
        <pc:chgData name="Ludivine PERRIER-BABIN" userId="cf8bfd84-3245-446d-a685-f69e9946e565" providerId="ADAL" clId="{3D8453E6-5DDB-4535-92E2-459A1B00C15A}" dt="2026-06-25T12:25:49.134" v="459" actId="20577"/>
        <pc:sldMkLst>
          <pc:docMk/>
          <pc:sldMk cId="0" sldId="261"/>
        </pc:sldMkLst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1"/>
            <ac:spMk id="3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1"/>
            <ac:spMk id="6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1"/>
            <ac:spMk id="9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1"/>
            <ac:spMk id="12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09:14:36.930" v="6" actId="2057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1"/>
            <ac:spMk id="17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1"/>
            <ac:spMk id="20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1"/>
            <ac:spMk id="24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1"/>
            <ac:spMk id="25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1"/>
            <ac:spMk id="27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1"/>
            <ac:spMk id="30" creationId="{00000000-0000-0000-0000-000000000000}"/>
          </ac:spMkLst>
        </pc:spChg>
      </pc:sldChg>
      <pc:sldChg chg="modSp mod modNotesTx">
        <pc:chgData name="Ludivine PERRIER-BABIN" userId="cf8bfd84-3245-446d-a685-f69e9946e565" providerId="ADAL" clId="{3D8453E6-5DDB-4535-92E2-459A1B00C15A}" dt="2026-06-25T12:25:56.468" v="467" actId="20577"/>
        <pc:sldMkLst>
          <pc:docMk/>
          <pc:sldMk cId="0" sldId="262"/>
        </pc:sldMkLst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2"/>
            <ac:spMk id="3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2"/>
            <ac:spMk id="4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2"/>
            <ac:spMk id="6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2"/>
            <ac:spMk id="8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2"/>
            <ac:spMk id="10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2"/>
            <ac:spMk id="14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2"/>
            <ac:spMk id="15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2"/>
            <ac:spMk id="16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2"/>
            <ac:spMk id="18" creationId="{00000000-0000-0000-0000-000000000000}"/>
          </ac:spMkLst>
        </pc:spChg>
      </pc:sldChg>
      <pc:sldChg chg="modSp mod modNotesTx">
        <pc:chgData name="Ludivine PERRIER-BABIN" userId="cf8bfd84-3245-446d-a685-f69e9946e565" providerId="ADAL" clId="{3D8453E6-5DDB-4535-92E2-459A1B00C15A}" dt="2026-06-25T12:26:15.450" v="487" actId="20577"/>
        <pc:sldMkLst>
          <pc:docMk/>
          <pc:sldMk cId="0" sldId="263"/>
        </pc:sldMkLst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3"/>
            <ac:spMk id="2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3"/>
            <ac:spMk id="3" creationId="{00000000-0000-0000-0000-000000000000}"/>
          </ac:spMkLst>
        </pc:spChg>
      </pc:sldChg>
      <pc:sldChg chg="modSp mod modNotesTx">
        <pc:chgData name="Ludivine PERRIER-BABIN" userId="cf8bfd84-3245-446d-a685-f69e9946e565" providerId="ADAL" clId="{3D8453E6-5DDB-4535-92E2-459A1B00C15A}" dt="2026-06-25T12:22:16.941" v="414" actId="20577"/>
        <pc:sldMkLst>
          <pc:docMk/>
          <pc:sldMk cId="0" sldId="264"/>
        </pc:sldMkLst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4"/>
            <ac:spMk id="2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4"/>
            <ac:spMk id="3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4"/>
            <ac:spMk id="4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4"/>
            <ac:spMk id="8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4"/>
            <ac:spMk id="9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4"/>
            <ac:spMk id="10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4"/>
            <ac:spMk id="11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4"/>
            <ac:spMk id="16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4"/>
            <ac:spMk id="17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4"/>
            <ac:spMk id="18" creationId="{00000000-0000-0000-0000-000000000000}"/>
          </ac:spMkLst>
        </pc:spChg>
      </pc:sldChg>
      <pc:sldChg chg="modSp mod modNotesTx">
        <pc:chgData name="Ludivine PERRIER-BABIN" userId="cf8bfd84-3245-446d-a685-f69e9946e565" providerId="ADAL" clId="{3D8453E6-5DDB-4535-92E2-459A1B00C15A}" dt="2026-06-25T12:22:25.555" v="430" actId="20577"/>
        <pc:sldMkLst>
          <pc:docMk/>
          <pc:sldMk cId="0" sldId="265"/>
        </pc:sldMkLst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5"/>
            <ac:spMk id="3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5"/>
            <ac:spMk id="4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5"/>
            <ac:spMk id="7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5"/>
            <ac:spMk id="8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5"/>
            <ac:spMk id="10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5"/>
            <ac:spMk id="12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5"/>
            <ac:spMk id="18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5"/>
            <ac:spMk id="19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5"/>
            <ac:spMk id="20" creationId="{00000000-0000-0000-0000-000000000000}"/>
          </ac:spMkLst>
        </pc:spChg>
      </pc:sldChg>
      <pc:sldChg chg="delSp modSp mod modNotesTx">
        <pc:chgData name="Ludivine PERRIER-BABIN" userId="cf8bfd84-3245-446d-a685-f69e9946e565" providerId="ADAL" clId="{3D8453E6-5DDB-4535-92E2-459A1B00C15A}" dt="2026-06-25T12:22:31.200" v="441" actId="20577"/>
        <pc:sldMkLst>
          <pc:docMk/>
          <pc:sldMk cId="0" sldId="266"/>
        </pc:sldMkLst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6"/>
            <ac:spMk id="2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6"/>
            <ac:spMk id="3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6"/>
            <ac:spMk id="6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6"/>
            <ac:spMk id="10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6"/>
            <ac:spMk id="16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6"/>
            <ac:spMk id="17" creationId="{00000000-0000-0000-0000-000000000000}"/>
          </ac:spMkLst>
        </pc:spChg>
        <pc:spChg chg="del mod">
          <ac:chgData name="Ludivine PERRIER-BABIN" userId="cf8bfd84-3245-446d-a685-f69e9946e565" providerId="ADAL" clId="{3D8453E6-5DDB-4535-92E2-459A1B00C15A}" dt="2026-06-25T12:06:09.158" v="356" actId="478"/>
          <ac:spMkLst>
            <pc:docMk/>
            <pc:sldMk cId="0" sldId="266"/>
            <ac:spMk id="18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2:06:15.779" v="375" actId="103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2:06:15.779" v="375" actId="103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2:06:15.779" v="375" actId="103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6"/>
            <ac:spMk id="23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6"/>
            <ac:spMk id="24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6"/>
            <ac:spMk id="26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6"/>
            <ac:spMk id="27" creationId="{00000000-0000-0000-0000-000000000000}"/>
          </ac:spMkLst>
        </pc:spChg>
      </pc:sldChg>
      <pc:sldChg chg="modSp mod modNotesTx">
        <pc:chgData name="Ludivine PERRIER-BABIN" userId="cf8bfd84-3245-446d-a685-f69e9946e565" providerId="ADAL" clId="{3D8453E6-5DDB-4535-92E2-459A1B00C15A}" dt="2026-06-25T12:22:35.300" v="451" actId="20577"/>
        <pc:sldMkLst>
          <pc:docMk/>
          <pc:sldMk cId="0" sldId="267"/>
        </pc:sldMkLst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7"/>
            <ac:spMk id="2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7"/>
            <ac:spMk id="4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7"/>
            <ac:spMk id="8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7"/>
            <ac:spMk id="9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7"/>
            <ac:spMk id="11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7"/>
            <ac:spMk id="12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7"/>
            <ac:spMk id="14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7"/>
            <ac:spMk id="15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7"/>
            <ac:spMk id="18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7"/>
            <ac:spMk id="20" creationId="{00000000-0000-0000-0000-000000000000}"/>
          </ac:spMkLst>
        </pc:spChg>
      </pc:sldChg>
      <pc:sldChg chg="modSp mod">
        <pc:chgData name="Ludivine PERRIER-BABIN" userId="cf8bfd84-3245-446d-a685-f69e9946e565" providerId="ADAL" clId="{3D8453E6-5DDB-4535-92E2-459A1B00C15A}" dt="2026-06-25T10:26:58.495" v="336" actId="790"/>
        <pc:sldMkLst>
          <pc:docMk/>
          <pc:sldMk cId="0" sldId="268"/>
        </pc:sldMkLst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8"/>
            <ac:spMk id="2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8"/>
            <ac:spMk id="4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8"/>
            <ac:spMk id="5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8"/>
            <ac:spMk id="6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8"/>
            <ac:spMk id="7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68"/>
            <ac:spMk id="8" creationId="{00000000-0000-0000-0000-000000000000}"/>
          </ac:spMkLst>
        </pc:spChg>
      </pc:sldChg>
      <pc:sldChg chg="modSp mod modNotesTx">
        <pc:chgData name="Ludivine PERRIER-BABIN" userId="cf8bfd84-3245-446d-a685-f69e9946e565" providerId="ADAL" clId="{3D8453E6-5DDB-4535-92E2-459A1B00C15A}" dt="2026-06-25T12:26:07.553" v="476" actId="20577"/>
        <pc:sldMkLst>
          <pc:docMk/>
          <pc:sldMk cId="2097765449" sldId="269"/>
        </pc:sldMkLst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2097765449" sldId="269"/>
            <ac:spMk id="2" creationId="{C1830F40-BB13-0FC9-0932-75BC04FB6A8C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2097765449" sldId="269"/>
            <ac:spMk id="3" creationId="{F34DD852-17B6-888A-9D00-250EC1616A8E}"/>
          </ac:spMkLst>
        </pc:spChg>
      </pc:sldChg>
      <pc:sldChg chg="addSp delSp modSp add mod setBg modNotesTx">
        <pc:chgData name="Ludivine PERRIER-BABIN" userId="cf8bfd84-3245-446d-a685-f69e9946e565" providerId="ADAL" clId="{3D8453E6-5DDB-4535-92E2-459A1B00C15A}" dt="2026-06-25T12:22:20.637" v="422" actId="20577"/>
        <pc:sldMkLst>
          <pc:docMk/>
          <pc:sldMk cId="0" sldId="270"/>
        </pc:sldMkLst>
        <pc:spChg chg="del mod">
          <ac:chgData name="Ludivine PERRIER-BABIN" userId="cf8bfd84-3245-446d-a685-f69e9946e565" providerId="ADAL" clId="{3D8453E6-5DDB-4535-92E2-459A1B00C15A}" dt="2026-06-25T09:55:15.774" v="43" actId="478"/>
          <ac:spMkLst>
            <pc:docMk/>
            <pc:sldMk cId="0" sldId="270"/>
            <ac:spMk id="4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70"/>
            <ac:spMk id="7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7:54.646" v="351" actId="20577"/>
          <ac:spMkLst>
            <pc:docMk/>
            <pc:sldMk cId="0" sldId="270"/>
            <ac:spMk id="8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70"/>
            <ac:spMk id="13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70"/>
            <ac:spMk id="14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09:56:23.684" v="108" actId="20577"/>
          <ac:spMkLst>
            <pc:docMk/>
            <pc:sldMk cId="0" sldId="270"/>
            <ac:spMk id="15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7:18.629" v="347" actId="20577"/>
          <ac:spMkLst>
            <pc:docMk/>
            <pc:sldMk cId="0" sldId="270"/>
            <ac:spMk id="16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70"/>
            <ac:spMk id="18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70"/>
            <ac:spMk id="21" creationId="{00000000-0000-0000-0000-000000000000}"/>
          </ac:spMkLst>
        </pc:spChg>
        <pc:spChg chg="del">
          <ac:chgData name="Ludivine PERRIER-BABIN" userId="cf8bfd84-3245-446d-a685-f69e9946e565" providerId="ADAL" clId="{3D8453E6-5DDB-4535-92E2-459A1B00C15A}" dt="2026-06-25T10:27:42.670" v="348" actId="478"/>
          <ac:spMkLst>
            <pc:docMk/>
            <pc:sldMk cId="0" sldId="270"/>
            <ac:spMk id="24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70"/>
            <ac:spMk id="27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7:03.035" v="338" actId="20577"/>
          <ac:spMkLst>
            <pc:docMk/>
            <pc:sldMk cId="0" sldId="270"/>
            <ac:spMk id="28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00:38.656" v="284" actId="790"/>
          <ac:spMkLst>
            <pc:docMk/>
            <pc:sldMk cId="0" sldId="270"/>
            <ac:spMk id="29" creationId="{00000000-0000-0000-0000-000000000000}"/>
          </ac:spMkLst>
        </pc:spChg>
        <pc:spChg chg="del">
          <ac:chgData name="Ludivine PERRIER-BABIN" userId="cf8bfd84-3245-446d-a685-f69e9946e565" providerId="ADAL" clId="{3D8453E6-5DDB-4535-92E2-459A1B00C15A}" dt="2026-06-25T09:56:36.775" v="109" actId="478"/>
          <ac:spMkLst>
            <pc:docMk/>
            <pc:sldMk cId="0" sldId="270"/>
            <ac:spMk id="30" creationId="{00000000-0000-0000-0000-000000000000}"/>
          </ac:spMkLst>
        </pc:spChg>
        <pc:spChg chg="del">
          <ac:chgData name="Ludivine PERRIER-BABIN" userId="cf8bfd84-3245-446d-a685-f69e9946e565" providerId="ADAL" clId="{3D8453E6-5DDB-4535-92E2-459A1B00C15A}" dt="2026-06-25T09:58:20.332" v="153" actId="478"/>
          <ac:spMkLst>
            <pc:docMk/>
            <pc:sldMk cId="0" sldId="270"/>
            <ac:spMk id="31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70"/>
            <ac:spMk id="34" creationId="{00000000-0000-0000-0000-000000000000}"/>
          </ac:spMkLst>
        </pc:spChg>
        <pc:spChg chg="del">
          <ac:chgData name="Ludivine PERRIER-BABIN" userId="cf8bfd84-3245-446d-a685-f69e9946e565" providerId="ADAL" clId="{3D8453E6-5DDB-4535-92E2-459A1B00C15A}" dt="2026-06-25T10:02:19.979" v="285" actId="478"/>
          <ac:spMkLst>
            <pc:docMk/>
            <pc:sldMk cId="0" sldId="270"/>
            <ac:spMk id="36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70"/>
            <ac:spMk id="37" creationId="{00000000-0000-0000-0000-000000000000}"/>
          </ac:spMkLst>
        </pc:spChg>
        <pc:spChg chg="mod">
          <ac:chgData name="Ludivine PERRIER-BABIN" userId="cf8bfd84-3245-446d-a685-f69e9946e565" providerId="ADAL" clId="{3D8453E6-5DDB-4535-92E2-459A1B00C15A}" dt="2026-06-25T10:02:39.743" v="308" actId="1035"/>
          <ac:spMkLst>
            <pc:docMk/>
            <pc:sldMk cId="0" sldId="270"/>
            <ac:spMk id="38" creationId="{00000000-0000-0000-0000-000000000000}"/>
          </ac:spMkLst>
        </pc:spChg>
        <pc:spChg chg="add mod">
          <ac:chgData name="Ludivine PERRIER-BABIN" userId="cf8bfd84-3245-446d-a685-f69e9946e565" providerId="ADAL" clId="{3D8453E6-5DDB-4535-92E2-459A1B00C15A}" dt="2026-06-25T09:55:35.952" v="76" actId="20577"/>
          <ac:spMkLst>
            <pc:docMk/>
            <pc:sldMk cId="0" sldId="270"/>
            <ac:spMk id="39" creationId="{3FB83C6F-74CA-2893-9610-2B0DAEAA14E9}"/>
          </ac:spMkLst>
        </pc:spChg>
        <pc:spChg chg="add 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70"/>
            <ac:spMk id="40" creationId="{53987C1A-EFAE-FD55-CA06-FED3BC965867}"/>
          </ac:spMkLst>
        </pc:spChg>
        <pc:spChg chg="add mod">
          <ac:chgData name="Ludivine PERRIER-BABIN" userId="cf8bfd84-3245-446d-a685-f69e9946e565" providerId="ADAL" clId="{3D8453E6-5DDB-4535-92E2-459A1B00C15A}" dt="2026-06-25T10:26:58.495" v="336" actId="790"/>
          <ac:spMkLst>
            <pc:docMk/>
            <pc:sldMk cId="0" sldId="270"/>
            <ac:spMk id="41" creationId="{39593B4D-B2A7-01F7-CB41-129DDA8BAE31}"/>
          </ac:spMkLst>
        </pc:spChg>
        <pc:picChg chg="del">
          <ac:chgData name="Ludivine PERRIER-BABIN" userId="cf8bfd84-3245-446d-a685-f69e9946e565" providerId="ADAL" clId="{3D8453E6-5DDB-4535-92E2-459A1B00C15A}" dt="2026-06-25T09:54:45.302" v="40" actId="478"/>
          <ac:picMkLst>
            <pc:docMk/>
            <pc:sldMk cId="0" sldId="270"/>
            <ac:picMk id="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911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Yrina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Présentation</a:t>
            </a:r>
            <a:r>
              <a:rPr lang="en-US" dirty="0"/>
              <a:t> de l'équipe et du contexte. Souligner que l'hôpital est OIV donc soumis à des exigences ANSSI strictes. 15 minutes de présentation, ensuite démo.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Yrina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Présenter</a:t>
            </a:r>
            <a:r>
              <a:rPr lang="en-US" dirty="0"/>
              <a:t> rapidement le plan — 6 grandes parties pour 15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Jean-marc</a:t>
            </a:r>
          </a:p>
          <a:p>
            <a:endParaRPr lang="en-US" dirty="0"/>
          </a:p>
          <a:p>
            <a:r>
              <a:rPr lang="en-US" dirty="0"/>
              <a:t>Insister sur l'architecture à plat : un seul poste compromis peut tout infecter. Ransomware = arrêt des soins.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Jean-marc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Présenter</a:t>
            </a:r>
            <a:r>
              <a:rPr lang="en-US" dirty="0"/>
              <a:t> le schéma AVANT : réseau plat, tout est interconnecté, un attaquant peut tout atteindre.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Jean-marc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Présenter</a:t>
            </a:r>
            <a:r>
              <a:rPr lang="en-US" dirty="0"/>
              <a:t> l'architecture cible : 4 zones (ADMIN, MEDICAL, SUPERVISION, BACKUP), pfSense au centre. Zero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Ulrich</a:t>
            </a:r>
          </a:p>
          <a:p>
            <a:endParaRPr lang="en-US" dirty="0"/>
          </a:p>
          <a:p>
            <a:r>
              <a:rPr lang="en-US" dirty="0" err="1"/>
              <a:t>Présenter</a:t>
            </a:r>
            <a:r>
              <a:rPr lang="en-US" dirty="0"/>
              <a:t> les 6 VMs. Souligner que pfSense est le cœur du dispositif. Le SIEM est isolé en zone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Ulrich</a:t>
            </a:r>
          </a:p>
          <a:p>
            <a:endParaRPr lang="en-US" dirty="0"/>
          </a:p>
          <a:p>
            <a:r>
              <a:rPr lang="en-US" dirty="0" err="1"/>
              <a:t>Expliquer</a:t>
            </a:r>
            <a:r>
              <a:rPr lang="en-US" dirty="0"/>
              <a:t> les 4 piliers. Zero Trust = même réseau interne non fiable. Tiers AD = comptes séparés admin/utilisateur.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Louis</a:t>
            </a:r>
          </a:p>
          <a:p>
            <a:endParaRPr lang="en-US" dirty="0"/>
          </a:p>
          <a:p>
            <a:r>
              <a:rPr lang="en-US" dirty="0"/>
              <a:t>Pointer la règle clé : MEDICAL → BACKUP bloqué. Les sauvegardes sont INITIÉES depuis le serveur backup. Principe deny by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B4FEC-FB8B-F88C-4DFE-52463CDC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4C7744-AA54-D3D0-2273-6155CFAD6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DFC0F-CF26-EFF0-D81A-0CEC23942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Louis</a:t>
            </a:r>
          </a:p>
          <a:p>
            <a:endParaRPr lang="en-US" dirty="0"/>
          </a:p>
          <a:p>
            <a:r>
              <a:rPr lang="en-US" dirty="0"/>
              <a:t>Pointer la règle clé : MEDICAL → BACKUP bloqué. Les sauvegardes sont INITIÉES depuis le serveur backup. Principe deny by default.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C3DEC-378E-4AAB-20B3-69521BB337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8065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Ludivine</a:t>
            </a:r>
          </a:p>
          <a:p>
            <a:endParaRPr lang="en-US" dirty="0"/>
          </a:p>
          <a:p>
            <a:r>
              <a:rPr lang="en-US" dirty="0"/>
              <a:t>Insister sur la complémentarité Wazuh (sécurité) + Zabbix (opérationnel) + Suricata (réseau). Le SIEM est isolé en zone 20 pour ne pas être compromis.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Ludivine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Louis </a:t>
            </a:r>
          </a:p>
          <a:p>
            <a:endParaRPr lang="en-US" dirty="0"/>
          </a:p>
          <a:p>
            <a:r>
              <a:rPr lang="en-US" dirty="0"/>
              <a:t>Le backup est initié DEPUIS la zone backup (pas depuis MEDICAL). En cas de ransomware, la zone backup est imperméable.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Solange </a:t>
            </a:r>
          </a:p>
          <a:p>
            <a:endParaRPr lang="en-US" dirty="0"/>
          </a:p>
          <a:p>
            <a:r>
              <a:rPr lang="en-US" dirty="0"/>
              <a:t>Insister sur NIS2 qui s'applique directement — notification obligatoire à l'ANSSI. RGPD : le DPO est obligatoire pour les hôpitaux.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Solange </a:t>
            </a:r>
          </a:p>
          <a:p>
            <a:endParaRPr lang="en-US" dirty="0"/>
          </a:p>
          <a:p>
            <a:r>
              <a:rPr lang="en-US" dirty="0" err="1"/>
              <a:t>Conclure</a:t>
            </a:r>
            <a:r>
              <a:rPr lang="en-US" dirty="0"/>
              <a:t> sur l'atteinte des objectifs. Rappeler les travaux restants : finalisation GPO, tests PRA complets, filtrage inter-zones.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Passer en mode démo. Montrer pfSense (règles), puis Wazuh (dashboard alertes), puis AD (utilisateurs), puis Restic (sauvegarde).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0D7B8A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00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320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SÉCURISATION D'UN SYSTÈME D'INFORMATION HOSPITALIER</a:t>
            </a:r>
            <a:endParaRPr lang="fr-FR" sz="2200" noProof="0" dirty="0"/>
          </a:p>
        </p:txBody>
      </p:sp>
      <p:sp>
        <p:nvSpPr>
          <p:cNvPr id="5" name="Text 2"/>
          <p:cNvSpPr/>
          <p:nvPr/>
        </p:nvSpPr>
        <p:spPr>
          <a:xfrm>
            <a:off x="1920240" y="1188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M1 CSM — 2025/2026  |  EFREI Paris</a:t>
            </a:r>
            <a:endParaRPr lang="fr-FR" sz="1300" noProof="0" dirty="0"/>
          </a:p>
        </p:txBody>
      </p:sp>
      <p:sp>
        <p:nvSpPr>
          <p:cNvPr id="6" name="Shape 3"/>
          <p:cNvSpPr/>
          <p:nvPr/>
        </p:nvSpPr>
        <p:spPr>
          <a:xfrm>
            <a:off x="365760" y="2286000"/>
            <a:ext cx="4023360" cy="2514600"/>
          </a:xfrm>
          <a:prstGeom prst="roundRect">
            <a:avLst>
              <a:gd name="adj" fmla="val 4364"/>
            </a:avLst>
          </a:prstGeom>
          <a:solidFill>
            <a:srgbClr val="172344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4"/>
          <p:cNvSpPr/>
          <p:nvPr/>
        </p:nvSpPr>
        <p:spPr>
          <a:xfrm>
            <a:off x="502920" y="23957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projet</a:t>
            </a:r>
            <a:endParaRPr lang="fr-FR" sz="1100" noProof="0" dirty="0"/>
          </a:p>
        </p:txBody>
      </p:sp>
      <p:sp>
        <p:nvSpPr>
          <p:cNvPr id="8" name="Text 5"/>
          <p:cNvSpPr/>
          <p:nvPr/>
        </p:nvSpPr>
        <p:spPr>
          <a:xfrm>
            <a:off x="502920" y="27889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noProof="0" dirty="0" err="1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Yrina</a:t>
            </a:r>
            <a:r>
              <a:rPr lang="fr-FR" sz="12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KAMWA TENTCHEU</a:t>
            </a:r>
            <a:endParaRPr lang="fr-FR" sz="1200" noProof="0" dirty="0"/>
          </a:p>
          <a:p>
            <a:pPr marL="0" indent="0">
              <a:buNone/>
            </a:pPr>
            <a:r>
              <a:rPr lang="fr-FR" sz="12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 AUBERT</a:t>
            </a:r>
            <a:endParaRPr lang="fr-FR" sz="1200" noProof="0" dirty="0"/>
          </a:p>
          <a:p>
            <a:pPr marL="0" indent="0">
              <a:buNone/>
            </a:pPr>
            <a:r>
              <a:rPr lang="fr-FR" sz="12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Jean-Marc AWAD</a:t>
            </a:r>
            <a:endParaRPr lang="fr-FR" sz="1200" noProof="0" dirty="0"/>
          </a:p>
          <a:p>
            <a:pPr marL="0" indent="0">
              <a:buNone/>
            </a:pPr>
            <a:r>
              <a:rPr lang="fr-FR" sz="12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Ludivine PERRIER-BABIN</a:t>
            </a:r>
            <a:endParaRPr lang="fr-FR" sz="1200" noProof="0" dirty="0"/>
          </a:p>
          <a:p>
            <a:pPr marL="0" indent="0">
              <a:buNone/>
            </a:pPr>
            <a:r>
              <a:rPr lang="fr-FR" sz="12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Ulrich FOKAM GOUAYOU</a:t>
            </a:r>
            <a:endParaRPr lang="fr-FR" sz="1200" noProof="0" dirty="0"/>
          </a:p>
          <a:p>
            <a:pPr marL="0" indent="0">
              <a:buNone/>
            </a:pPr>
            <a:r>
              <a:rPr lang="fr-FR" sz="12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Solange Dominique EYAGA NDEME</a:t>
            </a:r>
            <a:endParaRPr lang="fr-FR" sz="1200" noProof="0" dirty="0"/>
          </a:p>
        </p:txBody>
      </p:sp>
      <p:sp>
        <p:nvSpPr>
          <p:cNvPr id="9" name="Shape 6"/>
          <p:cNvSpPr/>
          <p:nvPr/>
        </p:nvSpPr>
        <p:spPr>
          <a:xfrm>
            <a:off x="4709160" y="2286000"/>
            <a:ext cx="4069080" cy="2514600"/>
          </a:xfrm>
          <a:prstGeom prst="roundRect">
            <a:avLst>
              <a:gd name="adj" fmla="val 4364"/>
            </a:avLst>
          </a:prstGeom>
          <a:solidFill>
            <a:srgbClr val="172344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7"/>
          <p:cNvSpPr/>
          <p:nvPr/>
        </p:nvSpPr>
        <p:spPr>
          <a:xfrm>
            <a:off x="4846320" y="23957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fr-FR" sz="1100" noProof="0" dirty="0"/>
          </a:p>
        </p:txBody>
      </p:sp>
      <p:sp>
        <p:nvSpPr>
          <p:cNvPr id="11" name="Text 8"/>
          <p:cNvSpPr/>
          <p:nvPr/>
        </p:nvSpPr>
        <p:spPr>
          <a:xfrm>
            <a:off x="4846320" y="278892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 classé OIV (Opérateur d'Importance Vitale)</a:t>
            </a:r>
            <a:endParaRPr lang="fr-FR" sz="1200" noProof="0" dirty="0"/>
          </a:p>
          <a:p>
            <a:pPr marL="0" indent="0">
              <a:buNone/>
            </a:pPr>
            <a:r>
              <a:rPr lang="fr-FR" sz="12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fr-FR" sz="1200" noProof="0" dirty="0"/>
          </a:p>
          <a:p>
            <a:pPr marL="0" indent="0">
              <a:buNone/>
            </a:pPr>
            <a:r>
              <a:rPr lang="fr-FR" sz="12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Refonte complète de l'architecture SI</a:t>
            </a:r>
            <a:endParaRPr lang="fr-FR" sz="1200" noProof="0" dirty="0"/>
          </a:p>
          <a:p>
            <a:pPr marL="0" indent="0">
              <a:buNone/>
            </a:pPr>
            <a:r>
              <a:rPr lang="fr-FR" sz="12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fr-FR" sz="1200" noProof="0" dirty="0"/>
          </a:p>
          <a:p>
            <a:pPr marL="0" indent="0">
              <a:buNone/>
            </a:pPr>
            <a:r>
              <a:rPr lang="fr-FR" sz="12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virtualisé sous </a:t>
            </a:r>
            <a:r>
              <a:rPr lang="fr-FR" sz="1200" noProof="0" dirty="0" err="1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</a:t>
            </a:r>
            <a:r>
              <a:rPr lang="fr-FR" sz="12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 </a:t>
            </a:r>
            <a:r>
              <a:rPr lang="fr-FR" sz="1200" noProof="0" dirty="0" err="1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</a:t>
            </a:r>
            <a:r>
              <a:rPr lang="fr-FR" sz="12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fr-FR" sz="1200" noProof="0" dirty="0"/>
          </a:p>
          <a:p>
            <a:pPr marL="0" indent="0">
              <a:buNone/>
            </a:pPr>
            <a:r>
              <a:rPr lang="fr-FR" sz="12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fr-FR" sz="1200" noProof="0" dirty="0"/>
          </a:p>
          <a:p>
            <a:pPr marL="0" indent="0">
              <a:buNone/>
            </a:pPr>
            <a:r>
              <a:rPr lang="fr-FR" sz="12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open source</a:t>
            </a:r>
            <a:endParaRPr lang="fr-FR" sz="12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fr-FR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EEF4F7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258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0D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fr-FR" sz="1800" noProof="0" dirty="0"/>
          </a:p>
        </p:txBody>
      </p:sp>
      <p:sp>
        <p:nvSpPr>
          <p:cNvPr id="7" name="Text 4"/>
          <p:cNvSpPr/>
          <p:nvPr/>
        </p:nvSpPr>
        <p:spPr>
          <a:xfrm>
            <a:off x="411480" y="17830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l'existant</a:t>
            </a:r>
            <a:endParaRPr lang="fr-FR" sz="1200" noProof="0" dirty="0"/>
          </a:p>
        </p:txBody>
      </p:sp>
      <p:sp>
        <p:nvSpPr>
          <p:cNvPr id="8" name="Text 5"/>
          <p:cNvSpPr/>
          <p:nvPr/>
        </p:nvSpPr>
        <p:spPr>
          <a:xfrm>
            <a:off x="411480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des lieux &amp; vulnérabilités</a:t>
            </a:r>
            <a:endParaRPr lang="fr-FR" sz="1000" noProof="0" dirty="0"/>
          </a:p>
        </p:txBody>
      </p:sp>
      <p:sp>
        <p:nvSpPr>
          <p:cNvPr id="9" name="Shape 6"/>
          <p:cNvSpPr/>
          <p:nvPr/>
        </p:nvSpPr>
        <p:spPr>
          <a:xfrm>
            <a:off x="3227832" y="118872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E8F4F6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3258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67912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0D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fr-FR" sz="1800" noProof="0" dirty="0"/>
          </a:p>
        </p:txBody>
      </p:sp>
      <p:sp>
        <p:nvSpPr>
          <p:cNvPr id="12" name="Text 8"/>
          <p:cNvSpPr/>
          <p:nvPr/>
        </p:nvSpPr>
        <p:spPr>
          <a:xfrm>
            <a:off x="3364992" y="17830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cible</a:t>
            </a:r>
            <a:endParaRPr lang="fr-FR" sz="1200" noProof="0" dirty="0"/>
          </a:p>
        </p:txBody>
      </p:sp>
      <p:sp>
        <p:nvSpPr>
          <p:cNvPr id="13" name="Text 9"/>
          <p:cNvSpPr/>
          <p:nvPr/>
        </p:nvSpPr>
        <p:spPr>
          <a:xfrm>
            <a:off x="3364992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/ Après &amp; choix techniques</a:t>
            </a:r>
            <a:endParaRPr lang="fr-FR" sz="1000" noProof="0" dirty="0"/>
          </a:p>
        </p:txBody>
      </p:sp>
      <p:sp>
        <p:nvSpPr>
          <p:cNvPr id="14" name="Shape 10"/>
          <p:cNvSpPr/>
          <p:nvPr/>
        </p:nvSpPr>
        <p:spPr>
          <a:xfrm>
            <a:off x="6181344" y="118872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EEF4F7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132588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21424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0D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fr-FR" sz="1800" noProof="0" dirty="0"/>
          </a:p>
        </p:txBody>
      </p:sp>
      <p:sp>
        <p:nvSpPr>
          <p:cNvPr id="17" name="Text 12"/>
          <p:cNvSpPr/>
          <p:nvPr/>
        </p:nvSpPr>
        <p:spPr>
          <a:xfrm>
            <a:off x="6318504" y="17830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</a:t>
            </a:r>
            <a:r>
              <a:rPr lang="fr-FR" sz="1200" b="1" noProof="0" dirty="0" err="1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</a:t>
            </a:r>
            <a:endParaRPr lang="fr-FR" sz="1200" noProof="0" dirty="0"/>
          </a:p>
        </p:txBody>
      </p:sp>
      <p:sp>
        <p:nvSpPr>
          <p:cNvPr id="18" name="Text 13"/>
          <p:cNvSpPr/>
          <p:nvPr/>
        </p:nvSpPr>
        <p:spPr>
          <a:xfrm>
            <a:off x="6318504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</a:t>
            </a:r>
            <a:r>
              <a:rPr lang="fr-FR" sz="10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</a:t>
            </a:r>
            <a:r>
              <a:rPr lang="fr-FR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configuration technique</a:t>
            </a:r>
            <a:endParaRPr lang="fr-FR" sz="1000" noProof="0" dirty="0"/>
          </a:p>
        </p:txBody>
      </p:sp>
      <p:sp>
        <p:nvSpPr>
          <p:cNvPr id="19" name="Shape 14"/>
          <p:cNvSpPr/>
          <p:nvPr/>
        </p:nvSpPr>
        <p:spPr>
          <a:xfrm>
            <a:off x="274320" y="292608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E8F4F6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06324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" y="3063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0D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fr-FR" sz="1800" noProof="0" dirty="0"/>
          </a:p>
        </p:txBody>
      </p:sp>
      <p:sp>
        <p:nvSpPr>
          <p:cNvPr id="22" name="Text 16"/>
          <p:cNvSpPr/>
          <p:nvPr/>
        </p:nvSpPr>
        <p:spPr>
          <a:xfrm>
            <a:off x="411480" y="35204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de sécurité</a:t>
            </a:r>
            <a:endParaRPr lang="fr-FR" sz="1200" noProof="0" dirty="0"/>
          </a:p>
        </p:txBody>
      </p:sp>
      <p:sp>
        <p:nvSpPr>
          <p:cNvPr id="23" name="Text 17"/>
          <p:cNvSpPr/>
          <p:nvPr/>
        </p:nvSpPr>
        <p:spPr>
          <a:xfrm>
            <a:off x="41148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PSSI — Zero Trust — RBAC</a:t>
            </a:r>
            <a:endParaRPr lang="fr-FR" sz="1000" noProof="0" dirty="0"/>
          </a:p>
        </p:txBody>
      </p:sp>
      <p:sp>
        <p:nvSpPr>
          <p:cNvPr id="24" name="Shape 18"/>
          <p:cNvSpPr/>
          <p:nvPr/>
        </p:nvSpPr>
        <p:spPr>
          <a:xfrm>
            <a:off x="3227832" y="292608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EEF4F7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06324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867912" y="3063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0D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fr-FR" sz="1800" noProof="0" dirty="0"/>
          </a:p>
        </p:txBody>
      </p:sp>
      <p:sp>
        <p:nvSpPr>
          <p:cNvPr id="27" name="Text 20"/>
          <p:cNvSpPr/>
          <p:nvPr/>
        </p:nvSpPr>
        <p:spPr>
          <a:xfrm>
            <a:off x="3364992" y="35204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Supervision, SIEM, Fichiers &amp; Sauvegarde</a:t>
            </a:r>
            <a:endParaRPr lang="fr-FR" sz="1200" noProof="0" dirty="0"/>
          </a:p>
        </p:txBody>
      </p:sp>
      <p:sp>
        <p:nvSpPr>
          <p:cNvPr id="28" name="Text 21"/>
          <p:cNvSpPr/>
          <p:nvPr/>
        </p:nvSpPr>
        <p:spPr>
          <a:xfrm>
            <a:off x="3364992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</a:t>
            </a:r>
            <a:r>
              <a:rPr lang="fr-FR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Zabbix + </a:t>
            </a:r>
            <a:r>
              <a:rPr lang="fr-FR" sz="10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</a:t>
            </a:r>
            <a:endParaRPr lang="fr-FR" sz="1000" noProof="0" dirty="0"/>
          </a:p>
        </p:txBody>
      </p:sp>
      <p:sp>
        <p:nvSpPr>
          <p:cNvPr id="29" name="Shape 22"/>
          <p:cNvSpPr/>
          <p:nvPr/>
        </p:nvSpPr>
        <p:spPr>
          <a:xfrm>
            <a:off x="6181344" y="292608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E8F4F6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8504" y="3063240"/>
            <a:ext cx="411480" cy="4114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821424" y="3063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0D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fr-FR" sz="1800" noProof="0" dirty="0"/>
          </a:p>
        </p:txBody>
      </p:sp>
      <p:sp>
        <p:nvSpPr>
          <p:cNvPr id="32" name="Text 24"/>
          <p:cNvSpPr/>
          <p:nvPr/>
        </p:nvSpPr>
        <p:spPr>
          <a:xfrm>
            <a:off x="6318504" y="35204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&amp; conclusion</a:t>
            </a:r>
            <a:endParaRPr lang="fr-FR" sz="1200" noProof="0" dirty="0"/>
          </a:p>
        </p:txBody>
      </p:sp>
      <p:sp>
        <p:nvSpPr>
          <p:cNvPr id="33" name="Text 25"/>
          <p:cNvSpPr/>
          <p:nvPr/>
        </p:nvSpPr>
        <p:spPr>
          <a:xfrm>
            <a:off x="6318504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résultats &amp; perspectives</a:t>
            </a:r>
            <a:endParaRPr lang="fr-FR" sz="10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Analyse de l'existant</a:t>
            </a:r>
            <a:endParaRPr lang="fr-FR" sz="2400" noProof="0" dirty="0"/>
          </a:p>
        </p:txBody>
      </p:sp>
      <p:sp>
        <p:nvSpPr>
          <p:cNvPr id="4" name="Text 2"/>
          <p:cNvSpPr/>
          <p:nvPr/>
        </p:nvSpPr>
        <p:spPr>
          <a:xfrm>
            <a:off x="27432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0D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des lieux</a:t>
            </a:r>
            <a:endParaRPr lang="fr-FR" sz="1400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91056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plat — aucune segmentation</a:t>
            </a:r>
            <a:endParaRPr lang="fr-FR" sz="1100" noProof="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112264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2121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peu structuré / comptes locaux</a:t>
            </a:r>
            <a:endParaRPr lang="fr-FR" sz="1100" noProof="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633472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0080" y="26426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de fichiers droits larges</a:t>
            </a:r>
            <a:endParaRPr lang="fr-FR" sz="1100" noProof="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315468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0080" y="31638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Pare-feu périmétrique minimal</a:t>
            </a:r>
            <a:endParaRPr lang="fr-FR" sz="1100" noProof="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3675888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40080" y="3685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totale de supervision</a:t>
            </a:r>
            <a:endParaRPr lang="fr-FR" sz="1100" noProof="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4197096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40080" y="4206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non testées / non centralisées</a:t>
            </a:r>
            <a:endParaRPr lang="fr-FR" sz="1100" noProof="0" dirty="0"/>
          </a:p>
        </p:txBody>
      </p:sp>
      <p:sp>
        <p:nvSpPr>
          <p:cNvPr id="17" name="Shape 9"/>
          <p:cNvSpPr/>
          <p:nvPr/>
        </p:nvSpPr>
        <p:spPr>
          <a:xfrm>
            <a:off x="4663440" y="1097280"/>
            <a:ext cx="4160520" cy="3749040"/>
          </a:xfrm>
          <a:prstGeom prst="roundRect">
            <a:avLst>
              <a:gd name="adj" fmla="val 2927"/>
            </a:avLst>
          </a:prstGeom>
          <a:solidFill>
            <a:srgbClr val="FEF3C7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1170432"/>
            <a:ext cx="347472" cy="34747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230368" y="11704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Vulnérabilités critiques identifiées</a:t>
            </a:r>
            <a:endParaRPr lang="fr-FR" sz="1200" noProof="0" dirty="0"/>
          </a:p>
        </p:txBody>
      </p:sp>
      <p:sp>
        <p:nvSpPr>
          <p:cNvPr id="20" name="Text 11"/>
          <p:cNvSpPr/>
          <p:nvPr/>
        </p:nvSpPr>
        <p:spPr>
          <a:xfrm>
            <a:off x="4800600" y="164592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100" noProof="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Déplacements latéraux sans restriction</a:t>
            </a:r>
            <a:endParaRPr lang="fr-FR" sz="1100" noProof="0" dirty="0"/>
          </a:p>
        </p:txBody>
      </p:sp>
      <p:sp>
        <p:nvSpPr>
          <p:cNvPr id="21" name="Text 12"/>
          <p:cNvSpPr/>
          <p:nvPr/>
        </p:nvSpPr>
        <p:spPr>
          <a:xfrm>
            <a:off x="4800600" y="219456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100" noProof="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politique de mots de passe robuste</a:t>
            </a:r>
            <a:endParaRPr lang="fr-FR" sz="1100" noProof="0" dirty="0"/>
          </a:p>
        </p:txBody>
      </p:sp>
      <p:sp>
        <p:nvSpPr>
          <p:cNvPr id="22" name="Text 13"/>
          <p:cNvSpPr/>
          <p:nvPr/>
        </p:nvSpPr>
        <p:spPr>
          <a:xfrm>
            <a:off x="4800600" y="274320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100" noProof="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patients non chiffrées, non tracées</a:t>
            </a:r>
            <a:endParaRPr lang="fr-FR" sz="1100" noProof="0" dirty="0"/>
          </a:p>
        </p:txBody>
      </p:sp>
      <p:sp>
        <p:nvSpPr>
          <p:cNvPr id="23" name="Text 14"/>
          <p:cNvSpPr/>
          <p:nvPr/>
        </p:nvSpPr>
        <p:spPr>
          <a:xfrm>
            <a:off x="4800600" y="329184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100" noProof="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SIEM ni corrélation de logs</a:t>
            </a:r>
            <a:endParaRPr lang="fr-FR" sz="1100" noProof="0" dirty="0"/>
          </a:p>
        </p:txBody>
      </p:sp>
      <p:sp>
        <p:nvSpPr>
          <p:cNvPr id="24" name="Text 15"/>
          <p:cNvSpPr/>
          <p:nvPr/>
        </p:nvSpPr>
        <p:spPr>
          <a:xfrm>
            <a:off x="4800600" y="38404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100" noProof="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PRA formalisé et testé</a:t>
            </a:r>
            <a:endParaRPr lang="fr-FR" sz="11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AVANT — Situation initiale</a:t>
            </a:r>
            <a:endParaRPr lang="fr-FR" sz="2200" noProof="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64D5EF0-6BB4-D085-CE8C-93E6D0C86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176" y="1087065"/>
            <a:ext cx="2703648" cy="38552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B8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cible — Vue théorique</a:t>
            </a:r>
            <a:endParaRPr lang="fr-FR" sz="2200" noProof="0" dirty="0"/>
          </a:p>
        </p:txBody>
      </p:sp>
      <p:pic>
        <p:nvPicPr>
          <p:cNvPr id="25" name="drawing">
            <a:extLst>
              <a:ext uri="{FF2B5EF4-FFF2-40B4-BE49-F238E27FC236}">
                <a16:creationId xmlns:a16="http://schemas.microsoft.com/office/drawing/2014/main" id="{6EE7AF0F-FE45-91FB-8BF8-8EFDB2D157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17" y="1059814"/>
            <a:ext cx="8913245" cy="38169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Implémentation sur </a:t>
            </a:r>
            <a:r>
              <a:rPr lang="fr-FR" sz="2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</a:t>
            </a:r>
            <a:endParaRPr lang="fr-FR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5212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</a:t>
            </a:r>
            <a:r>
              <a:rPr lang="fr-FR" sz="1300" b="1" noProof="0" dirty="0" err="1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</a:t>
            </a:r>
            <a:r>
              <a:rPr lang="fr-FR" sz="13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déployées</a:t>
            </a:r>
            <a:endParaRPr lang="fr-FR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5212080" y="1554480"/>
            <a:ext cx="3657600" cy="457200"/>
          </a:xfrm>
          <a:prstGeom prst="roundRect">
            <a:avLst>
              <a:gd name="adj" fmla="val 14000"/>
            </a:avLst>
          </a:prstGeom>
          <a:solidFill>
            <a:srgbClr val="FEF3C7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5303520" y="16276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Passerelle</a:t>
            </a:r>
            <a:endParaRPr lang="fr-FR" sz="900" noProof="0" dirty="0"/>
          </a:p>
        </p:txBody>
      </p:sp>
      <p:sp>
        <p:nvSpPr>
          <p:cNvPr id="9" name="Text 7"/>
          <p:cNvSpPr/>
          <p:nvPr/>
        </p:nvSpPr>
        <p:spPr>
          <a:xfrm>
            <a:off x="6309360" y="15727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 err="1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</a:t>
            </a:r>
            <a:endParaRPr lang="fr-FR" sz="1100" noProof="0" dirty="0"/>
          </a:p>
        </p:txBody>
      </p:sp>
      <p:sp>
        <p:nvSpPr>
          <p:cNvPr id="10" name="Text 8"/>
          <p:cNvSpPr/>
          <p:nvPr/>
        </p:nvSpPr>
        <p:spPr>
          <a:xfrm>
            <a:off x="6309360" y="17922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Pare-feu, VPN, IDS (</a:t>
            </a:r>
            <a:r>
              <a:rPr lang="fr-FR" sz="9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</a:t>
            </a:r>
            <a:r>
              <a:rPr lang="fr-FR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fr-FR" sz="900" noProof="0" dirty="0"/>
          </a:p>
        </p:txBody>
      </p:sp>
      <p:sp>
        <p:nvSpPr>
          <p:cNvPr id="11" name="Shape 9"/>
          <p:cNvSpPr/>
          <p:nvPr/>
        </p:nvSpPr>
        <p:spPr>
          <a:xfrm>
            <a:off x="5212080" y="2093976"/>
            <a:ext cx="3657600" cy="457200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5303520" y="2167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10.10.60.10</a:t>
            </a:r>
            <a:endParaRPr lang="fr-FR" sz="900" noProof="0" dirty="0"/>
          </a:p>
        </p:txBody>
      </p:sp>
      <p:sp>
        <p:nvSpPr>
          <p:cNvPr id="13" name="Text 11"/>
          <p:cNvSpPr/>
          <p:nvPr/>
        </p:nvSpPr>
        <p:spPr>
          <a:xfrm>
            <a:off x="6309360" y="21122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</a:t>
            </a:r>
            <a:endParaRPr lang="fr-FR" sz="1100" noProof="0" dirty="0"/>
          </a:p>
        </p:txBody>
      </p:sp>
      <p:sp>
        <p:nvSpPr>
          <p:cNvPr id="14" name="Text 12"/>
          <p:cNvSpPr/>
          <p:nvPr/>
        </p:nvSpPr>
        <p:spPr>
          <a:xfrm>
            <a:off x="6309360" y="23317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— DNS, LDAP, GPO</a:t>
            </a:r>
            <a:endParaRPr lang="fr-FR" sz="900" noProof="0" dirty="0"/>
          </a:p>
        </p:txBody>
      </p:sp>
      <p:sp>
        <p:nvSpPr>
          <p:cNvPr id="15" name="Shape 13"/>
          <p:cNvSpPr/>
          <p:nvPr/>
        </p:nvSpPr>
        <p:spPr>
          <a:xfrm>
            <a:off x="5212080" y="2633472"/>
            <a:ext cx="3657600" cy="457200"/>
          </a:xfrm>
          <a:prstGeom prst="roundRect">
            <a:avLst>
              <a:gd name="adj" fmla="val 14000"/>
            </a:avLst>
          </a:prstGeom>
          <a:solidFill>
            <a:srgbClr val="F0FDF4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5303520" y="2706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10.10.60.20</a:t>
            </a:r>
            <a:endParaRPr lang="fr-FR" sz="900" noProof="0" dirty="0"/>
          </a:p>
        </p:txBody>
      </p:sp>
      <p:sp>
        <p:nvSpPr>
          <p:cNvPr id="17" name="Text 15"/>
          <p:cNvSpPr/>
          <p:nvPr/>
        </p:nvSpPr>
        <p:spPr>
          <a:xfrm>
            <a:off x="6309360" y="26517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/ Supervision</a:t>
            </a:r>
            <a:endParaRPr lang="fr-FR" sz="1100" noProof="0" dirty="0"/>
          </a:p>
        </p:txBody>
      </p:sp>
      <p:sp>
        <p:nvSpPr>
          <p:cNvPr id="18" name="Text 16"/>
          <p:cNvSpPr/>
          <p:nvPr/>
        </p:nvSpPr>
        <p:spPr>
          <a:xfrm>
            <a:off x="6309360" y="28712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</a:t>
            </a:r>
            <a:r>
              <a:rPr lang="fr-FR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Zabbix</a:t>
            </a:r>
            <a:endParaRPr lang="fr-FR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5212080" y="3172968"/>
            <a:ext cx="3657600" cy="457200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5303520" y="3246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10.10.60.30</a:t>
            </a:r>
            <a:endParaRPr lang="fr-FR" sz="900" noProof="0" dirty="0"/>
          </a:p>
        </p:txBody>
      </p:sp>
      <p:sp>
        <p:nvSpPr>
          <p:cNvPr id="21" name="Text 19"/>
          <p:cNvSpPr/>
          <p:nvPr/>
        </p:nvSpPr>
        <p:spPr>
          <a:xfrm>
            <a:off x="6309360" y="31912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de fichiers</a:t>
            </a:r>
            <a:endParaRPr lang="fr-FR" sz="1100" noProof="0" dirty="0"/>
          </a:p>
        </p:txBody>
      </p:sp>
      <p:sp>
        <p:nvSpPr>
          <p:cNvPr id="22" name="Text 20"/>
          <p:cNvSpPr/>
          <p:nvPr/>
        </p:nvSpPr>
        <p:spPr>
          <a:xfrm>
            <a:off x="6309360" y="34107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 — données patients</a:t>
            </a:r>
            <a:endParaRPr lang="fr-FR" sz="900" noProof="0" dirty="0"/>
          </a:p>
        </p:txBody>
      </p:sp>
      <p:sp>
        <p:nvSpPr>
          <p:cNvPr id="23" name="Shape 21"/>
          <p:cNvSpPr/>
          <p:nvPr/>
        </p:nvSpPr>
        <p:spPr>
          <a:xfrm>
            <a:off x="5212080" y="3712464"/>
            <a:ext cx="3657600" cy="457200"/>
          </a:xfrm>
          <a:prstGeom prst="roundRect">
            <a:avLst>
              <a:gd name="adj" fmla="val 14000"/>
            </a:avLst>
          </a:prstGeom>
          <a:solidFill>
            <a:srgbClr val="F0FDF4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/>
          <p:nvPr/>
        </p:nvSpPr>
        <p:spPr>
          <a:xfrm>
            <a:off x="5303520" y="37856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10.10.60.40</a:t>
            </a:r>
            <a:endParaRPr lang="fr-FR" sz="900" noProof="0" dirty="0"/>
          </a:p>
        </p:txBody>
      </p:sp>
      <p:sp>
        <p:nvSpPr>
          <p:cNvPr id="25" name="Text 23"/>
          <p:cNvSpPr/>
          <p:nvPr/>
        </p:nvSpPr>
        <p:spPr>
          <a:xfrm>
            <a:off x="6309360" y="37307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(</a:t>
            </a:r>
            <a:r>
              <a:rPr lang="fr-FR" sz="1100" b="1" noProof="0" dirty="0" err="1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Restic</a:t>
            </a:r>
            <a:r>
              <a:rPr lang="fr-FR" sz="11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fr-FR" sz="1100" noProof="0" dirty="0"/>
          </a:p>
        </p:txBody>
      </p:sp>
      <p:sp>
        <p:nvSpPr>
          <p:cNvPr id="26" name="Text 24"/>
          <p:cNvSpPr/>
          <p:nvPr/>
        </p:nvSpPr>
        <p:spPr>
          <a:xfrm>
            <a:off x="6309360" y="39502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isolée — chiffrement AES-256</a:t>
            </a:r>
            <a:endParaRPr lang="fr-FR" sz="900" noProof="0" dirty="0"/>
          </a:p>
        </p:txBody>
      </p:sp>
      <p:sp>
        <p:nvSpPr>
          <p:cNvPr id="27" name="Shape 25"/>
          <p:cNvSpPr/>
          <p:nvPr/>
        </p:nvSpPr>
        <p:spPr>
          <a:xfrm>
            <a:off x="5212080" y="4251960"/>
            <a:ext cx="3657600" cy="457200"/>
          </a:xfrm>
          <a:prstGeom prst="roundRect">
            <a:avLst>
              <a:gd name="adj" fmla="val 14000"/>
            </a:avLst>
          </a:prstGeom>
          <a:solidFill>
            <a:srgbClr val="FEF3C7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6"/>
          <p:cNvSpPr/>
          <p:nvPr/>
        </p:nvSpPr>
        <p:spPr>
          <a:xfrm>
            <a:off x="5303520" y="43251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10.10.60.50</a:t>
            </a:r>
            <a:endParaRPr lang="fr-FR" sz="900" noProof="0" dirty="0"/>
          </a:p>
        </p:txBody>
      </p:sp>
      <p:sp>
        <p:nvSpPr>
          <p:cNvPr id="29" name="Text 27"/>
          <p:cNvSpPr/>
          <p:nvPr/>
        </p:nvSpPr>
        <p:spPr>
          <a:xfrm>
            <a:off x="6309360" y="42702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client</a:t>
            </a:r>
            <a:endParaRPr lang="fr-FR" sz="1100" noProof="0" dirty="0"/>
          </a:p>
        </p:txBody>
      </p:sp>
      <p:sp>
        <p:nvSpPr>
          <p:cNvPr id="30" name="Text 28"/>
          <p:cNvSpPr/>
          <p:nvPr/>
        </p:nvSpPr>
        <p:spPr>
          <a:xfrm>
            <a:off x="6309360" y="44897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+ postes soignants</a:t>
            </a:r>
            <a:endParaRPr lang="fr-FR" sz="900" noProof="0" dirty="0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1B5CBB7D-0D06-ACF8-4156-1204FD137A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200"/>
          <a:stretch>
            <a:fillRect/>
          </a:stretch>
        </p:blipFill>
        <p:spPr>
          <a:xfrm>
            <a:off x="780158" y="1178234"/>
            <a:ext cx="3532437" cy="36054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Politique de Sécurité (PSSI)</a:t>
            </a:r>
            <a:endParaRPr lang="fr-FR" sz="24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EFF6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258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353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fr-FR" sz="1400" noProof="0" dirty="0"/>
          </a:p>
        </p:txBody>
      </p:sp>
      <p:sp>
        <p:nvSpPr>
          <p:cNvPr id="7" name="Text 4"/>
          <p:cNvSpPr/>
          <p:nvPr/>
        </p:nvSpPr>
        <p:spPr>
          <a:xfrm>
            <a:off x="411480" y="187452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flux n'est fiable par défaut. Tout est authentifié, filtré et journalisé via </a:t>
            </a:r>
            <a:r>
              <a:rPr lang="fr-FR" sz="1100" noProof="0" dirty="0" err="1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</a:t>
            </a: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fr-FR" sz="1100" noProof="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F0FDF4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258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353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Moindre privilège</a:t>
            </a:r>
            <a:endParaRPr lang="fr-FR" sz="1400" noProof="0" dirty="0"/>
          </a:p>
        </p:txBody>
      </p:sp>
      <p:sp>
        <p:nvSpPr>
          <p:cNvPr id="11" name="Text 7"/>
          <p:cNvSpPr/>
          <p:nvPr/>
        </p:nvSpPr>
        <p:spPr>
          <a:xfrm>
            <a:off x="4846320" y="187452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via Active Directory. Droits strictement nécessaires à chaque rôle.</a:t>
            </a:r>
            <a:endParaRPr lang="fr-FR" sz="1100" noProof="0" dirty="0"/>
          </a:p>
        </p:txBody>
      </p:sp>
      <p:sp>
        <p:nvSpPr>
          <p:cNvPr id="12" name="Shape 8"/>
          <p:cNvSpPr/>
          <p:nvPr/>
        </p:nvSpPr>
        <p:spPr>
          <a:xfrm>
            <a:off x="228600" y="301752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FEF3C7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1546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31821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by default</a:t>
            </a:r>
            <a:endParaRPr lang="fr-FR" sz="1400" noProof="0" dirty="0"/>
          </a:p>
        </p:txBody>
      </p:sp>
      <p:sp>
        <p:nvSpPr>
          <p:cNvPr id="15" name="Text 10"/>
          <p:cNvSpPr/>
          <p:nvPr/>
        </p:nvSpPr>
        <p:spPr>
          <a:xfrm>
            <a:off x="411480" y="370332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trafic bloqué par défaut. Seuls les flux explicitement autorisés et documentés passent.</a:t>
            </a:r>
            <a:endParaRPr lang="fr-FR" sz="1100" noProof="0" dirty="0"/>
          </a:p>
        </p:txBody>
      </p:sp>
      <p:sp>
        <p:nvSpPr>
          <p:cNvPr id="16" name="Shape 11"/>
          <p:cNvSpPr/>
          <p:nvPr/>
        </p:nvSpPr>
        <p:spPr>
          <a:xfrm>
            <a:off x="4663440" y="301752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EFF6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1546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31821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réseau</a:t>
            </a:r>
            <a:endParaRPr lang="fr-FR" sz="1400" noProof="0" dirty="0"/>
          </a:p>
        </p:txBody>
      </p:sp>
      <p:sp>
        <p:nvSpPr>
          <p:cNvPr id="19" name="Text 13"/>
          <p:cNvSpPr/>
          <p:nvPr/>
        </p:nvSpPr>
        <p:spPr>
          <a:xfrm>
            <a:off x="4846320" y="370332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zones distinctes : ADMIN, MEDICAL, SUPERVISION, BACKUP. Cloisonnement strict.</a:t>
            </a:r>
            <a:endParaRPr lang="fr-FR" sz="11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B8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flux &amp; Filtrage </a:t>
            </a:r>
            <a:r>
              <a:rPr lang="fr-FR" sz="2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</a:t>
            </a:r>
            <a:endParaRPr lang="fr-FR" sz="2200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C3DC77E-6F13-72F7-14A7-C21B1F2348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6644"/>
          <a:stretch>
            <a:fillRect/>
          </a:stretch>
        </p:blipFill>
        <p:spPr>
          <a:xfrm>
            <a:off x="887965" y="1451486"/>
            <a:ext cx="7368070" cy="30751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7A3953-4F99-4AB9-25DA-4AD315595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830F40-BB13-0FC9-0932-75BC04FB6A8C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B8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4DD852-17B6-888A-9D00-250EC1616A8E}"/>
              </a:ext>
            </a:extLst>
          </p:cNvPr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flux &amp; Filtrage </a:t>
            </a:r>
            <a:r>
              <a:rPr lang="fr-FR" sz="2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</a:t>
            </a:r>
            <a:endParaRPr lang="fr-FR" sz="2200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995F24F-7EB5-0E35-4004-E392FA1A9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72" y="1143000"/>
            <a:ext cx="7029855" cy="379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765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Supervision &amp; Détection (SIEM)</a:t>
            </a:r>
            <a:endParaRPr lang="fr-FR" sz="24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2743200" cy="370332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6187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261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 err="1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</a:t>
            </a:r>
            <a:r>
              <a:rPr lang="fr-FR" sz="13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(SIEM)</a:t>
            </a:r>
            <a:endParaRPr lang="fr-FR" sz="1300" noProof="0" dirty="0"/>
          </a:p>
        </p:txBody>
      </p:sp>
      <p:sp>
        <p:nvSpPr>
          <p:cNvPr id="7" name="Text 4"/>
          <p:cNvSpPr/>
          <p:nvPr/>
        </p:nvSpPr>
        <p:spPr>
          <a:xfrm>
            <a:off x="365760" y="18288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logs tous équipements</a:t>
            </a:r>
            <a:endParaRPr lang="fr-FR" sz="1100" noProof="0" dirty="0"/>
          </a:p>
        </p:txBody>
      </p:sp>
      <p:sp>
        <p:nvSpPr>
          <p:cNvPr id="8" name="Text 5"/>
          <p:cNvSpPr/>
          <p:nvPr/>
        </p:nvSpPr>
        <p:spPr>
          <a:xfrm>
            <a:off x="365760" y="25146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détection (brute force, exfiltration)</a:t>
            </a:r>
            <a:endParaRPr lang="fr-FR" sz="1100" noProof="0" dirty="0"/>
          </a:p>
        </p:txBody>
      </p:sp>
      <p:sp>
        <p:nvSpPr>
          <p:cNvPr id="9" name="Text 6"/>
          <p:cNvSpPr/>
          <p:nvPr/>
        </p:nvSpPr>
        <p:spPr>
          <a:xfrm>
            <a:off x="365760" y="32004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natif intégré</a:t>
            </a:r>
            <a:endParaRPr lang="fr-FR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365760" y="38862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en temps réel</a:t>
            </a:r>
            <a:endParaRPr lang="fr-FR" sz="1100" noProof="0" dirty="0"/>
          </a:p>
        </p:txBody>
      </p:sp>
      <p:sp>
        <p:nvSpPr>
          <p:cNvPr id="11" name="Shape 8"/>
          <p:cNvSpPr/>
          <p:nvPr/>
        </p:nvSpPr>
        <p:spPr>
          <a:xfrm>
            <a:off x="3200400" y="1143000"/>
            <a:ext cx="2743200" cy="370332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26187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1261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(Monitoring)</a:t>
            </a:r>
            <a:endParaRPr lang="fr-FR" sz="1300" noProof="0" dirty="0"/>
          </a:p>
        </p:txBody>
      </p:sp>
      <p:sp>
        <p:nvSpPr>
          <p:cNvPr id="14" name="Text 10"/>
          <p:cNvSpPr/>
          <p:nvPr/>
        </p:nvSpPr>
        <p:spPr>
          <a:xfrm>
            <a:off x="3337560" y="18288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CPU / RAM / Disque</a:t>
            </a:r>
            <a:endParaRPr lang="fr-FR" sz="1100" noProof="0" dirty="0"/>
          </a:p>
        </p:txBody>
      </p:sp>
      <p:sp>
        <p:nvSpPr>
          <p:cNvPr id="15" name="Text 11"/>
          <p:cNvSpPr/>
          <p:nvPr/>
        </p:nvSpPr>
        <p:spPr>
          <a:xfrm>
            <a:off x="3337560" y="25146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des services</a:t>
            </a:r>
            <a:endParaRPr lang="fr-FR" sz="1100" noProof="0" dirty="0"/>
          </a:p>
        </p:txBody>
      </p:sp>
      <p:sp>
        <p:nvSpPr>
          <p:cNvPr id="16" name="Text 12"/>
          <p:cNvSpPr/>
          <p:nvPr/>
        </p:nvSpPr>
        <p:spPr>
          <a:xfrm>
            <a:off x="3337560" y="32004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de performance</a:t>
            </a:r>
            <a:endParaRPr lang="fr-FR" sz="1100" noProof="0" dirty="0"/>
          </a:p>
        </p:txBody>
      </p:sp>
      <p:sp>
        <p:nvSpPr>
          <p:cNvPr id="17" name="Text 13"/>
          <p:cNvSpPr/>
          <p:nvPr/>
        </p:nvSpPr>
        <p:spPr>
          <a:xfrm>
            <a:off x="3337560" y="38862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centralisée</a:t>
            </a:r>
            <a:endParaRPr lang="fr-FR" sz="1100" noProof="0" dirty="0"/>
          </a:p>
        </p:txBody>
      </p:sp>
      <p:sp>
        <p:nvSpPr>
          <p:cNvPr id="18" name="Shape 14"/>
          <p:cNvSpPr/>
          <p:nvPr/>
        </p:nvSpPr>
        <p:spPr>
          <a:xfrm>
            <a:off x="6172200" y="1143000"/>
            <a:ext cx="2743200" cy="370332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261872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0" y="1261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 err="1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</a:t>
            </a:r>
            <a:r>
              <a:rPr lang="fr-FR" sz="13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(IDS)</a:t>
            </a:r>
            <a:endParaRPr lang="fr-FR" sz="1300" noProof="0" dirty="0"/>
          </a:p>
        </p:txBody>
      </p:sp>
      <p:sp>
        <p:nvSpPr>
          <p:cNvPr id="21" name="Text 16"/>
          <p:cNvSpPr/>
          <p:nvPr/>
        </p:nvSpPr>
        <p:spPr>
          <a:xfrm>
            <a:off x="6309360" y="18288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 à </a:t>
            </a:r>
            <a:r>
              <a:rPr lang="fr-FR" sz="1100" noProof="0" dirty="0" err="1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</a:t>
            </a:r>
            <a:endParaRPr lang="fr-FR" sz="1100" noProof="0" dirty="0"/>
          </a:p>
        </p:txBody>
      </p:sp>
      <p:sp>
        <p:nvSpPr>
          <p:cNvPr id="22" name="Text 17"/>
          <p:cNvSpPr/>
          <p:nvPr/>
        </p:nvSpPr>
        <p:spPr>
          <a:xfrm>
            <a:off x="6309360" y="25146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ET Open activées</a:t>
            </a:r>
            <a:endParaRPr lang="fr-FR" sz="1100" noProof="0" dirty="0"/>
          </a:p>
        </p:txBody>
      </p:sp>
      <p:sp>
        <p:nvSpPr>
          <p:cNvPr id="23" name="Text 18"/>
          <p:cNvSpPr/>
          <p:nvPr/>
        </p:nvSpPr>
        <p:spPr>
          <a:xfrm>
            <a:off x="6309360" y="32004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scans, malware, </a:t>
            </a:r>
            <a:r>
              <a:rPr lang="fr-FR" sz="1100" noProof="0" dirty="0" err="1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botcc</a:t>
            </a:r>
            <a:endParaRPr lang="fr-FR" sz="1100" noProof="0" dirty="0"/>
          </a:p>
        </p:txBody>
      </p:sp>
      <p:sp>
        <p:nvSpPr>
          <p:cNvPr id="24" name="Text 19"/>
          <p:cNvSpPr/>
          <p:nvPr/>
        </p:nvSpPr>
        <p:spPr>
          <a:xfrm>
            <a:off x="6309360" y="38862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IDS + alertes SIEM</a:t>
            </a:r>
            <a:endParaRPr lang="fr-FR" sz="11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2"/>
          <p:cNvSpPr/>
          <p:nvPr/>
        </p:nvSpPr>
        <p:spPr>
          <a:xfrm>
            <a:off x="228600" y="109728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D7B8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3"/>
          <p:cNvSpPr/>
          <p:nvPr/>
        </p:nvSpPr>
        <p:spPr>
          <a:xfrm>
            <a:off x="228600" y="1097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10.10.60.30 — Zone MEDICAL</a:t>
            </a:r>
            <a:endParaRPr lang="fr-FR" sz="950" noProof="0" dirty="0"/>
          </a:p>
        </p:txBody>
      </p:sp>
      <p:sp>
        <p:nvSpPr>
          <p:cNvPr id="7" name="Shape 4"/>
          <p:cNvSpPr/>
          <p:nvPr/>
        </p:nvSpPr>
        <p:spPr>
          <a:xfrm>
            <a:off x="2286000" y="10972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E8F4F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5"/>
          <p:cNvSpPr/>
          <p:nvPr/>
        </p:nvSpPr>
        <p:spPr>
          <a:xfrm>
            <a:off x="2286000" y="10972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0D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 4.17</a:t>
            </a:r>
            <a:endParaRPr lang="fr-FR" sz="1000" noProof="0" dirty="0"/>
          </a:p>
        </p:txBody>
      </p:sp>
      <p:sp>
        <p:nvSpPr>
          <p:cNvPr id="9" name="Shape 6"/>
          <p:cNvSpPr/>
          <p:nvPr/>
        </p:nvSpPr>
        <p:spPr>
          <a:xfrm>
            <a:off x="3794760" y="109728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E8F4F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7"/>
          <p:cNvSpPr/>
          <p:nvPr/>
        </p:nvSpPr>
        <p:spPr>
          <a:xfrm>
            <a:off x="3794760" y="10972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0D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Debian</a:t>
            </a:r>
            <a:endParaRPr lang="fr-FR" sz="1000" noProof="0" dirty="0"/>
          </a:p>
        </p:txBody>
      </p:sp>
      <p:sp>
        <p:nvSpPr>
          <p:cNvPr id="11" name="Shape 8"/>
          <p:cNvSpPr/>
          <p:nvPr/>
        </p:nvSpPr>
        <p:spPr>
          <a:xfrm>
            <a:off x="228600" y="1664208"/>
            <a:ext cx="4206240" cy="1554480"/>
          </a:xfrm>
          <a:prstGeom prst="roundRect">
            <a:avLst>
              <a:gd name="adj" fmla="val 7059"/>
            </a:avLst>
          </a:prstGeom>
          <a:solidFill>
            <a:srgbClr val="EFF6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79222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86968" y="18105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d'accès AD</a:t>
            </a:r>
            <a:endParaRPr lang="fr-FR" sz="1200" noProof="0" dirty="0"/>
          </a:p>
        </p:txBody>
      </p:sp>
      <p:sp>
        <p:nvSpPr>
          <p:cNvPr id="14" name="Text 10"/>
          <p:cNvSpPr/>
          <p:nvPr/>
        </p:nvSpPr>
        <p:spPr>
          <a:xfrm>
            <a:off x="393192" y="225856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mirrorant l’Active Directory</a:t>
            </a:r>
            <a:endParaRPr lang="fr-FR" sz="1000" noProof="0" dirty="0"/>
          </a:p>
        </p:txBody>
      </p:sp>
      <p:sp>
        <p:nvSpPr>
          <p:cNvPr id="15" name="Text 11"/>
          <p:cNvSpPr/>
          <p:nvPr/>
        </p:nvSpPr>
        <p:spPr>
          <a:xfrm>
            <a:off x="393192" y="248716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par groupe (Médecins, Infirmiers, Admins et Administration)</a:t>
            </a:r>
            <a:endParaRPr lang="fr-FR" sz="1000" noProof="0" dirty="0"/>
          </a:p>
        </p:txBody>
      </p:sp>
      <p:sp>
        <p:nvSpPr>
          <p:cNvPr id="16" name="Text 12"/>
          <p:cNvSpPr/>
          <p:nvPr/>
        </p:nvSpPr>
        <p:spPr>
          <a:xfrm>
            <a:off x="393192" y="271576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lecture/écriture selon le groupe</a:t>
            </a:r>
            <a:endParaRPr lang="fr-FR" sz="1000" noProof="0" dirty="0"/>
          </a:p>
        </p:txBody>
      </p:sp>
      <p:sp>
        <p:nvSpPr>
          <p:cNvPr id="17" name="Text 13"/>
          <p:cNvSpPr/>
          <p:nvPr/>
        </p:nvSpPr>
        <p:spPr>
          <a:xfrm>
            <a:off x="393192" y="294436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génériques interdits</a:t>
            </a:r>
            <a:endParaRPr lang="fr-FR" sz="1000" noProof="0" dirty="0"/>
          </a:p>
        </p:txBody>
      </p:sp>
      <p:sp>
        <p:nvSpPr>
          <p:cNvPr id="18" name="Shape 14"/>
          <p:cNvSpPr/>
          <p:nvPr/>
        </p:nvSpPr>
        <p:spPr>
          <a:xfrm>
            <a:off x="4690872" y="1664208"/>
            <a:ext cx="4206240" cy="1554480"/>
          </a:xfrm>
          <a:prstGeom prst="roundRect">
            <a:avLst>
              <a:gd name="adj" fmla="val 7059"/>
            </a:avLst>
          </a:prstGeom>
          <a:solidFill>
            <a:srgbClr val="F0FDF4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1792224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49240" y="18105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&amp; Protocoles</a:t>
            </a:r>
            <a:endParaRPr lang="fr-FR" sz="1200" noProof="0" dirty="0"/>
          </a:p>
        </p:txBody>
      </p:sp>
      <p:sp>
        <p:nvSpPr>
          <p:cNvPr id="21" name="Text 16"/>
          <p:cNvSpPr/>
          <p:nvPr/>
        </p:nvSpPr>
        <p:spPr>
          <a:xfrm>
            <a:off x="4855464" y="225856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3.0 avec chiffrement activé</a:t>
            </a:r>
            <a:endParaRPr lang="fr-FR" sz="1000" noProof="0" dirty="0"/>
          </a:p>
        </p:txBody>
      </p:sp>
      <p:sp>
        <p:nvSpPr>
          <p:cNvPr id="22" name="Text 17"/>
          <p:cNvSpPr/>
          <p:nvPr/>
        </p:nvSpPr>
        <p:spPr>
          <a:xfrm>
            <a:off x="4855464" y="248716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SMBv1 désactivé (vulnérable)</a:t>
            </a:r>
            <a:endParaRPr lang="fr-FR" sz="1000" noProof="0" dirty="0"/>
          </a:p>
        </p:txBody>
      </p:sp>
      <p:sp>
        <p:nvSpPr>
          <p:cNvPr id="23" name="Text 18"/>
          <p:cNvSpPr/>
          <p:nvPr/>
        </p:nvSpPr>
        <p:spPr>
          <a:xfrm>
            <a:off x="4855464" y="271576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LLMNR désactivé</a:t>
            </a:r>
            <a:endParaRPr lang="fr-FR" sz="1000" noProof="0" dirty="0"/>
          </a:p>
        </p:txBody>
      </p:sp>
      <p:sp>
        <p:nvSpPr>
          <p:cNvPr id="25" name="Shape 20"/>
          <p:cNvSpPr/>
          <p:nvPr/>
        </p:nvSpPr>
        <p:spPr>
          <a:xfrm>
            <a:off x="228600" y="3355848"/>
            <a:ext cx="4206240" cy="155448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3483864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86968" y="35021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Partages configurés</a:t>
            </a:r>
            <a:endParaRPr lang="fr-FR" sz="1200" noProof="0" dirty="0"/>
          </a:p>
        </p:txBody>
      </p:sp>
      <p:sp>
        <p:nvSpPr>
          <p:cNvPr id="28" name="Text 22"/>
          <p:cNvSpPr/>
          <p:nvPr/>
        </p:nvSpPr>
        <p:spPr>
          <a:xfrm>
            <a:off x="393192" y="395020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\patients — accès médical (MEDECINS)</a:t>
            </a:r>
            <a:endParaRPr lang="fr-FR" sz="1000" noProof="0" dirty="0"/>
          </a:p>
        </p:txBody>
      </p:sp>
      <p:sp>
        <p:nvSpPr>
          <p:cNvPr id="29" name="Text 23"/>
          <p:cNvSpPr/>
          <p:nvPr/>
        </p:nvSpPr>
        <p:spPr>
          <a:xfrm>
            <a:off x="393192" y="417880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</a:t>
            </a:r>
            <a:r>
              <a:rPr lang="fr-FR" sz="1000" noProof="0" dirty="0" err="1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équipe IT uniquement (IT)</a:t>
            </a:r>
          </a:p>
        </p:txBody>
      </p:sp>
      <p:sp>
        <p:nvSpPr>
          <p:cNvPr id="32" name="Shape 26"/>
          <p:cNvSpPr/>
          <p:nvPr/>
        </p:nvSpPr>
        <p:spPr>
          <a:xfrm>
            <a:off x="4690872" y="3355848"/>
            <a:ext cx="4206240" cy="1554480"/>
          </a:xfrm>
          <a:prstGeom prst="roundRect">
            <a:avLst>
              <a:gd name="adj" fmla="val 7059"/>
            </a:avLst>
          </a:prstGeom>
          <a:solidFill>
            <a:srgbClr val="EFF6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464" y="3483864"/>
            <a:ext cx="384048" cy="38404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349240" y="35021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&amp; Traçabilité</a:t>
            </a:r>
            <a:endParaRPr lang="fr-FR" sz="1200" noProof="0" dirty="0"/>
          </a:p>
        </p:txBody>
      </p:sp>
      <p:sp>
        <p:nvSpPr>
          <p:cNvPr id="35" name="Text 28"/>
          <p:cNvSpPr/>
          <p:nvPr/>
        </p:nvSpPr>
        <p:spPr>
          <a:xfrm>
            <a:off x="4855464" y="395020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accès fichiers → SIEM </a:t>
            </a:r>
            <a:r>
              <a:rPr lang="fr-FR" sz="1000" noProof="0" dirty="0" err="1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</a:t>
            </a:r>
            <a:endParaRPr lang="fr-FR" sz="1000" noProof="0" dirty="0"/>
          </a:p>
        </p:txBody>
      </p:sp>
      <p:sp>
        <p:nvSpPr>
          <p:cNvPr id="37" name="Text 30"/>
          <p:cNvSpPr/>
          <p:nvPr/>
        </p:nvSpPr>
        <p:spPr>
          <a:xfrm>
            <a:off x="4855464" y="4183664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Zabbix : CPU, disque, dispo</a:t>
            </a:r>
            <a:endParaRPr lang="fr-FR" sz="1000" noProof="0" dirty="0"/>
          </a:p>
        </p:txBody>
      </p:sp>
      <p:sp>
        <p:nvSpPr>
          <p:cNvPr id="38" name="Text 31"/>
          <p:cNvSpPr/>
          <p:nvPr/>
        </p:nvSpPr>
        <p:spPr>
          <a:xfrm>
            <a:off x="4855464" y="4412264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sur accès anormaux</a:t>
            </a:r>
            <a:endParaRPr lang="fr-FR" sz="1000" noProof="0" dirty="0"/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3FB83C6F-74CA-2893-9610-2B0DAEAA14E9}"/>
              </a:ext>
            </a:extLst>
          </p:cNvPr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de fichiers – Samba</a:t>
            </a:r>
            <a:endParaRPr lang="fr-FR" sz="2200" noProof="0" dirty="0"/>
          </a:p>
        </p:txBody>
      </p:sp>
      <p:sp>
        <p:nvSpPr>
          <p:cNvPr id="40" name="Text 23">
            <a:extLst>
              <a:ext uri="{FF2B5EF4-FFF2-40B4-BE49-F238E27FC236}">
                <a16:creationId xmlns:a16="http://schemas.microsoft.com/office/drawing/2014/main" id="{53987C1A-EFAE-FD55-CA06-FED3BC965867}"/>
              </a:ext>
            </a:extLst>
          </p:cNvPr>
          <p:cNvSpPr/>
          <p:nvPr/>
        </p:nvSpPr>
        <p:spPr>
          <a:xfrm>
            <a:off x="393192" y="440902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\administratif — équipe administration (ADMINISTRATIF)</a:t>
            </a:r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39593B4D-B2A7-01F7-CB41-129DDA8BAE31}"/>
              </a:ext>
            </a:extLst>
          </p:cNvPr>
          <p:cNvSpPr/>
          <p:nvPr/>
        </p:nvSpPr>
        <p:spPr>
          <a:xfrm>
            <a:off x="393192" y="4632763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\infirmiers — équipe soignants (INFIRMIERS)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&amp; Plan de Reprise d'Activité</a:t>
            </a:r>
            <a:endParaRPr lang="fr-F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4114800" cy="2103120"/>
          </a:xfrm>
          <a:prstGeom prst="roundRect">
            <a:avLst>
              <a:gd name="adj" fmla="val 5217"/>
            </a:avLst>
          </a:prstGeom>
          <a:solidFill>
            <a:srgbClr val="EEF4F7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0700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20700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 err="1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Restic</a:t>
            </a:r>
            <a:r>
              <a:rPr lang="fr-FR" sz="14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Sauvegarde</a:t>
            </a:r>
            <a:endParaRPr lang="fr-FR" sz="1400" noProof="0" dirty="0"/>
          </a:p>
        </p:txBody>
      </p:sp>
      <p:sp>
        <p:nvSpPr>
          <p:cNvPr id="7" name="Text 4"/>
          <p:cNvSpPr/>
          <p:nvPr/>
        </p:nvSpPr>
        <p:spPr>
          <a:xfrm>
            <a:off x="365760" y="16916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natif AES-256</a:t>
            </a:r>
            <a:endParaRPr lang="fr-FR" sz="1100" noProof="0" dirty="0"/>
          </a:p>
        </p:txBody>
      </p:sp>
      <p:sp>
        <p:nvSpPr>
          <p:cNvPr id="8" name="Text 5"/>
          <p:cNvSpPr/>
          <p:nvPr/>
        </p:nvSpPr>
        <p:spPr>
          <a:xfrm>
            <a:off x="365760" y="19659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incrémentales chaque soir (22h)</a:t>
            </a:r>
            <a:endParaRPr lang="fr-FR" sz="1100" noProof="0" dirty="0"/>
          </a:p>
        </p:txBody>
      </p:sp>
      <p:sp>
        <p:nvSpPr>
          <p:cNvPr id="9" name="Text 6"/>
          <p:cNvSpPr/>
          <p:nvPr/>
        </p:nvSpPr>
        <p:spPr>
          <a:xfrm>
            <a:off x="365760" y="22402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3-2-1 (3 copies, 2 supports, 1 isolée)</a:t>
            </a:r>
            <a:endParaRPr lang="fr-FR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365760" y="2514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BACKUP isolée des autres zones</a:t>
            </a:r>
            <a:endParaRPr lang="fr-FR" sz="1100" noProof="0" dirty="0"/>
          </a:p>
        </p:txBody>
      </p:sp>
      <p:sp>
        <p:nvSpPr>
          <p:cNvPr id="11" name="Text 8"/>
          <p:cNvSpPr/>
          <p:nvPr/>
        </p:nvSpPr>
        <p:spPr>
          <a:xfrm>
            <a:off x="365760" y="2788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1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d'intégrité hebdomadaire</a:t>
            </a:r>
            <a:endParaRPr lang="fr-FR" sz="1100" noProof="0" dirty="0"/>
          </a:p>
        </p:txBody>
      </p:sp>
      <p:sp>
        <p:nvSpPr>
          <p:cNvPr id="12" name="Text 9"/>
          <p:cNvSpPr/>
          <p:nvPr/>
        </p:nvSpPr>
        <p:spPr>
          <a:xfrm>
            <a:off x="4572000" y="10972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de reprise (PRA)</a:t>
            </a:r>
            <a:endParaRPr lang="fr-FR" sz="1400" noProof="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622840"/>
              </p:ext>
            </p:extLst>
          </p:nvPr>
        </p:nvGraphicFramePr>
        <p:xfrm>
          <a:off x="4572000" y="1508760"/>
          <a:ext cx="4343400" cy="34747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fr-FR" sz="1000" noProof="0" dirty="0"/>
                    </a:p>
                  </a:txBody>
                  <a:tcPr>
                    <a:lnL w="0" cap="flat" cmpd="sng" algn="ctr">
                      <a:solidFill>
                        <a:srgbClr val="0D7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7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7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7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FFFFFF"/>
                          </a:solidFill>
                        </a:rPr>
                        <a:t>RTO</a:t>
                      </a:r>
                      <a:endParaRPr lang="fr-FR" sz="1000" noProof="0" dirty="0"/>
                    </a:p>
                  </a:txBody>
                  <a:tcPr>
                    <a:lnL w="0" cap="flat" cmpd="sng" algn="ctr">
                      <a:solidFill>
                        <a:srgbClr val="0D7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7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7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7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FFFFFF"/>
                          </a:solidFill>
                        </a:rPr>
                        <a:t>RPO</a:t>
                      </a:r>
                      <a:endParaRPr lang="fr-FR" sz="1000" noProof="0" dirty="0"/>
                    </a:p>
                  </a:txBody>
                  <a:tcPr>
                    <a:lnL w="0" cap="flat" cmpd="sng" algn="ctr">
                      <a:solidFill>
                        <a:srgbClr val="0D7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7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7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7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FFFFFF"/>
                          </a:solidFill>
                        </a:rPr>
                        <a:t>Prio</a:t>
                      </a:r>
                      <a:endParaRPr lang="fr-FR" sz="1000" noProof="0" dirty="0"/>
                    </a:p>
                  </a:txBody>
                  <a:tcPr>
                    <a:lnL w="0" cap="flat" cmpd="sng" algn="ctr">
                      <a:solidFill>
                        <a:srgbClr val="0D7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D7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D7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D7B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418072"/>
              </p:ext>
            </p:extLst>
          </p:nvPr>
        </p:nvGraphicFramePr>
        <p:xfrm>
          <a:off x="4572000" y="1901952"/>
          <a:ext cx="4343400" cy="3657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1A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Dossiers patients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 min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0D7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1h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50552"/>
              </p:ext>
            </p:extLst>
          </p:nvPr>
        </p:nvGraphicFramePr>
        <p:xfrm>
          <a:off x="4572000" y="2304288"/>
          <a:ext cx="4343400" cy="3657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1A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Directory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1h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0D7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4h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559346"/>
              </p:ext>
            </p:extLst>
          </p:nvPr>
        </p:nvGraphicFramePr>
        <p:xfrm>
          <a:off x="4572000" y="2706624"/>
          <a:ext cx="4343400" cy="3657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 err="1">
                          <a:solidFill>
                            <a:srgbClr val="1A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pfSense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1h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0D7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859978"/>
              </p:ext>
            </p:extLst>
          </p:nvPr>
        </p:nvGraphicFramePr>
        <p:xfrm>
          <a:off x="4572000" y="3108960"/>
          <a:ext cx="4343400" cy="3657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1A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 / Supervision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4h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0D7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24h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Shape 10"/>
          <p:cNvSpPr/>
          <p:nvPr/>
        </p:nvSpPr>
        <p:spPr>
          <a:xfrm>
            <a:off x="228600" y="3337560"/>
            <a:ext cx="8686800" cy="1508760"/>
          </a:xfrm>
          <a:prstGeom prst="roundRect">
            <a:avLst>
              <a:gd name="adj" fmla="val 7273"/>
            </a:avLst>
          </a:prstGeom>
          <a:solidFill>
            <a:srgbClr val="F0FDF4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1"/>
          <p:cNvSpPr/>
          <p:nvPr/>
        </p:nvSpPr>
        <p:spPr>
          <a:xfrm>
            <a:off x="41148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de rétention</a:t>
            </a:r>
            <a:endParaRPr lang="fr-FR" sz="1200" noProof="0" dirty="0"/>
          </a:p>
        </p:txBody>
      </p:sp>
      <p:sp>
        <p:nvSpPr>
          <p:cNvPr id="20" name="Text 12"/>
          <p:cNvSpPr/>
          <p:nvPr/>
        </p:nvSpPr>
        <p:spPr>
          <a:xfrm>
            <a:off x="411480" y="379476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semaines journalières   |   3 mois hebdomadaires   |   1 an mensuelles   |   Tests de restauration réguliers dans l'environnement virtuel</a:t>
            </a:r>
            <a:endParaRPr lang="fr-FR" sz="12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réglementaire</a:t>
            </a:r>
            <a:endParaRPr lang="fr-FR" sz="24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EFF6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6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</a:t>
            </a:r>
            <a:endParaRPr lang="fr-FR" sz="1600" noProof="0" dirty="0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de santé = catégorie particulière (Art. 9)</a:t>
            </a:r>
            <a:endParaRPr lang="fr-FR" sz="1000" noProof="0" dirty="0"/>
          </a:p>
        </p:txBody>
      </p:sp>
      <p:sp>
        <p:nvSpPr>
          <p:cNvPr id="7" name="Text 5"/>
          <p:cNvSpPr/>
          <p:nvPr/>
        </p:nvSpPr>
        <p:spPr>
          <a:xfrm>
            <a:off x="411480" y="19385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désigné</a:t>
            </a:r>
            <a:endParaRPr lang="fr-FR" sz="1000" noProof="0" dirty="0"/>
          </a:p>
        </p:txBody>
      </p:sp>
      <p:sp>
        <p:nvSpPr>
          <p:cNvPr id="8" name="Text 6"/>
          <p:cNvSpPr/>
          <p:nvPr/>
        </p:nvSpPr>
        <p:spPr>
          <a:xfrm>
            <a:off x="411480" y="22311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CNIL sous 72h</a:t>
            </a:r>
            <a:endParaRPr lang="fr-FR" sz="1000" noProof="0" dirty="0"/>
          </a:p>
        </p:txBody>
      </p:sp>
      <p:sp>
        <p:nvSpPr>
          <p:cNvPr id="9" name="Text 7"/>
          <p:cNvSpPr/>
          <p:nvPr/>
        </p:nvSpPr>
        <p:spPr>
          <a:xfrm>
            <a:off x="411480" y="25237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dossiers : 20 ans (Art. R1112-7 CSP)</a:t>
            </a:r>
            <a:endParaRPr lang="fr-FR" sz="1000" noProof="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0FDF4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6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NIS2</a:t>
            </a:r>
            <a:endParaRPr lang="fr-FR" sz="1600" noProof="0" dirty="0"/>
          </a:p>
        </p:txBody>
      </p:sp>
      <p:sp>
        <p:nvSpPr>
          <p:cNvPr id="12" name="Text 10"/>
          <p:cNvSpPr/>
          <p:nvPr/>
        </p:nvSpPr>
        <p:spPr>
          <a:xfrm>
            <a:off x="4846320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 essentielle — secteur santé</a:t>
            </a:r>
            <a:endParaRPr lang="fr-FR" sz="1000" noProof="0" dirty="0"/>
          </a:p>
        </p:txBody>
      </p:sp>
      <p:sp>
        <p:nvSpPr>
          <p:cNvPr id="13" name="Text 11"/>
          <p:cNvSpPr/>
          <p:nvPr/>
        </p:nvSpPr>
        <p:spPr>
          <a:xfrm>
            <a:off x="4846320" y="19385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risques documentée</a:t>
            </a:r>
            <a:endParaRPr lang="fr-FR" sz="1000" noProof="0" dirty="0"/>
          </a:p>
        </p:txBody>
      </p:sp>
      <p:sp>
        <p:nvSpPr>
          <p:cNvPr id="14" name="Text 12"/>
          <p:cNvSpPr/>
          <p:nvPr/>
        </p:nvSpPr>
        <p:spPr>
          <a:xfrm>
            <a:off x="4846320" y="22311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incidents : 24h (alerte) / 72h (rapport)</a:t>
            </a:r>
            <a:endParaRPr lang="fr-FR" sz="1000" noProof="0" dirty="0"/>
          </a:p>
        </p:txBody>
      </p:sp>
      <p:sp>
        <p:nvSpPr>
          <p:cNvPr id="15" name="Text 13"/>
          <p:cNvSpPr/>
          <p:nvPr/>
        </p:nvSpPr>
        <p:spPr>
          <a:xfrm>
            <a:off x="4846320" y="25237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Sécurisation chaîne d'approvisionnement</a:t>
            </a:r>
            <a:endParaRPr lang="fr-FR" sz="1000" noProof="0" dirty="0"/>
          </a:p>
        </p:txBody>
      </p:sp>
      <p:sp>
        <p:nvSpPr>
          <p:cNvPr id="16" name="Shape 14"/>
          <p:cNvSpPr/>
          <p:nvPr/>
        </p:nvSpPr>
        <p:spPr>
          <a:xfrm>
            <a:off x="228600" y="306324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EF3C7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/>
          <p:cNvSpPr/>
          <p:nvPr/>
        </p:nvSpPr>
        <p:spPr>
          <a:xfrm>
            <a:off x="411480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6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HDS</a:t>
            </a:r>
            <a:endParaRPr lang="fr-FR" sz="1600" noProof="0" dirty="0"/>
          </a:p>
        </p:txBody>
      </p:sp>
      <p:sp>
        <p:nvSpPr>
          <p:cNvPr id="19" name="Text 17"/>
          <p:cNvSpPr/>
          <p:nvPr/>
        </p:nvSpPr>
        <p:spPr>
          <a:xfrm>
            <a:off x="411480" y="3551691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des accès aux données patients</a:t>
            </a:r>
            <a:endParaRPr lang="fr-FR" sz="1000" noProof="0" dirty="0"/>
          </a:p>
        </p:txBody>
      </p:sp>
      <p:sp>
        <p:nvSpPr>
          <p:cNvPr id="20" name="Text 18"/>
          <p:cNvSpPr/>
          <p:nvPr/>
        </p:nvSpPr>
        <p:spPr>
          <a:xfrm>
            <a:off x="411480" y="3844299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de déchiffrement en coffre-fort physique</a:t>
            </a:r>
            <a:endParaRPr lang="fr-FR" sz="1000" noProof="0" dirty="0"/>
          </a:p>
        </p:txBody>
      </p:sp>
      <p:sp>
        <p:nvSpPr>
          <p:cNvPr id="21" name="Text 19"/>
          <p:cNvSpPr/>
          <p:nvPr/>
        </p:nvSpPr>
        <p:spPr>
          <a:xfrm>
            <a:off x="411480" y="4136907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sécurisées et testées</a:t>
            </a:r>
            <a:endParaRPr lang="fr-FR" sz="1000" noProof="0" dirty="0"/>
          </a:p>
        </p:txBody>
      </p:sp>
      <p:sp>
        <p:nvSpPr>
          <p:cNvPr id="22" name="Shape 20"/>
          <p:cNvSpPr/>
          <p:nvPr/>
        </p:nvSpPr>
        <p:spPr>
          <a:xfrm>
            <a:off x="4663440" y="306324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EFF6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21"/>
          <p:cNvSpPr/>
          <p:nvPr/>
        </p:nvSpPr>
        <p:spPr>
          <a:xfrm>
            <a:off x="4846320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600" b="1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fr-FR" sz="1600" noProof="0" dirty="0"/>
          </a:p>
        </p:txBody>
      </p:sp>
      <p:sp>
        <p:nvSpPr>
          <p:cNvPr id="24" name="Text 22"/>
          <p:cNvSpPr/>
          <p:nvPr/>
        </p:nvSpPr>
        <p:spPr>
          <a:xfrm>
            <a:off x="4846320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A.5.15 — Contrôle d'accès RBAC via AD</a:t>
            </a:r>
            <a:endParaRPr lang="fr-FR" sz="1000" noProof="0" dirty="0"/>
          </a:p>
        </p:txBody>
      </p:sp>
      <p:sp>
        <p:nvSpPr>
          <p:cNvPr id="25" name="Text 23"/>
          <p:cNvSpPr/>
          <p:nvPr/>
        </p:nvSpPr>
        <p:spPr>
          <a:xfrm>
            <a:off x="4846320" y="38587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A.8.16 — Centralisation logs SIEM</a:t>
            </a:r>
            <a:endParaRPr lang="fr-FR" sz="1000" noProof="0" dirty="0"/>
          </a:p>
        </p:txBody>
      </p:sp>
      <p:sp>
        <p:nvSpPr>
          <p:cNvPr id="26" name="Text 24"/>
          <p:cNvSpPr/>
          <p:nvPr/>
        </p:nvSpPr>
        <p:spPr>
          <a:xfrm>
            <a:off x="4846320" y="41513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A.8.20 — Filtrage </a:t>
            </a:r>
            <a:r>
              <a:rPr lang="fr-FR" sz="1000" noProof="0" dirty="0" err="1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</a:t>
            </a: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VPN</a:t>
            </a:r>
            <a:endParaRPr lang="fr-FR" sz="1000" noProof="0" dirty="0"/>
          </a:p>
        </p:txBody>
      </p:sp>
      <p:sp>
        <p:nvSpPr>
          <p:cNvPr id="27" name="Text 25"/>
          <p:cNvSpPr/>
          <p:nvPr/>
        </p:nvSpPr>
        <p:spPr>
          <a:xfrm>
            <a:off x="4846320" y="44439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fr-FR" sz="1000" noProof="0" dirty="0">
                <a:solidFill>
                  <a:srgbClr val="1A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A.8.13 — Sauvegardes 3-2-1 + tests</a:t>
            </a:r>
            <a:endParaRPr lang="fr-FR" sz="10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D7B8A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Conclusion</a:t>
            </a:r>
            <a:endParaRPr lang="fr-FR" sz="2600" noProof="0" dirty="0"/>
          </a:p>
        </p:txBody>
      </p:sp>
      <p:sp>
        <p:nvSpPr>
          <p:cNvPr id="5" name="Text 2"/>
          <p:cNvSpPr/>
          <p:nvPr/>
        </p:nvSpPr>
        <p:spPr>
          <a:xfrm>
            <a:off x="1554480" y="822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avons mis en place</a:t>
            </a:r>
            <a:endParaRPr lang="fr-FR" sz="1300" noProof="0" dirty="0"/>
          </a:p>
        </p:txBody>
      </p:sp>
      <p:sp>
        <p:nvSpPr>
          <p:cNvPr id="6" name="Shape 3"/>
          <p:cNvSpPr/>
          <p:nvPr/>
        </p:nvSpPr>
        <p:spPr>
          <a:xfrm>
            <a:off x="274320" y="1508760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72344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62763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157276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d'attaque réduite — segmentation 4 zones + </a:t>
            </a:r>
            <a:r>
              <a:rPr lang="fr-FR" sz="1200" noProof="0" dirty="0" err="1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r>
              <a:rPr lang="fr-FR" sz="12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default</a:t>
            </a:r>
            <a:endParaRPr lang="fr-FR" sz="1200" noProof="0" dirty="0"/>
          </a:p>
        </p:txBody>
      </p:sp>
      <p:sp>
        <p:nvSpPr>
          <p:cNvPr id="9" name="Shape 5"/>
          <p:cNvSpPr/>
          <p:nvPr/>
        </p:nvSpPr>
        <p:spPr>
          <a:xfrm>
            <a:off x="274320" y="2167128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72344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28600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223113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latérale bloquée — cloisonnement réseau strict</a:t>
            </a:r>
            <a:endParaRPr lang="fr-FR" sz="1200" noProof="0" dirty="0"/>
          </a:p>
        </p:txBody>
      </p:sp>
      <p:sp>
        <p:nvSpPr>
          <p:cNvPr id="12" name="Shape 7"/>
          <p:cNvSpPr/>
          <p:nvPr/>
        </p:nvSpPr>
        <p:spPr>
          <a:xfrm>
            <a:off x="274320" y="2825496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72344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944368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2889504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temps réel — SIEM </a:t>
            </a:r>
            <a:r>
              <a:rPr lang="fr-FR" sz="1200" noProof="0" dirty="0" err="1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</a:t>
            </a:r>
            <a:r>
              <a:rPr lang="fr-FR" sz="12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monitoring Zabbix + IDS </a:t>
            </a:r>
            <a:r>
              <a:rPr lang="fr-FR" sz="1200" noProof="0" dirty="0" err="1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</a:t>
            </a:r>
            <a:endParaRPr lang="fr-FR" sz="1200" noProof="0" dirty="0"/>
          </a:p>
        </p:txBody>
      </p:sp>
      <p:sp>
        <p:nvSpPr>
          <p:cNvPr id="15" name="Shape 9"/>
          <p:cNvSpPr/>
          <p:nvPr/>
        </p:nvSpPr>
        <p:spPr>
          <a:xfrm>
            <a:off x="274320" y="3483864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72344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602736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77240" y="354787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de santé protégées — chiffrement AES-256 + traçabilité AD</a:t>
            </a:r>
            <a:endParaRPr lang="fr-FR" sz="1200" noProof="0" dirty="0"/>
          </a:p>
        </p:txBody>
      </p:sp>
      <p:sp>
        <p:nvSpPr>
          <p:cNvPr id="18" name="Shape 11"/>
          <p:cNvSpPr/>
          <p:nvPr/>
        </p:nvSpPr>
        <p:spPr>
          <a:xfrm>
            <a:off x="274320" y="4142232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72344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4261104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77240" y="42062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 garantie — </a:t>
            </a:r>
            <a:r>
              <a:rPr lang="fr-FR" sz="1200" noProof="0" dirty="0" err="1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Restic</a:t>
            </a:r>
            <a:r>
              <a:rPr lang="fr-FR" sz="1200" noProof="0" dirty="0">
                <a:solidFill>
                  <a:srgbClr val="C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PRA testé (RTO &lt; 30 min dossiers patients)</a:t>
            </a:r>
            <a:endParaRPr lang="fr-FR" sz="12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52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5720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3600" b="1" kern="0" spc="8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fr-FR" sz="3600" noProof="0" dirty="0"/>
          </a:p>
        </p:txBody>
      </p:sp>
      <p:sp>
        <p:nvSpPr>
          <p:cNvPr id="5" name="Text 2"/>
          <p:cNvSpPr/>
          <p:nvPr/>
        </p:nvSpPr>
        <p:spPr>
          <a:xfrm>
            <a:off x="457200" y="4160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fr-FR" sz="1300" noProof="0" dirty="0" err="1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</a:t>
            </a:r>
            <a:r>
              <a:rPr lang="fr-FR" sz="1300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Règles de filtrage &amp; VPN</a:t>
            </a:r>
            <a:endParaRPr lang="fr-FR" sz="1300" noProof="0" dirty="0"/>
          </a:p>
        </p:txBody>
      </p:sp>
      <p:sp>
        <p:nvSpPr>
          <p:cNvPr id="6" name="Text 3"/>
          <p:cNvSpPr/>
          <p:nvPr/>
        </p:nvSpPr>
        <p:spPr>
          <a:xfrm>
            <a:off x="4846320" y="4160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fr-FR" sz="1300" noProof="0" dirty="0" err="1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</a:t>
            </a:r>
            <a:r>
              <a:rPr lang="fr-FR" sz="1300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Détection d'alertes</a:t>
            </a:r>
            <a:endParaRPr lang="fr-FR" sz="1300" noProof="0" dirty="0"/>
          </a:p>
        </p:txBody>
      </p:sp>
      <p:sp>
        <p:nvSpPr>
          <p:cNvPr id="7" name="Text 4"/>
          <p:cNvSpPr/>
          <p:nvPr/>
        </p:nvSpPr>
        <p:spPr>
          <a:xfrm>
            <a:off x="457200" y="4599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 — GPO &amp; gestion des droits</a:t>
            </a:r>
            <a:endParaRPr lang="fr-FR" sz="1300" noProof="0" dirty="0"/>
          </a:p>
        </p:txBody>
      </p:sp>
      <p:sp>
        <p:nvSpPr>
          <p:cNvPr id="8" name="Text 5"/>
          <p:cNvSpPr/>
          <p:nvPr/>
        </p:nvSpPr>
        <p:spPr>
          <a:xfrm>
            <a:off x="4846320" y="4599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fr-FR" sz="1300" noProof="0" dirty="0" err="1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Restic</a:t>
            </a:r>
            <a:r>
              <a:rPr lang="fr-FR" sz="1300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Sauvegarde &amp; restauration</a:t>
            </a:r>
            <a:endParaRPr lang="fr-FR" sz="13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000468DD3AD54A92290AB7F5B23909" ma:contentTypeVersion="11" ma:contentTypeDescription="Crée un document." ma:contentTypeScope="" ma:versionID="26e52b260154502593cf6322603db5c5">
  <xsd:schema xmlns:xsd="http://www.w3.org/2001/XMLSchema" xmlns:xs="http://www.w3.org/2001/XMLSchema" xmlns:p="http://schemas.microsoft.com/office/2006/metadata/properties" xmlns:ns2="d1b3fcd5-9573-4829-9b04-c6a4aff90750" xmlns:ns3="def149ab-2f2b-46c2-821b-8eb17c9304c0" targetNamespace="http://schemas.microsoft.com/office/2006/metadata/properties" ma:root="true" ma:fieldsID="1650c7bbe100ec0620f9c04816f7cc67" ns2:_="" ns3:_="">
    <xsd:import namespace="d1b3fcd5-9573-4829-9b04-c6a4aff90750"/>
    <xsd:import namespace="def149ab-2f2b-46c2-821b-8eb17c9304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b3fcd5-9573-4829-9b04-c6a4aff907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df809d85-0f24-42ce-a366-0efc0a589b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f149ab-2f2b-46c2-821b-8eb17c9304c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c975a96-67dd-4bd0-966e-03ca849e85aa}" ma:internalName="TaxCatchAll" ma:showField="CatchAllData" ma:web="def149ab-2f2b-46c2-821b-8eb17c9304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f149ab-2f2b-46c2-821b-8eb17c9304c0" xsi:nil="true"/>
    <lcf76f155ced4ddcb4097134ff3c332f xmlns="d1b3fcd5-9573-4829-9b04-c6a4aff90750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BE97C8-093F-4C84-BCC8-3844939698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b3fcd5-9573-4829-9b04-c6a4aff90750"/>
    <ds:schemaRef ds:uri="def149ab-2f2b-46c2-821b-8eb17c9304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D638743-F0B9-43EE-B4A9-986FE5AD3197}">
  <ds:schemaRefs>
    <ds:schemaRef ds:uri="http://purl.org/dc/terms/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2006/documentManagement/types"/>
    <ds:schemaRef ds:uri="http://purl.org/dc/dcmitype/"/>
    <ds:schemaRef ds:uri="d1b3fcd5-9573-4829-9b04-c6a4aff90750"/>
    <ds:schemaRef ds:uri="http://schemas.microsoft.com/office/infopath/2007/PartnerControls"/>
    <ds:schemaRef ds:uri="def149ab-2f2b-46c2-821b-8eb17c9304c0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E134D991-EBB5-4581-953E-06547075416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1181</Words>
  <Application>Microsoft Office PowerPoint</Application>
  <PresentationFormat>Affichage à l'écran (16:9)</PresentationFormat>
  <Paragraphs>241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Sécurisation SI Hospitalier - M1 CSM 2025/2026</dc:title>
  <dc:subject>PptxGenJS Presentation</dc:subject>
  <dc:creator>PptxGenJS</dc:creator>
  <cp:lastModifiedBy>Ludivine Perrier-Babin</cp:lastModifiedBy>
  <cp:revision>3</cp:revision>
  <dcterms:created xsi:type="dcterms:W3CDTF">2026-06-25T08:34:22Z</dcterms:created>
  <dcterms:modified xsi:type="dcterms:W3CDTF">2026-06-25T12:26:24Z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0x0101006E000468DD3AD54A92290AB7F5B23909</vt:lpwstr>
  </property>
  <property fmtid="{D5CDD505-2E9C-101B-9397-08002B2CF9AE}" pid="3" name="MediaServiceImageTags">
    <vt:lpwstr/>
  </property>
  <property fmtid="{D5CDD505-2E9C-101B-9397-08002B2CF9AE}" pid="4" name="MSIP_Label_47e7dfc5-2bf4-4a75-8664-2dc4b3bb1d09_Method">
    <vt:lpwstr>Standard</vt:lpwstr>
  </property>
  <property fmtid="{D5CDD505-2E9C-101B-9397-08002B2CF9AE}" pid="5" name="MSIP_Label_47e7dfc5-2bf4-4a75-8664-2dc4b3bb1d09_ContentBits">
    <vt:lpwstr>0</vt:lpwstr>
  </property>
  <property fmtid="{D5CDD505-2E9C-101B-9397-08002B2CF9AE}" pid="6" name="MSIP_Label_47e7dfc5-2bf4-4a75-8664-2dc4b3bb1d09_Tag">
    <vt:lpwstr>10, 3, 0, 2</vt:lpwstr>
  </property>
  <property fmtid="{D5CDD505-2E9C-101B-9397-08002B2CF9AE}" pid="7" name="MSIP_Label_47e7dfc5-2bf4-4a75-8664-2dc4b3bb1d09_Enabled">
    <vt:lpwstr>true</vt:lpwstr>
  </property>
  <property fmtid="{D5CDD505-2E9C-101B-9397-08002B2CF9AE}" pid="8" name="MSIP_Label_47e7dfc5-2bf4-4a75-8664-2dc4b3bb1d09_SetDate">
    <vt:lpwstr>2026-06-25T12:00:34Z</vt:lpwstr>
  </property>
  <property fmtid="{D5CDD505-2E9C-101B-9397-08002B2CF9AE}" pid="9" name="MSIP_Label_47e7dfc5-2bf4-4a75-8664-2dc4b3bb1d09_Name">
    <vt:lpwstr>defa4170-0d19-0005-0004-bc88714345d2</vt:lpwstr>
  </property>
  <property fmtid="{D5CDD505-2E9C-101B-9397-08002B2CF9AE}" pid="10" name="MSIP_Label_47e7dfc5-2bf4-4a75-8664-2dc4b3bb1d09_SiteId">
    <vt:lpwstr>413600cf-bd4e-4c7c-8a61-69e73cddf731</vt:lpwstr>
  </property>
  <property fmtid="{D5CDD505-2E9C-101B-9397-08002B2CF9AE}" pid="11" name="MSIP_Label_47e7dfc5-2bf4-4a75-8664-2dc4b3bb1d09_ActionId">
    <vt:lpwstr>10120b11-1f30-40ce-b6e3-1ca35bb80132</vt:lpwstr>
  </property>
</Properties>
</file>