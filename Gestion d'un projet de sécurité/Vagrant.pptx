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60" r:id="rId5"/>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hPsFaTM6ZC0gaO8AbAYmRrsBmvd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customschemas.google.com/relationships/presentationmetadata" Target="meta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hna BENHAMOUCHE" userId="S::lehna.benhamouche@efrei.net::e55c1922-61f9-4c8e-9379-0cce9c2a89cd" providerId="AD" clId="Web-{697AA20E-4151-24BA-4070-879B6C2C27AD}"/>
    <pc:docChg chg="mod">
      <pc:chgData name="Lehna BENHAMOUCHE" userId="S::lehna.benhamouche@efrei.net::e55c1922-61f9-4c8e-9379-0cce9c2a89cd" providerId="AD" clId="Web-{697AA20E-4151-24BA-4070-879B6C2C27AD}" dt="2026-02-02T08:23:42.913"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1"/>
        <p:cNvGrpSpPr/>
        <p:nvPr/>
      </p:nvGrpSpPr>
      <p:grpSpPr>
        <a:xfrm>
          <a:off x="0" y="0"/>
          <a:ext cx="0" cy="0"/>
          <a:chOff x="0" y="0"/>
          <a:chExt cx="0" cy="0"/>
        </a:xfrm>
      </p:grpSpPr>
      <p:sp>
        <p:nvSpPr>
          <p:cNvPr id="22" name="Google Shape;22;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7"/>
        <p:cNvGrpSpPr/>
        <p:nvPr/>
      </p:nvGrpSpPr>
      <p:grpSpPr>
        <a:xfrm>
          <a:off x="0" y="0"/>
          <a:ext cx="0" cy="0"/>
          <a:chOff x="0" y="0"/>
          <a:chExt cx="0" cy="0"/>
        </a:xfrm>
      </p:grpSpPr>
      <p:sp>
        <p:nvSpPr>
          <p:cNvPr id="28" name="Google Shape;28;p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3"/>
        <p:cNvGrpSpPr/>
        <p:nvPr/>
      </p:nvGrpSpPr>
      <p:grpSpPr>
        <a:xfrm>
          <a:off x="0" y="0"/>
          <a:ext cx="0" cy="0"/>
          <a:chOff x="0" y="0"/>
          <a:chExt cx="0" cy="0"/>
        </a:xfrm>
      </p:grpSpPr>
      <p:sp>
        <p:nvSpPr>
          <p:cNvPr id="34" name="Google Shape;34;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0"/>
        <p:cNvGrpSpPr/>
        <p:nvPr/>
      </p:nvGrpSpPr>
      <p:grpSpPr>
        <a:xfrm>
          <a:off x="0" y="0"/>
          <a:ext cx="0" cy="0"/>
          <a:chOff x="0" y="0"/>
          <a:chExt cx="0" cy="0"/>
        </a:xfrm>
      </p:grpSpPr>
      <p:sp>
        <p:nvSpPr>
          <p:cNvPr id="41" name="Google Shape;41;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9"/>
        <p:cNvGrpSpPr/>
        <p:nvPr/>
      </p:nvGrpSpPr>
      <p:grpSpPr>
        <a:xfrm>
          <a:off x="0" y="0"/>
          <a:ext cx="0" cy="0"/>
          <a:chOff x="0" y="0"/>
          <a:chExt cx="0" cy="0"/>
        </a:xfrm>
      </p:grpSpPr>
      <p:sp>
        <p:nvSpPr>
          <p:cNvPr id="50" name="Google Shape;50;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4"/>
        <p:cNvGrpSpPr/>
        <p:nvPr/>
      </p:nvGrpSpPr>
      <p:grpSpPr>
        <a:xfrm>
          <a:off x="0" y="0"/>
          <a:ext cx="0" cy="0"/>
          <a:chOff x="0" y="0"/>
          <a:chExt cx="0" cy="0"/>
        </a:xfrm>
      </p:grpSpPr>
      <p:sp>
        <p:nvSpPr>
          <p:cNvPr id="55" name="Google Shape;55;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8"/>
        <p:cNvGrpSpPr/>
        <p:nvPr/>
      </p:nvGrpSpPr>
      <p:grpSpPr>
        <a:xfrm>
          <a:off x="0" y="0"/>
          <a:ext cx="0" cy="0"/>
          <a:chOff x="0" y="0"/>
          <a:chExt cx="0" cy="0"/>
        </a:xfrm>
      </p:grpSpPr>
      <p:sp>
        <p:nvSpPr>
          <p:cNvPr id="59" name="Google Shape;59;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5"/>
        <p:cNvGrpSpPr/>
        <p:nvPr/>
      </p:nvGrpSpPr>
      <p:grpSpPr>
        <a:xfrm>
          <a:off x="0" y="0"/>
          <a:ext cx="0" cy="0"/>
          <a:chOff x="0" y="0"/>
          <a:chExt cx="0" cy="0"/>
        </a:xfrm>
      </p:grpSpPr>
      <p:sp>
        <p:nvSpPr>
          <p:cNvPr id="66" name="Google Shape;66;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7"/>
          <p:cNvSpPr>
            <a:spLocks noGrp="1"/>
          </p:cNvSpPr>
          <p:nvPr>
            <p:ph type="pic" idx="2"/>
          </p:nvPr>
        </p:nvSpPr>
        <p:spPr>
          <a:xfrm>
            <a:off x="5183188" y="987425"/>
            <a:ext cx="6172200" cy="4873625"/>
          </a:xfrm>
          <a:prstGeom prst="rect">
            <a:avLst/>
          </a:prstGeom>
          <a:noFill/>
          <a:ln>
            <a:noFill/>
          </a:ln>
        </p:spPr>
      </p:sp>
      <p:sp>
        <p:nvSpPr>
          <p:cNvPr id="68" name="Google Shape;68;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2"/>
        <p:cNvGrpSpPr/>
        <p:nvPr/>
      </p:nvGrpSpPr>
      <p:grpSpPr>
        <a:xfrm>
          <a:off x="0" y="0"/>
          <a:ext cx="0" cy="0"/>
          <a:chOff x="0" y="0"/>
          <a:chExt cx="0" cy="0"/>
        </a:xfrm>
      </p:grpSpPr>
      <p:sp>
        <p:nvSpPr>
          <p:cNvPr id="73" name="Google Shape;73;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8"/>
        <p:cNvGrpSpPr/>
        <p:nvPr/>
      </p:nvGrpSpPr>
      <p:grpSpPr>
        <a:xfrm>
          <a:off x="0" y="0"/>
          <a:ext cx="0" cy="0"/>
          <a:chOff x="0" y="0"/>
          <a:chExt cx="0" cy="0"/>
        </a:xfrm>
      </p:grpSpPr>
      <p:sp>
        <p:nvSpPr>
          <p:cNvPr id="79" name="Google Shape;79;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96"/>
        <p:cNvGrpSpPr/>
        <p:nvPr/>
      </p:nvGrpSpPr>
      <p:grpSpPr>
        <a:xfrm>
          <a:off x="0" y="0"/>
          <a:ext cx="0" cy="0"/>
          <a:chOff x="0" y="0"/>
          <a:chExt cx="0" cy="0"/>
        </a:xfrm>
      </p:grpSpPr>
      <p:sp>
        <p:nvSpPr>
          <p:cNvPr id="97" name="Google Shape;97;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129"/>
        <p:cNvGrpSpPr/>
        <p:nvPr/>
      </p:nvGrpSpPr>
      <p:grpSpPr>
        <a:xfrm>
          <a:off x="0" y="0"/>
          <a:ext cx="0" cy="0"/>
          <a:chOff x="0" y="0"/>
          <a:chExt cx="0" cy="0"/>
        </a:xfrm>
      </p:grpSpPr>
      <p:sp>
        <p:nvSpPr>
          <p:cNvPr id="130" name="Google Shape;13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27"/>
          <p:cNvSpPr>
            <a:spLocks noGrp="1"/>
          </p:cNvSpPr>
          <p:nvPr>
            <p:ph type="pic" idx="2"/>
          </p:nvPr>
        </p:nvSpPr>
        <p:spPr>
          <a:xfrm>
            <a:off x="5183188" y="987425"/>
            <a:ext cx="6172200" cy="4873625"/>
          </a:xfrm>
          <a:prstGeom prst="rect">
            <a:avLst/>
          </a:prstGeom>
          <a:noFill/>
          <a:ln>
            <a:noFill/>
          </a:ln>
        </p:spPr>
      </p:sp>
      <p:sp>
        <p:nvSpPr>
          <p:cNvPr id="143" name="Google Shape;143;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47"/>
        <p:cNvGrpSpPr/>
        <p:nvPr/>
      </p:nvGrpSpPr>
      <p:grpSpPr>
        <a:xfrm>
          <a:off x="0" y="0"/>
          <a:ext cx="0" cy="0"/>
          <a:chOff x="0" y="0"/>
          <a:chExt cx="0" cy="0"/>
        </a:xfrm>
      </p:grpSpPr>
      <p:sp>
        <p:nvSpPr>
          <p:cNvPr id="148" name="Google Shape;148;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4163"/>
        </a:solidFill>
        <a:effectLst/>
      </p:bgPr>
    </p:bg>
    <p:spTree>
      <p:nvGrpSpPr>
        <p:cNvPr id="1" name="Shape 163"/>
        <p:cNvGrpSpPr/>
        <p:nvPr/>
      </p:nvGrpSpPr>
      <p:grpSpPr>
        <a:xfrm>
          <a:off x="0" y="0"/>
          <a:ext cx="0" cy="0"/>
          <a:chOff x="0" y="0"/>
          <a:chExt cx="0" cy="0"/>
        </a:xfrm>
      </p:grpSpPr>
      <p:sp>
        <p:nvSpPr>
          <p:cNvPr id="164" name="Google Shape;164;p1"/>
          <p:cNvSpPr/>
          <p:nvPr/>
        </p:nvSpPr>
        <p:spPr>
          <a:xfrm>
            <a:off x="4792319" y="-608242"/>
            <a:ext cx="2607364" cy="2607364"/>
          </a:xfrm>
          <a:prstGeom prst="diamond">
            <a:avLst/>
          </a:pr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65" name="Google Shape;165;p1"/>
          <p:cNvSpPr/>
          <p:nvPr/>
        </p:nvSpPr>
        <p:spPr>
          <a:xfrm>
            <a:off x="4325258" y="-1770743"/>
            <a:ext cx="3541486" cy="3541486"/>
          </a:xfrm>
          <a:prstGeom prst="diamond">
            <a:avLst/>
          </a:prstGeom>
          <a:no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66" name="Google Shape;166;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1200"/>
              <a:buFont typeface="Calibri"/>
              <a:buNone/>
            </a:pPr>
            <a:r>
              <a:rPr lang="fr-FR" sz="1200" b="0" i="0" u="none" strike="noStrike" cap="none">
                <a:solidFill>
                  <a:srgbClr val="FFFFFF"/>
                </a:solidFill>
                <a:latin typeface="Calibri"/>
                <a:ea typeface="Calibri"/>
                <a:cs typeface="Calibri"/>
                <a:sym typeface="Calibri"/>
              </a:rPr>
              <a:t>26/02/2025</a:t>
            </a:r>
            <a:endParaRPr sz="1200" b="0" i="0" u="none" strike="noStrike" cap="none">
              <a:solidFill>
                <a:srgbClr val="FFFFFF"/>
              </a:solidFill>
              <a:latin typeface="Calibri"/>
              <a:ea typeface="Calibri"/>
              <a:cs typeface="Calibri"/>
              <a:sym typeface="Calibri"/>
            </a:endParaRPr>
          </a:p>
        </p:txBody>
      </p:sp>
      <p:sp>
        <p:nvSpPr>
          <p:cNvPr id="167" name="Google Shape;167;p1"/>
          <p:cNvSpPr txBox="1"/>
          <p:nvPr/>
        </p:nvSpPr>
        <p:spPr>
          <a:xfrm>
            <a:off x="2425366" y="3176161"/>
            <a:ext cx="7341268" cy="1682718"/>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FFFFFF"/>
              </a:buClr>
              <a:buSzPts val="2500"/>
              <a:buFont typeface="Arial"/>
              <a:buNone/>
            </a:pPr>
            <a:r>
              <a:rPr lang="fr-FR" sz="2500" b="1" i="0" u="none" strike="noStrike" cap="none">
                <a:solidFill>
                  <a:srgbClr val="FFFFFF"/>
                </a:solidFill>
                <a:latin typeface="Arial"/>
                <a:ea typeface="Arial"/>
                <a:cs typeface="Arial"/>
                <a:sym typeface="Arial"/>
              </a:rPr>
              <a:t>DevSecOps</a:t>
            </a:r>
            <a:endParaRPr/>
          </a:p>
          <a:p>
            <a:pPr marL="0" marR="0" lvl="0" indent="0" algn="ctr" rtl="0">
              <a:lnSpc>
                <a:spcPct val="90000"/>
              </a:lnSpc>
              <a:spcBef>
                <a:spcPts val="0"/>
              </a:spcBef>
              <a:spcAft>
                <a:spcPts val="0"/>
              </a:spcAft>
              <a:buClr>
                <a:schemeClr val="dk1"/>
              </a:buClr>
              <a:buSzPts val="2000"/>
              <a:buFont typeface="Calibri"/>
              <a:buNone/>
            </a:pPr>
            <a:endParaRPr sz="2000" b="1" i="0" u="none" strike="noStrike" cap="none">
              <a:solidFill>
                <a:srgbClr val="FFFFFF"/>
              </a:solidFill>
              <a:latin typeface="Arial"/>
              <a:ea typeface="Arial"/>
              <a:cs typeface="Arial"/>
              <a:sym typeface="Arial"/>
            </a:endParaRPr>
          </a:p>
          <a:p>
            <a:pPr marL="0" marR="0" lvl="0" indent="0" algn="ctr" rtl="0">
              <a:lnSpc>
                <a:spcPct val="90000"/>
              </a:lnSpc>
              <a:spcBef>
                <a:spcPts val="0"/>
              </a:spcBef>
              <a:spcAft>
                <a:spcPts val="0"/>
              </a:spcAft>
              <a:buClr>
                <a:srgbClr val="FFFFFF"/>
              </a:buClr>
              <a:buSzPts val="4800"/>
              <a:buFont typeface="Arial"/>
              <a:buNone/>
            </a:pPr>
            <a:r>
              <a:rPr lang="fr-FR" sz="4800" b="1" i="0" u="none" strike="noStrike" cap="none">
                <a:solidFill>
                  <a:srgbClr val="FFFFFF"/>
                </a:solidFill>
                <a:latin typeface="Arial"/>
                <a:ea typeface="Arial"/>
                <a:cs typeface="Arial"/>
                <a:sym typeface="Arial"/>
              </a:rPr>
              <a:t>ETUDE DE VAGRANT</a:t>
            </a:r>
            <a:endParaRPr/>
          </a:p>
          <a:p>
            <a:pPr marL="0" marR="0" lvl="0" indent="0" algn="ctr" rtl="0">
              <a:lnSpc>
                <a:spcPct val="90000"/>
              </a:lnSpc>
              <a:spcBef>
                <a:spcPts val="0"/>
              </a:spcBef>
              <a:spcAft>
                <a:spcPts val="0"/>
              </a:spcAft>
              <a:buClr>
                <a:schemeClr val="dk1"/>
              </a:buClr>
              <a:buSzPts val="2000"/>
              <a:buFont typeface="Calibri"/>
              <a:buNone/>
            </a:pPr>
            <a:endParaRPr sz="2000" b="1" i="0" u="none" strike="noStrike" cap="none">
              <a:solidFill>
                <a:srgbClr val="2683C6"/>
              </a:solidFill>
              <a:latin typeface="Arial"/>
              <a:ea typeface="Arial"/>
              <a:cs typeface="Arial"/>
              <a:sym typeface="Arial"/>
            </a:endParaRPr>
          </a:p>
          <a:p>
            <a:pPr marL="0" marR="0" lvl="0" indent="0" algn="ctr" rtl="0">
              <a:lnSpc>
                <a:spcPct val="90000"/>
              </a:lnSpc>
              <a:spcBef>
                <a:spcPts val="0"/>
              </a:spcBef>
              <a:spcAft>
                <a:spcPts val="0"/>
              </a:spcAft>
              <a:buClr>
                <a:schemeClr val="dk1"/>
              </a:buClr>
              <a:buSzPts val="2000"/>
              <a:buFont typeface="Calibri"/>
              <a:buNone/>
            </a:pPr>
            <a:endParaRPr sz="2000" b="1" i="0" u="none" strike="noStrike" cap="none">
              <a:solidFill>
                <a:srgbClr val="2683C6"/>
              </a:solidFill>
              <a:latin typeface="Arial"/>
              <a:ea typeface="Arial"/>
              <a:cs typeface="Arial"/>
              <a:sym typeface="Arial"/>
            </a:endParaRPr>
          </a:p>
          <a:p>
            <a:pPr marL="0" marR="0" lvl="0" indent="0" algn="ctr" rtl="0">
              <a:lnSpc>
                <a:spcPct val="90000"/>
              </a:lnSpc>
              <a:spcBef>
                <a:spcPts val="0"/>
              </a:spcBef>
              <a:spcAft>
                <a:spcPts val="0"/>
              </a:spcAft>
              <a:buClr>
                <a:srgbClr val="2683C6"/>
              </a:buClr>
              <a:buSzPts val="2000"/>
              <a:buFont typeface="Arial"/>
              <a:buNone/>
            </a:pPr>
            <a:r>
              <a:rPr lang="fr-FR" sz="2000" b="1" i="0" u="none" strike="noStrike" cap="none">
                <a:solidFill>
                  <a:srgbClr val="2683C6"/>
                </a:solidFill>
                <a:latin typeface="Arial"/>
                <a:ea typeface="Arial"/>
                <a:cs typeface="Arial"/>
                <a:sym typeface="Arial"/>
              </a:rPr>
              <a:t>EFREI</a:t>
            </a:r>
            <a:endParaRPr sz="4800" b="1" i="0" u="none" strike="noStrike" cap="none">
              <a:solidFill>
                <a:srgbClr val="FFFFFF"/>
              </a:solidFill>
              <a:latin typeface="Arial"/>
              <a:ea typeface="Arial"/>
              <a:cs typeface="Arial"/>
              <a:sym typeface="Arial"/>
            </a:endParaRPr>
          </a:p>
          <a:p>
            <a:pPr marL="0" marR="0" lvl="0" indent="0" algn="ctr" rtl="0">
              <a:lnSpc>
                <a:spcPct val="90000"/>
              </a:lnSpc>
              <a:spcBef>
                <a:spcPts val="0"/>
              </a:spcBef>
              <a:spcAft>
                <a:spcPts val="0"/>
              </a:spcAft>
              <a:buClr>
                <a:srgbClr val="FFFFFF"/>
              </a:buClr>
              <a:buSzPts val="1800"/>
              <a:buFont typeface="Arial"/>
              <a:buNone/>
            </a:pPr>
            <a:r>
              <a:rPr lang="fr-FR" sz="1800" b="1" i="0" u="none" strike="noStrike" cap="none">
                <a:solidFill>
                  <a:srgbClr val="FFFFFF"/>
                </a:solidFill>
                <a:latin typeface="Arial"/>
                <a:ea typeface="Arial"/>
                <a:cs typeface="Arial"/>
                <a:sym typeface="Arial"/>
              </a:rPr>
              <a:t>Année: 202</a:t>
            </a:r>
            <a:r>
              <a:rPr lang="fr-FR" sz="1800" b="1">
                <a:solidFill>
                  <a:srgbClr val="FFFFFF"/>
                </a:solidFill>
              </a:rPr>
              <a:t>6</a:t>
            </a:r>
            <a:endParaRPr/>
          </a:p>
        </p:txBody>
      </p:sp>
      <p:pic>
        <p:nvPicPr>
          <p:cNvPr id="168" name="Google Shape;168;p1"/>
          <p:cNvPicPr preferRelativeResize="0"/>
          <p:nvPr/>
        </p:nvPicPr>
        <p:blipFill rotWithShape="1">
          <a:blip r:embed="rId3">
            <a:alphaModFix/>
          </a:blip>
          <a:srcRect/>
          <a:stretch/>
        </p:blipFill>
        <p:spPr>
          <a:xfrm>
            <a:off x="5374432" y="102637"/>
            <a:ext cx="1390261" cy="961053"/>
          </a:xfrm>
          <a:prstGeom prst="rect">
            <a:avLst/>
          </a:prstGeom>
          <a:noFill/>
          <a:ln>
            <a:noFill/>
          </a:ln>
        </p:spPr>
      </p:pic>
      <p:sp>
        <p:nvSpPr>
          <p:cNvPr id="169" name="Google Shape;169;p1"/>
          <p:cNvSpPr txBox="1"/>
          <p:nvPr/>
        </p:nvSpPr>
        <p:spPr>
          <a:xfrm>
            <a:off x="9766634" y="6063829"/>
            <a:ext cx="2307178" cy="58504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1400"/>
              <a:buFont typeface="Calibri"/>
              <a:buNone/>
            </a:pPr>
            <a:r>
              <a:rPr lang="fr-FR" sz="1400" b="1" i="0" u="none" strike="noStrike" cap="none">
                <a:solidFill>
                  <a:srgbClr val="FFFFFF"/>
                </a:solidFill>
                <a:latin typeface="Calibri"/>
                <a:ea typeface="Calibri"/>
                <a:cs typeface="Calibri"/>
                <a:sym typeface="Calibri"/>
              </a:rPr>
              <a:t>Mr Mohamet Lamine DIOP</a:t>
            </a:r>
            <a:endParaRPr/>
          </a:p>
          <a:p>
            <a:pPr marL="0" marR="0" lvl="0" indent="0" algn="l" rtl="0">
              <a:lnSpc>
                <a:spcPct val="100000"/>
              </a:lnSpc>
              <a:spcBef>
                <a:spcPts val="0"/>
              </a:spcBef>
              <a:spcAft>
                <a:spcPts val="0"/>
              </a:spcAft>
              <a:buClr>
                <a:srgbClr val="FFFFFF"/>
              </a:buClr>
              <a:buSzPts val="1400"/>
              <a:buFont typeface="Calibri"/>
              <a:buNone/>
            </a:pPr>
            <a:r>
              <a:rPr lang="fr-FR" sz="1400" b="1" i="0" u="none" strike="noStrike" cap="none">
                <a:solidFill>
                  <a:srgbClr val="FFFFFF"/>
                </a:solidFill>
                <a:latin typeface="Calibri"/>
                <a:ea typeface="Calibri"/>
                <a:cs typeface="Calibri"/>
                <a:sym typeface="Calibri"/>
              </a:rPr>
              <a:t>Ingénieur Cloud et DevOps</a:t>
            </a:r>
            <a:endParaRPr/>
          </a:p>
        </p:txBody>
      </p:sp>
      <p:sp>
        <p:nvSpPr>
          <p:cNvPr id="170" name="Google Shape;170;p1"/>
          <p:cNvSpPr txBox="1"/>
          <p:nvPr/>
        </p:nvSpPr>
        <p:spPr>
          <a:xfrm>
            <a:off x="4079452" y="6244288"/>
            <a:ext cx="419844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fr-FR" sz="1800" b="1" i="0" u="none" strike="noStrike" cap="none">
                <a:solidFill>
                  <a:schemeClr val="lt1"/>
                </a:solidFill>
                <a:latin typeface="Arial"/>
                <a:ea typeface="Arial"/>
                <a:cs typeface="Arial"/>
                <a:sym typeface="Arial"/>
              </a:rPr>
              <a:t>Master 1 MAS-CSM</a:t>
            </a:r>
            <a:endParaRPr sz="1800" b="1"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4"/>
        <p:cNvGrpSpPr/>
        <p:nvPr/>
      </p:nvGrpSpPr>
      <p:grpSpPr>
        <a:xfrm>
          <a:off x="0" y="0"/>
          <a:ext cx="0" cy="0"/>
          <a:chOff x="0" y="0"/>
          <a:chExt cx="0" cy="0"/>
        </a:xfrm>
      </p:grpSpPr>
      <p:sp>
        <p:nvSpPr>
          <p:cNvPr id="175" name="Google Shape;175;p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6" name="Google Shape;176;p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7" name="Google Shape;177;p2"/>
          <p:cNvSpPr/>
          <p:nvPr/>
        </p:nvSpPr>
        <p:spPr>
          <a:xfrm rot="5400000" flipH="1">
            <a:off x="-1410084" y="1410082"/>
            <a:ext cx="6858000" cy="4037836"/>
          </a:xfrm>
          <a:prstGeom prst="rect">
            <a:avLst/>
          </a:prstGeom>
          <a:gradFill>
            <a:gsLst>
              <a:gs pos="0">
                <a:srgbClr val="000000"/>
              </a:gs>
              <a:gs pos="8000">
                <a:srgbClr val="000000"/>
              </a:gs>
              <a:gs pos="100000">
                <a:srgbClr val="2F5496"/>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8" name="Google Shape;178;p2"/>
          <p:cNvSpPr/>
          <p:nvPr/>
        </p:nvSpPr>
        <p:spPr>
          <a:xfrm rot="5400000" flipH="1">
            <a:off x="-1410085" y="1420219"/>
            <a:ext cx="6857999" cy="4037839"/>
          </a:xfrm>
          <a:prstGeom prst="rect">
            <a:avLst/>
          </a:prstGeom>
          <a:gradFill>
            <a:gsLst>
              <a:gs pos="0">
                <a:srgbClr val="000000">
                  <a:alpha val="0"/>
                </a:srgbClr>
              </a:gs>
              <a:gs pos="99000">
                <a:srgbClr val="4472C4">
                  <a:alpha val="45882"/>
                </a:srgbClr>
              </a:gs>
              <a:gs pos="100000">
                <a:srgbClr val="4472C4">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9" name="Google Shape;179;p2"/>
          <p:cNvSpPr/>
          <p:nvPr/>
        </p:nvSpPr>
        <p:spPr>
          <a:xfrm rot="5400000" flipH="1">
            <a:off x="767923" y="3588085"/>
            <a:ext cx="2501979" cy="4037841"/>
          </a:xfrm>
          <a:prstGeom prst="rect">
            <a:avLst/>
          </a:prstGeom>
          <a:gradFill>
            <a:gsLst>
              <a:gs pos="0">
                <a:srgbClr val="4472C4">
                  <a:alpha val="28627"/>
                </a:srgbClr>
              </a:gs>
              <a:gs pos="2000">
                <a:srgbClr val="4472C4">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0" name="Google Shape;180;p2"/>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472C4">
                  <a:alpha val="42745"/>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1" name="Google Shape;181;p2"/>
          <p:cNvSpPr/>
          <p:nvPr/>
        </p:nvSpPr>
        <p:spPr>
          <a:xfrm rot="5400000" flipH="1">
            <a:off x="-1410093" y="1399943"/>
            <a:ext cx="6858003" cy="4037835"/>
          </a:xfrm>
          <a:prstGeom prst="rect">
            <a:avLst/>
          </a:prstGeom>
          <a:gradFill>
            <a:gsLst>
              <a:gs pos="0">
                <a:srgbClr val="000000">
                  <a:alpha val="0"/>
                </a:srgbClr>
              </a:gs>
              <a:gs pos="99000">
                <a:srgbClr val="8DA9DB">
                  <a:alpha val="10980"/>
                </a:srgbClr>
              </a:gs>
              <a:gs pos="100000">
                <a:srgbClr val="8DA9DB">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2" name="Google Shape;182;p2"/>
          <p:cNvSpPr txBox="1">
            <a:spLocks noGrp="1"/>
          </p:cNvSpPr>
          <p:nvPr>
            <p:ph type="title"/>
          </p:nvPr>
        </p:nvSpPr>
        <p:spPr>
          <a:xfrm>
            <a:off x="372642" y="2806463"/>
            <a:ext cx="3292531" cy="85919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3000"/>
              <a:buFont typeface="Times New Roman"/>
              <a:buNone/>
            </a:pPr>
            <a:r>
              <a:rPr lang="fr-FR" sz="3000" b="1">
                <a:solidFill>
                  <a:srgbClr val="FFFFFF"/>
                </a:solidFill>
                <a:latin typeface="Times New Roman"/>
                <a:ea typeface="Times New Roman"/>
                <a:cs typeface="Times New Roman"/>
                <a:sym typeface="Times New Roman"/>
              </a:rPr>
              <a:t>PLAN</a:t>
            </a:r>
            <a:endParaRPr/>
          </a:p>
        </p:txBody>
      </p:sp>
      <p:sp>
        <p:nvSpPr>
          <p:cNvPr id="183" name="Google Shape;183;p2"/>
          <p:cNvSpPr txBox="1">
            <a:spLocks noGrp="1"/>
          </p:cNvSpPr>
          <p:nvPr>
            <p:ph type="body" idx="1"/>
          </p:nvPr>
        </p:nvSpPr>
        <p:spPr>
          <a:xfrm>
            <a:off x="4601855" y="511388"/>
            <a:ext cx="6594230" cy="5582093"/>
          </a:xfrm>
          <a:prstGeom prst="rect">
            <a:avLst/>
          </a:prstGeom>
          <a:noFill/>
          <a:ln>
            <a:noFill/>
          </a:ln>
        </p:spPr>
        <p:txBody>
          <a:bodyPr spcFirstLastPara="1" wrap="square" lIns="91425" tIns="45700" rIns="91425" bIns="45700" anchor="ctr" anchorCtr="0">
            <a:noAutofit/>
          </a:bodyPr>
          <a:lstStyle/>
          <a:p>
            <a:pPr marL="342900" lvl="0" indent="-342900" algn="l" rtl="0">
              <a:lnSpc>
                <a:spcPct val="150000"/>
              </a:lnSpc>
              <a:spcBef>
                <a:spcPts val="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Qu’est-ce que vagrant ?</a:t>
            </a:r>
            <a:endParaRPr/>
          </a:p>
          <a:p>
            <a:pPr marL="342900" lvl="0" indent="-34290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Principe de fonctionnement</a:t>
            </a:r>
            <a:endParaRPr/>
          </a:p>
          <a:p>
            <a:pPr marL="342900" lvl="0" indent="-34290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Installation et prérequis</a:t>
            </a:r>
            <a:endParaRPr/>
          </a:p>
          <a:p>
            <a:pPr marL="342900" lvl="0" indent="-34290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Cas d’utilisation</a:t>
            </a:r>
            <a:endParaRPr/>
          </a:p>
          <a:p>
            <a:pPr marL="514350" lvl="0" indent="-51435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Commandes de base</a:t>
            </a:r>
            <a:endParaRPr/>
          </a:p>
          <a:p>
            <a:pPr marL="514350" lvl="0" indent="-514350" algn="l" rtl="0">
              <a:lnSpc>
                <a:spcPct val="150000"/>
              </a:lnSpc>
              <a:spcBef>
                <a:spcPts val="1000"/>
              </a:spcBef>
              <a:spcAft>
                <a:spcPts val="0"/>
              </a:spcAft>
              <a:buClr>
                <a:schemeClr val="dk1"/>
              </a:buClr>
              <a:buSzPts val="2500"/>
              <a:buFont typeface="Calibri"/>
              <a:buAutoNum type="romanUcPeriod"/>
            </a:pPr>
            <a:r>
              <a:rPr lang="fr-FR" sz="2500" b="1">
                <a:latin typeface="Times New Roman"/>
                <a:ea typeface="Times New Roman"/>
                <a:cs typeface="Times New Roman"/>
                <a:sym typeface="Times New Roman"/>
              </a:rPr>
              <a:t> Pratique</a:t>
            </a:r>
            <a:endParaRPr/>
          </a:p>
        </p:txBody>
      </p:sp>
      <p:pic>
        <p:nvPicPr>
          <p:cNvPr id="184" name="Google Shape;184;p2" descr="Pourquoi vagrant m'aide dans mon quotidien ? + Vagrantfile complet - Xavki"/>
          <p:cNvPicPr preferRelativeResize="0"/>
          <p:nvPr/>
        </p:nvPicPr>
        <p:blipFill rotWithShape="1">
          <a:blip r:embed="rId3">
            <a:alphaModFix/>
          </a:blip>
          <a:srcRect/>
          <a:stretch/>
        </p:blipFill>
        <p:spPr>
          <a:xfrm>
            <a:off x="10045827" y="10138"/>
            <a:ext cx="2143125" cy="18292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8"/>
        <p:cNvGrpSpPr/>
        <p:nvPr/>
      </p:nvGrpSpPr>
      <p:grpSpPr>
        <a:xfrm>
          <a:off x="0" y="0"/>
          <a:ext cx="0" cy="0"/>
          <a:chOff x="0" y="0"/>
          <a:chExt cx="0" cy="0"/>
        </a:xfrm>
      </p:grpSpPr>
      <p:sp>
        <p:nvSpPr>
          <p:cNvPr id="189" name="Google Shape;189;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0" name="Google Shape;190;p3"/>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1" name="Google Shape;191;p3"/>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2" name="Google Shape;192;p3"/>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3" name="Google Shape;193;p3"/>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4" name="Google Shape;194;p3"/>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 QU’EST-CE VAGRANT ?</a:t>
            </a:r>
            <a:endParaRPr sz="4000">
              <a:solidFill>
                <a:srgbClr val="FFFFFF"/>
              </a:solidFill>
              <a:latin typeface="Times New Roman"/>
              <a:ea typeface="Times New Roman"/>
              <a:cs typeface="Times New Roman"/>
              <a:sym typeface="Times New Roman"/>
            </a:endParaRPr>
          </a:p>
        </p:txBody>
      </p:sp>
      <p:sp>
        <p:nvSpPr>
          <p:cNvPr id="195" name="Google Shape;195;p3"/>
          <p:cNvSpPr txBox="1">
            <a:spLocks noGrp="1"/>
          </p:cNvSpPr>
          <p:nvPr>
            <p:ph type="body" idx="1"/>
          </p:nvPr>
        </p:nvSpPr>
        <p:spPr>
          <a:xfrm>
            <a:off x="740226" y="2179049"/>
            <a:ext cx="10711543" cy="3573165"/>
          </a:xfrm>
          <a:prstGeom prst="rect">
            <a:avLst/>
          </a:prstGeom>
          <a:noFill/>
          <a:ln>
            <a:noFill/>
          </a:ln>
        </p:spPr>
        <p:txBody>
          <a:bodyPr spcFirstLastPara="1" wrap="square" lIns="91425" tIns="45700" rIns="91425" bIns="45700" anchor="ctr" anchorCtr="0">
            <a:noAutofit/>
          </a:bodyPr>
          <a:lstStyle/>
          <a:p>
            <a:pPr marL="228600" lvl="0" indent="-228600" algn="just" rtl="0">
              <a:lnSpc>
                <a:spcPct val="200000"/>
              </a:lnSpc>
              <a:spcBef>
                <a:spcPts val="0"/>
              </a:spcBef>
              <a:spcAft>
                <a:spcPts val="0"/>
              </a:spcAft>
              <a:buClr>
                <a:schemeClr val="dk1"/>
              </a:buClr>
              <a:buSzPts val="2000"/>
              <a:buFont typeface="Courier New"/>
              <a:buChar char="o"/>
            </a:pPr>
            <a:r>
              <a:rPr lang="fr-FR" sz="2000">
                <a:latin typeface="Times New Roman"/>
                <a:ea typeface="Times New Roman"/>
                <a:cs typeface="Times New Roman"/>
                <a:sym typeface="Times New Roman"/>
              </a:rPr>
              <a:t>Vagrant est un outil qui simplifie la création et la gestion d’environnements virtualisés. </a:t>
            </a:r>
            <a:endParaRPr/>
          </a:p>
          <a:p>
            <a:pPr marL="228600" lvl="0" indent="-228600" algn="just" rtl="0">
              <a:lnSpc>
                <a:spcPct val="200000"/>
              </a:lnSpc>
              <a:spcBef>
                <a:spcPts val="1000"/>
              </a:spcBef>
              <a:spcAft>
                <a:spcPts val="0"/>
              </a:spcAft>
              <a:buClr>
                <a:schemeClr val="dk1"/>
              </a:buClr>
              <a:buSzPts val="2000"/>
              <a:buFont typeface="Courier New"/>
              <a:buChar char="o"/>
            </a:pPr>
            <a:r>
              <a:rPr lang="fr-FR" sz="2000">
                <a:latin typeface="Times New Roman"/>
                <a:ea typeface="Times New Roman"/>
                <a:cs typeface="Times New Roman"/>
                <a:sym typeface="Times New Roman"/>
              </a:rPr>
              <a:t>Si par le passé on avait recours à des plateformes comme </a:t>
            </a:r>
            <a:r>
              <a:rPr lang="fr-FR" sz="2000" b="1">
                <a:latin typeface="Times New Roman"/>
                <a:ea typeface="Times New Roman"/>
                <a:cs typeface="Times New Roman"/>
                <a:sym typeface="Times New Roman"/>
              </a:rPr>
              <a:t>LAMP/MAMP/XAMP </a:t>
            </a:r>
            <a:r>
              <a:rPr lang="fr-FR" sz="2000">
                <a:latin typeface="Times New Roman"/>
                <a:ea typeface="Times New Roman"/>
                <a:cs typeface="Times New Roman"/>
                <a:sym typeface="Times New Roman"/>
              </a:rPr>
              <a:t>pour gérer son environnement de développement.</a:t>
            </a:r>
            <a:endParaRPr/>
          </a:p>
          <a:p>
            <a:pPr marL="228600" lvl="0" indent="-228600" algn="just" rtl="0">
              <a:lnSpc>
                <a:spcPct val="200000"/>
              </a:lnSpc>
              <a:spcBef>
                <a:spcPts val="1000"/>
              </a:spcBef>
              <a:spcAft>
                <a:spcPts val="0"/>
              </a:spcAft>
              <a:buClr>
                <a:schemeClr val="dk1"/>
              </a:buClr>
              <a:buSzPts val="2000"/>
              <a:buFont typeface="Courier New"/>
              <a:buChar char="o"/>
            </a:pPr>
            <a:r>
              <a:rPr lang="fr-FR" sz="2000">
                <a:latin typeface="Times New Roman"/>
                <a:ea typeface="Times New Roman"/>
                <a:cs typeface="Times New Roman"/>
                <a:sym typeface="Times New Roman"/>
              </a:rPr>
              <a:t> Cela posait souvent problème car les versions des dépendances logicielles pouvaient varier une fois l’application déployée sur un environnement externe, notamment en production.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9"/>
        <p:cNvGrpSpPr/>
        <p:nvPr/>
      </p:nvGrpSpPr>
      <p:grpSpPr>
        <a:xfrm>
          <a:off x="0" y="0"/>
          <a:ext cx="0" cy="0"/>
          <a:chOff x="0" y="0"/>
          <a:chExt cx="0" cy="0"/>
        </a:xfrm>
      </p:grpSpPr>
      <p:sp>
        <p:nvSpPr>
          <p:cNvPr id="200" name="Google Shape;200;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1" name="Google Shape;201;p5"/>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2" name="Google Shape;202;p5"/>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3" name="Google Shape;203;p5"/>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4" name="Google Shape;204;p5"/>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5" name="Google Shape;205;p5"/>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 QU’EST-CE VAGRANT ?</a:t>
            </a:r>
            <a:endParaRPr sz="4000">
              <a:solidFill>
                <a:srgbClr val="FFFFFF"/>
              </a:solidFill>
              <a:latin typeface="Times New Roman"/>
              <a:ea typeface="Times New Roman"/>
              <a:cs typeface="Times New Roman"/>
              <a:sym typeface="Times New Roman"/>
            </a:endParaRPr>
          </a:p>
        </p:txBody>
      </p:sp>
      <p:sp>
        <p:nvSpPr>
          <p:cNvPr id="206" name="Google Shape;206;p5"/>
          <p:cNvSpPr txBox="1">
            <a:spLocks noGrp="1"/>
          </p:cNvSpPr>
          <p:nvPr>
            <p:ph type="body" idx="1"/>
          </p:nvPr>
        </p:nvSpPr>
        <p:spPr>
          <a:xfrm>
            <a:off x="637256" y="1927184"/>
            <a:ext cx="6284539" cy="4451726"/>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000"/>
              <a:buFont typeface="Courier New"/>
              <a:buChar char="o"/>
            </a:pPr>
            <a:r>
              <a:rPr lang="fr-FR" sz="2000">
                <a:latin typeface="Times New Roman"/>
                <a:ea typeface="Times New Roman"/>
                <a:cs typeface="Times New Roman"/>
                <a:sym typeface="Times New Roman"/>
              </a:rPr>
              <a:t>On se retrouvait alors à perdre un temps considérable pour corriger des bugs en production qui n’étaient pas reproductibles en développement, et inversement.</a:t>
            </a:r>
            <a:endParaRPr sz="2000">
              <a:latin typeface="Times New Roman"/>
              <a:ea typeface="Times New Roman"/>
              <a:cs typeface="Times New Roman"/>
              <a:sym typeface="Times New Roman"/>
            </a:endParaRPr>
          </a:p>
          <a:p>
            <a:pPr marL="228600" lvl="0" indent="-228600" algn="just" rtl="0">
              <a:lnSpc>
                <a:spcPct val="150000"/>
              </a:lnSpc>
              <a:spcBef>
                <a:spcPts val="1000"/>
              </a:spcBef>
              <a:spcAft>
                <a:spcPts val="0"/>
              </a:spcAft>
              <a:buClr>
                <a:schemeClr val="dk1"/>
              </a:buClr>
              <a:buSzPts val="2000"/>
              <a:buFont typeface="Courier New"/>
              <a:buChar char="o"/>
            </a:pPr>
            <a:r>
              <a:rPr lang="fr-FR" sz="2000">
                <a:latin typeface="Times New Roman"/>
                <a:ea typeface="Times New Roman"/>
                <a:cs typeface="Times New Roman"/>
                <a:sym typeface="Times New Roman"/>
              </a:rPr>
              <a:t>Vagrant permet de travailler dans un environnement reproductible avec les mêmes versions pour toutes vos dépendances. </a:t>
            </a:r>
            <a:endParaRPr/>
          </a:p>
          <a:p>
            <a:pPr marL="228600" lvl="0" indent="-228600" algn="just" rtl="0">
              <a:lnSpc>
                <a:spcPct val="150000"/>
              </a:lnSpc>
              <a:spcBef>
                <a:spcPts val="1000"/>
              </a:spcBef>
              <a:spcAft>
                <a:spcPts val="0"/>
              </a:spcAft>
              <a:buClr>
                <a:schemeClr val="dk1"/>
              </a:buClr>
              <a:buSzPts val="2000"/>
              <a:buFont typeface="Courier New"/>
              <a:buChar char="o"/>
            </a:pPr>
            <a:r>
              <a:rPr lang="fr-FR" sz="2000">
                <a:latin typeface="Times New Roman"/>
                <a:ea typeface="Times New Roman"/>
                <a:cs typeface="Times New Roman"/>
                <a:sym typeface="Times New Roman"/>
              </a:rPr>
              <a:t>Parce qu’il utilise le principe de </a:t>
            </a:r>
            <a:r>
              <a:rPr lang="fr-FR" sz="2000" b="1">
                <a:latin typeface="Times New Roman"/>
                <a:ea typeface="Times New Roman"/>
                <a:cs typeface="Times New Roman"/>
                <a:sym typeface="Times New Roman"/>
              </a:rPr>
              <a:t>virtualisation</a:t>
            </a:r>
            <a:r>
              <a:rPr lang="fr-FR" sz="2000">
                <a:latin typeface="Times New Roman"/>
                <a:ea typeface="Times New Roman"/>
                <a:cs typeface="Times New Roman"/>
                <a:sym typeface="Times New Roman"/>
              </a:rPr>
              <a:t>, il est donc compatible avec la majorité des OS actuels. </a:t>
            </a:r>
            <a:endParaRPr/>
          </a:p>
        </p:txBody>
      </p:sp>
      <p:pic>
        <p:nvPicPr>
          <p:cNvPr id="207" name="Google Shape;207;p5" descr="virtualisation [Wiki ubuntu-fr]"/>
          <p:cNvPicPr preferRelativeResize="0"/>
          <p:nvPr/>
        </p:nvPicPr>
        <p:blipFill rotWithShape="1">
          <a:blip r:embed="rId3">
            <a:alphaModFix/>
          </a:blip>
          <a:srcRect/>
          <a:stretch/>
        </p:blipFill>
        <p:spPr>
          <a:xfrm>
            <a:off x="7132674" y="2447075"/>
            <a:ext cx="4848447" cy="38164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1"/>
        <p:cNvGrpSpPr/>
        <p:nvPr/>
      </p:nvGrpSpPr>
      <p:grpSpPr>
        <a:xfrm>
          <a:off x="0" y="0"/>
          <a:ext cx="0" cy="0"/>
          <a:chOff x="0" y="0"/>
          <a:chExt cx="0" cy="0"/>
        </a:xfrm>
      </p:grpSpPr>
      <p:sp>
        <p:nvSpPr>
          <p:cNvPr id="212" name="Google Shape;212;p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3" name="Google Shape;213;p6"/>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4" name="Google Shape;214;p6"/>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5" name="Google Shape;215;p6"/>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6"/>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7" name="Google Shape;217;p6"/>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2. PRINCIPE DE FONCTIONNEMENT ?</a:t>
            </a:r>
            <a:endParaRPr sz="4000">
              <a:solidFill>
                <a:srgbClr val="FFFFFF"/>
              </a:solidFill>
              <a:latin typeface="Times New Roman"/>
              <a:ea typeface="Times New Roman"/>
              <a:cs typeface="Times New Roman"/>
              <a:sym typeface="Times New Roman"/>
            </a:endParaRPr>
          </a:p>
        </p:txBody>
      </p:sp>
      <p:sp>
        <p:nvSpPr>
          <p:cNvPr id="218" name="Google Shape;218;p6"/>
          <p:cNvSpPr txBox="1">
            <a:spLocks noGrp="1"/>
          </p:cNvSpPr>
          <p:nvPr>
            <p:ph type="body" idx="1"/>
          </p:nvPr>
        </p:nvSpPr>
        <p:spPr>
          <a:xfrm>
            <a:off x="637256" y="1927184"/>
            <a:ext cx="10856539" cy="4451726"/>
          </a:xfrm>
          <a:prstGeom prst="rect">
            <a:avLst/>
          </a:prstGeom>
          <a:noFill/>
          <a:ln>
            <a:noFill/>
          </a:ln>
        </p:spPr>
        <p:txBody>
          <a:bodyPr spcFirstLastPara="1" wrap="square" lIns="91425" tIns="45700" rIns="91425" bIns="45700" anchor="ctr" anchorCtr="0">
            <a:noAutofit/>
          </a:bodyPr>
          <a:lstStyle/>
          <a:p>
            <a:pPr marL="228600" lvl="0" indent="-228600" algn="just"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Vagrant est en réalité une surcouche autour de solutions de virtualisation comme </a:t>
            </a:r>
            <a:r>
              <a:rPr lang="fr-FR" sz="2100" b="1">
                <a:latin typeface="Times New Roman"/>
                <a:ea typeface="Times New Roman"/>
                <a:cs typeface="Times New Roman"/>
                <a:sym typeface="Times New Roman"/>
              </a:rPr>
              <a:t>VirtualBox</a:t>
            </a:r>
            <a:r>
              <a:rPr lang="fr-FR" sz="2100">
                <a:latin typeface="Times New Roman"/>
                <a:ea typeface="Times New Roman"/>
                <a:cs typeface="Times New Roman"/>
                <a:sym typeface="Times New Roman"/>
              </a:rPr>
              <a:t> ou </a:t>
            </a:r>
            <a:r>
              <a:rPr lang="fr-FR" sz="2100" b="1">
                <a:latin typeface="Times New Roman"/>
                <a:ea typeface="Times New Roman"/>
                <a:cs typeface="Times New Roman"/>
                <a:sym typeface="Times New Roman"/>
              </a:rPr>
              <a:t>VMware</a:t>
            </a:r>
            <a:r>
              <a:rPr lang="fr-FR" sz="2100">
                <a:latin typeface="Times New Roman"/>
                <a:ea typeface="Times New Roman"/>
                <a:cs typeface="Times New Roman"/>
                <a:sym typeface="Times New Roman"/>
              </a:rPr>
              <a:t>. Il exécute une série d'instructions spécifiées dans un fichier de configuration appelé </a:t>
            </a:r>
            <a:r>
              <a:rPr lang="fr-FR" sz="2100" b="1">
                <a:latin typeface="Times New Roman"/>
                <a:ea typeface="Times New Roman"/>
                <a:cs typeface="Times New Roman"/>
                <a:sym typeface="Times New Roman"/>
              </a:rPr>
              <a:t>Vagrantfile</a:t>
            </a:r>
            <a:r>
              <a:rPr lang="fr-FR" sz="2100">
                <a:latin typeface="Times New Roman"/>
                <a:ea typeface="Times New Roman"/>
                <a:cs typeface="Times New Roman"/>
                <a:sym typeface="Times New Roman"/>
              </a:rPr>
              <a:t> (écrit en Ruby) pour créer et configurer une ou plusieurs machines virtuelles.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A noter que Vagrant n’est pas un outil de </a:t>
            </a:r>
            <a:r>
              <a:rPr lang="fr-FR" sz="2100" b="1">
                <a:latin typeface="Times New Roman"/>
                <a:ea typeface="Times New Roman"/>
                <a:cs typeface="Times New Roman"/>
                <a:sym typeface="Times New Roman"/>
              </a:rPr>
              <a:t>provisioning</a:t>
            </a:r>
            <a:r>
              <a:rPr lang="fr-FR" sz="2100">
                <a:latin typeface="Times New Roman"/>
                <a:ea typeface="Times New Roman"/>
                <a:cs typeface="Times New Roman"/>
                <a:sym typeface="Times New Roman"/>
              </a:rPr>
              <a:t>, il ne chargera pas directement vos dépendances logicielles dans la machine virtuelle. </a:t>
            </a:r>
            <a:endParaRPr/>
          </a:p>
          <a:p>
            <a:pPr marL="228600" lvl="0" indent="-228600" algn="just" rtl="0">
              <a:lnSpc>
                <a:spcPct val="150000"/>
              </a:lnSpc>
              <a:spcBef>
                <a:spcPts val="1000"/>
              </a:spcBef>
              <a:spcAft>
                <a:spcPts val="0"/>
              </a:spcAft>
              <a:buClr>
                <a:schemeClr val="dk1"/>
              </a:buClr>
              <a:buSzPts val="2100"/>
              <a:buChar char="•"/>
            </a:pPr>
            <a:r>
              <a:rPr lang="fr-FR" sz="2100">
                <a:latin typeface="Times New Roman"/>
                <a:ea typeface="Times New Roman"/>
                <a:cs typeface="Times New Roman"/>
                <a:sym typeface="Times New Roman"/>
              </a:rPr>
              <a:t>Par la suite, il sera intéressant de l'associer à une solution comme </a:t>
            </a:r>
            <a:r>
              <a:rPr lang="fr-FR" sz="2100" b="1">
                <a:latin typeface="Times New Roman"/>
                <a:ea typeface="Times New Roman"/>
                <a:cs typeface="Times New Roman"/>
                <a:sym typeface="Times New Roman"/>
              </a:rPr>
              <a:t>Ansible</a:t>
            </a:r>
            <a:r>
              <a:rPr lang="fr-FR" sz="2100">
                <a:latin typeface="Times New Roman"/>
                <a:ea typeface="Times New Roman"/>
                <a:cs typeface="Times New Roman"/>
                <a:sym typeface="Times New Roman"/>
              </a:rPr>
              <a:t>, </a:t>
            </a:r>
            <a:r>
              <a:rPr lang="fr-FR" sz="2100" b="1">
                <a:latin typeface="Times New Roman"/>
                <a:ea typeface="Times New Roman"/>
                <a:cs typeface="Times New Roman"/>
                <a:sym typeface="Times New Roman"/>
              </a:rPr>
              <a:t>Puppet</a:t>
            </a:r>
            <a:r>
              <a:rPr lang="fr-FR" sz="2100">
                <a:latin typeface="Times New Roman"/>
                <a:ea typeface="Times New Roman"/>
                <a:cs typeface="Times New Roman"/>
                <a:sym typeface="Times New Roman"/>
              </a:rPr>
              <a:t> ou </a:t>
            </a:r>
            <a:r>
              <a:rPr lang="fr-FR" sz="2100" b="1">
                <a:latin typeface="Times New Roman"/>
                <a:ea typeface="Times New Roman"/>
                <a:cs typeface="Times New Roman"/>
                <a:sym typeface="Times New Roman"/>
              </a:rPr>
              <a:t>Chef</a:t>
            </a:r>
            <a:r>
              <a:rPr lang="fr-FR" sz="2100">
                <a:latin typeface="Times New Roman"/>
                <a:ea typeface="Times New Roman"/>
                <a:cs typeface="Times New Roman"/>
                <a:sym typeface="Times New Roman"/>
              </a:rPr>
              <a:t> qui se chargera d'automatiser ce processus.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2"/>
        <p:cNvGrpSpPr/>
        <p:nvPr/>
      </p:nvGrpSpPr>
      <p:grpSpPr>
        <a:xfrm>
          <a:off x="0" y="0"/>
          <a:ext cx="0" cy="0"/>
          <a:chOff x="0" y="0"/>
          <a:chExt cx="0" cy="0"/>
        </a:xfrm>
      </p:grpSpPr>
      <p:sp>
        <p:nvSpPr>
          <p:cNvPr id="223" name="Google Shape;223;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4" name="Google Shape;224;p7"/>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5" name="Google Shape;225;p7"/>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6" name="Google Shape;226;p7"/>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7" name="Google Shape;227;p7"/>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8" name="Google Shape;228;p7"/>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2. PRINCIPE DE FONCTIONNEMENT ?</a:t>
            </a:r>
            <a:endParaRPr sz="4000">
              <a:solidFill>
                <a:srgbClr val="FFFFFF"/>
              </a:solidFill>
              <a:latin typeface="Times New Roman"/>
              <a:ea typeface="Times New Roman"/>
              <a:cs typeface="Times New Roman"/>
              <a:sym typeface="Times New Roman"/>
            </a:endParaRPr>
          </a:p>
        </p:txBody>
      </p:sp>
      <p:sp>
        <p:nvSpPr>
          <p:cNvPr id="229" name="Google Shape;229;p7"/>
          <p:cNvSpPr txBox="1">
            <a:spLocks noGrp="1"/>
          </p:cNvSpPr>
          <p:nvPr>
            <p:ph type="body" idx="1"/>
          </p:nvPr>
        </p:nvSpPr>
        <p:spPr>
          <a:xfrm>
            <a:off x="637256" y="1927184"/>
            <a:ext cx="10856539" cy="4451726"/>
          </a:xfrm>
          <a:prstGeom prst="rect">
            <a:avLst/>
          </a:prstGeom>
          <a:noFill/>
          <a:ln>
            <a:noFill/>
          </a:ln>
        </p:spPr>
        <p:txBody>
          <a:bodyPr spcFirstLastPara="1" wrap="square" lIns="91425" tIns="45700" rIns="91425" bIns="45700" anchor="ctr" anchorCtr="0">
            <a:noAutofit/>
          </a:bodyPr>
          <a:lstStyle/>
          <a:p>
            <a:pPr marL="228600" lvl="0" indent="-228600" algn="l"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Utilisation d’une unique commande Vagrant pour tout piloter </a:t>
            </a:r>
            <a:endParaRPr/>
          </a:p>
          <a:p>
            <a:pPr marL="0" lvl="0" indent="0" algn="l" rtl="0">
              <a:lnSpc>
                <a:spcPct val="150000"/>
              </a:lnSpc>
              <a:spcBef>
                <a:spcPts val="0"/>
              </a:spcBef>
              <a:spcAft>
                <a:spcPts val="0"/>
              </a:spcAft>
              <a:buClr>
                <a:schemeClr val="dk1"/>
              </a:buClr>
              <a:buSzPts val="2100"/>
              <a:buNone/>
            </a:pPr>
            <a:r>
              <a:rPr lang="fr-FR" sz="2100">
                <a:latin typeface="Times New Roman"/>
                <a:ea typeface="Times New Roman"/>
                <a:cs typeface="Times New Roman"/>
                <a:sym typeface="Times New Roman"/>
              </a:rPr>
              <a:t>→ Création </a:t>
            </a:r>
            <a:endParaRPr/>
          </a:p>
          <a:p>
            <a:pPr marL="0" lvl="0" indent="0" algn="l" rtl="0">
              <a:lnSpc>
                <a:spcPct val="150000"/>
              </a:lnSpc>
              <a:spcBef>
                <a:spcPts val="0"/>
              </a:spcBef>
              <a:spcAft>
                <a:spcPts val="0"/>
              </a:spcAft>
              <a:buClr>
                <a:schemeClr val="dk1"/>
              </a:buClr>
              <a:buSzPts val="2100"/>
              <a:buNone/>
            </a:pPr>
            <a:r>
              <a:rPr lang="fr-FR" sz="2100">
                <a:latin typeface="Times New Roman"/>
                <a:ea typeface="Times New Roman"/>
                <a:cs typeface="Times New Roman"/>
                <a:sym typeface="Times New Roman"/>
              </a:rPr>
              <a:t>→ Allumage </a:t>
            </a:r>
            <a:endParaRPr/>
          </a:p>
          <a:p>
            <a:pPr marL="0" lvl="0" indent="0" algn="l" rtl="0">
              <a:lnSpc>
                <a:spcPct val="150000"/>
              </a:lnSpc>
              <a:spcBef>
                <a:spcPts val="0"/>
              </a:spcBef>
              <a:spcAft>
                <a:spcPts val="0"/>
              </a:spcAft>
              <a:buClr>
                <a:schemeClr val="dk1"/>
              </a:buClr>
              <a:buSzPts val="2100"/>
              <a:buNone/>
            </a:pPr>
            <a:r>
              <a:rPr lang="fr-FR" sz="2100">
                <a:latin typeface="Times New Roman"/>
                <a:ea typeface="Times New Roman"/>
                <a:cs typeface="Times New Roman"/>
                <a:sym typeface="Times New Roman"/>
              </a:rPr>
              <a:t>→ Mise en veille </a:t>
            </a:r>
            <a:endParaRPr/>
          </a:p>
          <a:p>
            <a:pPr marL="0" lvl="0" indent="0" algn="l" rtl="0">
              <a:lnSpc>
                <a:spcPct val="150000"/>
              </a:lnSpc>
              <a:spcBef>
                <a:spcPts val="0"/>
              </a:spcBef>
              <a:spcAft>
                <a:spcPts val="0"/>
              </a:spcAft>
              <a:buClr>
                <a:schemeClr val="dk1"/>
              </a:buClr>
              <a:buSzPts val="2100"/>
              <a:buNone/>
            </a:pPr>
            <a:r>
              <a:rPr lang="fr-FR" sz="2100">
                <a:latin typeface="Times New Roman"/>
                <a:ea typeface="Times New Roman"/>
                <a:cs typeface="Times New Roman"/>
                <a:sym typeface="Times New Roman"/>
              </a:rPr>
              <a:t>→ Extinction </a:t>
            </a:r>
            <a:endParaRPr/>
          </a:p>
          <a:p>
            <a:pPr marL="0" lvl="0" indent="0" algn="l" rtl="0">
              <a:lnSpc>
                <a:spcPct val="150000"/>
              </a:lnSpc>
              <a:spcBef>
                <a:spcPts val="0"/>
              </a:spcBef>
              <a:spcAft>
                <a:spcPts val="0"/>
              </a:spcAft>
              <a:buClr>
                <a:schemeClr val="dk1"/>
              </a:buClr>
              <a:buSzPts val="2100"/>
              <a:buNone/>
            </a:pPr>
            <a:r>
              <a:rPr lang="fr-FR" sz="2100">
                <a:latin typeface="Times New Roman"/>
                <a:ea typeface="Times New Roman"/>
                <a:cs typeface="Times New Roman"/>
                <a:sym typeface="Times New Roman"/>
              </a:rPr>
              <a:t>→ Ouverture de session </a:t>
            </a:r>
            <a:endParaRPr/>
          </a:p>
          <a:p>
            <a:pPr marL="228600" lvl="0" indent="-228600" algn="l" rtl="0">
              <a:lnSpc>
                <a:spcPct val="150000"/>
              </a:lnSpc>
              <a:spcBef>
                <a:spcPts val="0"/>
              </a:spcBef>
              <a:spcAft>
                <a:spcPts val="0"/>
              </a:spcAft>
              <a:buClr>
                <a:schemeClr val="dk1"/>
              </a:buClr>
              <a:buSzPts val="2100"/>
              <a:buChar char="•"/>
            </a:pPr>
            <a:r>
              <a:rPr lang="fr-FR" sz="2100">
                <a:latin typeface="Times New Roman"/>
                <a:ea typeface="Times New Roman"/>
                <a:cs typeface="Times New Roman"/>
                <a:sym typeface="Times New Roman"/>
              </a:rPr>
              <a:t>Utilise des protocoles et outils existants (SSH, RDP...) </a:t>
            </a:r>
            <a:endParaRPr sz="2100">
              <a:latin typeface="Times New Roman"/>
              <a:ea typeface="Times New Roman"/>
              <a:cs typeface="Times New Roman"/>
              <a:sym typeface="Times New Roman"/>
            </a:endParaRPr>
          </a:p>
          <a:p>
            <a:pPr marL="0" lvl="0" indent="0" algn="l" rtl="0">
              <a:lnSpc>
                <a:spcPct val="150000"/>
              </a:lnSpc>
              <a:spcBef>
                <a:spcPts val="0"/>
              </a:spcBef>
              <a:spcAft>
                <a:spcPts val="0"/>
              </a:spcAft>
              <a:buClr>
                <a:schemeClr val="dk1"/>
              </a:buClr>
              <a:buSzPts val="2100"/>
              <a:buNone/>
            </a:pPr>
            <a:endParaRPr sz="21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
        <p:nvSpPr>
          <p:cNvPr id="234" name="Google Shape;234;p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5" name="Google Shape;235;p8"/>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6" name="Google Shape;236;p8"/>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7" name="Google Shape;237;p8"/>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8" name="Google Shape;238;p8"/>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9" name="Google Shape;239;p8"/>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3. INSTALLATION ET PRÉREQUIS</a:t>
            </a:r>
            <a:endParaRPr sz="4000">
              <a:solidFill>
                <a:srgbClr val="FFFFFF"/>
              </a:solidFill>
              <a:latin typeface="Times New Roman"/>
              <a:ea typeface="Times New Roman"/>
              <a:cs typeface="Times New Roman"/>
              <a:sym typeface="Times New Roman"/>
            </a:endParaRPr>
          </a:p>
        </p:txBody>
      </p:sp>
      <p:pic>
        <p:nvPicPr>
          <p:cNvPr id="240" name="Google Shape;240;p8"/>
          <p:cNvPicPr preferRelativeResize="0"/>
          <p:nvPr/>
        </p:nvPicPr>
        <p:blipFill rotWithShape="1">
          <a:blip r:embed="rId3">
            <a:alphaModFix/>
          </a:blip>
          <a:srcRect/>
          <a:stretch/>
        </p:blipFill>
        <p:spPr>
          <a:xfrm>
            <a:off x="331332" y="1841589"/>
            <a:ext cx="6239589" cy="4648603"/>
          </a:xfrm>
          <a:prstGeom prst="rect">
            <a:avLst/>
          </a:prstGeom>
          <a:noFill/>
          <a:ln>
            <a:noFill/>
          </a:ln>
        </p:spPr>
      </p:pic>
      <p:sp>
        <p:nvSpPr>
          <p:cNvPr id="241" name="Google Shape;241;p8"/>
          <p:cNvSpPr txBox="1">
            <a:spLocks noGrp="1"/>
          </p:cNvSpPr>
          <p:nvPr>
            <p:ph type="body" idx="1"/>
          </p:nvPr>
        </p:nvSpPr>
        <p:spPr>
          <a:xfrm>
            <a:off x="6902254" y="2323173"/>
            <a:ext cx="4958414" cy="4088260"/>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150"/>
              <a:buFont typeface="Noto Sans Symbols"/>
              <a:buChar char="▪"/>
            </a:pPr>
            <a:r>
              <a:rPr lang="fr-FR" sz="2150">
                <a:latin typeface="Times New Roman"/>
                <a:ea typeface="Times New Roman"/>
                <a:cs typeface="Times New Roman"/>
                <a:sym typeface="Times New Roman"/>
              </a:rPr>
              <a:t>Pour installer Vagrant utiliser ce lien:  </a:t>
            </a:r>
            <a:endParaRPr/>
          </a:p>
          <a:p>
            <a:pPr marL="0" lvl="0" indent="0" algn="l" rtl="0">
              <a:lnSpc>
                <a:spcPct val="150000"/>
              </a:lnSpc>
              <a:spcBef>
                <a:spcPts val="1000"/>
              </a:spcBef>
              <a:spcAft>
                <a:spcPts val="0"/>
              </a:spcAft>
              <a:buClr>
                <a:schemeClr val="dk1"/>
              </a:buClr>
              <a:buSzPts val="2150"/>
              <a:buNone/>
            </a:pPr>
            <a:r>
              <a:rPr lang="fr-FR" sz="2150">
                <a:latin typeface="Times New Roman"/>
                <a:ea typeface="Times New Roman"/>
                <a:cs typeface="Times New Roman"/>
                <a:sym typeface="Times New Roman"/>
              </a:rPr>
              <a:t>https://developer.hashicorp.com/vagrant/install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5"/>
        <p:cNvGrpSpPr/>
        <p:nvPr/>
      </p:nvGrpSpPr>
      <p:grpSpPr>
        <a:xfrm>
          <a:off x="0" y="0"/>
          <a:ext cx="0" cy="0"/>
          <a:chOff x="0" y="0"/>
          <a:chExt cx="0" cy="0"/>
        </a:xfrm>
      </p:grpSpPr>
      <p:sp>
        <p:nvSpPr>
          <p:cNvPr id="246" name="Google Shape;246;p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7" name="Google Shape;247;p9"/>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8" name="Google Shape;248;p9"/>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9" name="Google Shape;249;p9"/>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0" name="Google Shape;250;p9"/>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1" name="Google Shape;251;p9"/>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IV. CAS D’UTILISATIONS</a:t>
            </a:r>
            <a:endParaRPr sz="4000">
              <a:solidFill>
                <a:srgbClr val="FFFFFF"/>
              </a:solidFill>
              <a:latin typeface="Times New Roman"/>
              <a:ea typeface="Times New Roman"/>
              <a:cs typeface="Times New Roman"/>
              <a:sym typeface="Times New Roman"/>
            </a:endParaRPr>
          </a:p>
        </p:txBody>
      </p:sp>
      <p:sp>
        <p:nvSpPr>
          <p:cNvPr id="252" name="Google Shape;252;p9"/>
          <p:cNvSpPr txBox="1">
            <a:spLocks noGrp="1"/>
          </p:cNvSpPr>
          <p:nvPr>
            <p:ph type="body" idx="1"/>
          </p:nvPr>
        </p:nvSpPr>
        <p:spPr>
          <a:xfrm>
            <a:off x="644129" y="2183586"/>
            <a:ext cx="10903738" cy="4088260"/>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150"/>
              <a:buFont typeface="Noto Sans Symbols"/>
              <a:buChar char="▪"/>
            </a:pPr>
            <a:r>
              <a:rPr lang="fr-FR" sz="2150">
                <a:latin typeface="Times New Roman"/>
                <a:ea typeface="Times New Roman"/>
                <a:cs typeface="Times New Roman"/>
                <a:sym typeface="Times New Roman"/>
              </a:rPr>
              <a:t>Développement / Déploiement local </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a:latin typeface="Times New Roman"/>
                <a:ea typeface="Times New Roman"/>
                <a:cs typeface="Times New Roman"/>
                <a:sym typeface="Times New Roman"/>
              </a:rPr>
              <a:t>Tests et Intégration Continue</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a:latin typeface="Times New Roman"/>
                <a:ea typeface="Times New Roman"/>
                <a:cs typeface="Times New Roman"/>
                <a:sym typeface="Times New Roman"/>
              </a:rPr>
              <a:t>Formation et Apprentissage</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a:latin typeface="Times New Roman"/>
                <a:ea typeface="Times New Roman"/>
                <a:cs typeface="Times New Roman"/>
                <a:sym typeface="Times New Roman"/>
              </a:rPr>
              <a:t>Gestion de Configuration</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a:latin typeface="Times New Roman"/>
                <a:ea typeface="Times New Roman"/>
                <a:cs typeface="Times New Roman"/>
                <a:sym typeface="Times New Roman"/>
              </a:rPr>
              <a:t>Environnements Multi-Machines</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a:latin typeface="Times New Roman"/>
                <a:ea typeface="Times New Roman"/>
                <a:cs typeface="Times New Roman"/>
                <a:sym typeface="Times New Roman"/>
              </a:rPr>
              <a:t>Évaluation de Logiciels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6"/>
        <p:cNvGrpSpPr/>
        <p:nvPr/>
      </p:nvGrpSpPr>
      <p:grpSpPr>
        <a:xfrm>
          <a:off x="0" y="0"/>
          <a:ext cx="0" cy="0"/>
          <a:chOff x="0" y="0"/>
          <a:chExt cx="0" cy="0"/>
        </a:xfrm>
      </p:grpSpPr>
      <p:sp>
        <p:nvSpPr>
          <p:cNvPr id="257" name="Google Shape;257;p1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8" name="Google Shape;258;p10"/>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9" name="Google Shape;259;p10"/>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0" name="Google Shape;260;p10"/>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1" name="Google Shape;261;p10"/>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2" name="Google Shape;262;p10"/>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 COMMANDES DE BASE</a:t>
            </a:r>
            <a:endParaRPr sz="4000">
              <a:solidFill>
                <a:srgbClr val="FFFFFF"/>
              </a:solidFill>
              <a:latin typeface="Times New Roman"/>
              <a:ea typeface="Times New Roman"/>
              <a:cs typeface="Times New Roman"/>
              <a:sym typeface="Times New Roman"/>
            </a:endParaRPr>
          </a:p>
        </p:txBody>
      </p:sp>
      <p:sp>
        <p:nvSpPr>
          <p:cNvPr id="263" name="Google Shape;263;p10"/>
          <p:cNvSpPr txBox="1">
            <a:spLocks noGrp="1"/>
          </p:cNvSpPr>
          <p:nvPr>
            <p:ph type="body" idx="1"/>
          </p:nvPr>
        </p:nvSpPr>
        <p:spPr>
          <a:xfrm>
            <a:off x="644129" y="2183586"/>
            <a:ext cx="10903738" cy="4088260"/>
          </a:xfrm>
          <a:prstGeom prst="rect">
            <a:avLst/>
          </a:prstGeom>
          <a:noFill/>
          <a:ln>
            <a:noFill/>
          </a:ln>
        </p:spPr>
        <p:txBody>
          <a:bodyPr spcFirstLastPara="1" wrap="square" lIns="91425" tIns="45700" rIns="91425" bIns="45700" anchor="t" anchorCtr="0">
            <a:noAutofit/>
          </a:bodyPr>
          <a:lstStyle/>
          <a:p>
            <a:pPr marL="228600" lvl="0" indent="-228600" algn="l" rtl="0">
              <a:lnSpc>
                <a:spcPct val="150000"/>
              </a:lnSpc>
              <a:spcBef>
                <a:spcPts val="0"/>
              </a:spcBef>
              <a:spcAft>
                <a:spcPts val="0"/>
              </a:spcAft>
              <a:buClr>
                <a:schemeClr val="dk1"/>
              </a:buClr>
              <a:buSzPts val="2150"/>
              <a:buFont typeface="Noto Sans Symbols"/>
              <a:buChar char="▪"/>
            </a:pPr>
            <a:r>
              <a:rPr lang="fr-FR" sz="2150">
                <a:latin typeface="Times New Roman"/>
                <a:ea typeface="Times New Roman"/>
                <a:cs typeface="Times New Roman"/>
                <a:sym typeface="Times New Roman"/>
              </a:rPr>
              <a:t>Créer une machine virtuelle </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b="1">
                <a:latin typeface="Times New Roman"/>
                <a:ea typeface="Times New Roman"/>
                <a:cs typeface="Times New Roman"/>
                <a:sym typeface="Times New Roman"/>
              </a:rPr>
              <a:t>vagrant init : </a:t>
            </a:r>
            <a:r>
              <a:rPr lang="fr-FR" sz="2150">
                <a:latin typeface="Times New Roman"/>
                <a:ea typeface="Times New Roman"/>
                <a:cs typeface="Times New Roman"/>
                <a:sym typeface="Times New Roman"/>
              </a:rPr>
              <a:t>Initialise Vagrant avec un répertoire Vagrantfile et ./.vagrant, en utilisant aucune image de base spécifiée. Avant de pouvoir faire vagabonder, vous devrez spécifier une image de base dans le Vagrantfile. </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b="1">
                <a:latin typeface="Times New Roman"/>
                <a:ea typeface="Times New Roman"/>
                <a:cs typeface="Times New Roman"/>
                <a:sym typeface="Times New Roman"/>
              </a:rPr>
              <a:t>Vagrant init &lt;chemin vers l'image/box&gt; : </a:t>
            </a:r>
            <a:r>
              <a:rPr lang="fr-FR" sz="2150">
                <a:latin typeface="Times New Roman"/>
                <a:ea typeface="Times New Roman"/>
                <a:cs typeface="Times New Roman"/>
                <a:sym typeface="Times New Roman"/>
              </a:rPr>
              <a:t>Initialise Vagrant avec une boîte spécifique. Pour trouver une boîte, accédez au catalogue public de boîtes Vagrant. Lorsque vous en trouvez un que vous aimez, remplacez simplement son nom par boxpath. Par exemple, </a:t>
            </a:r>
            <a:r>
              <a:rPr lang="fr-FR" sz="2150" b="1">
                <a:latin typeface="Times New Roman"/>
                <a:ea typeface="Times New Roman"/>
                <a:cs typeface="Times New Roman"/>
                <a:sym typeface="Times New Roman"/>
              </a:rPr>
              <a:t>vagrant init ubuntu / trusty64.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7"/>
        <p:cNvGrpSpPr/>
        <p:nvPr/>
      </p:nvGrpSpPr>
      <p:grpSpPr>
        <a:xfrm>
          <a:off x="0" y="0"/>
          <a:ext cx="0" cy="0"/>
          <a:chOff x="0" y="0"/>
          <a:chExt cx="0" cy="0"/>
        </a:xfrm>
      </p:grpSpPr>
      <p:sp>
        <p:nvSpPr>
          <p:cNvPr id="268" name="Google Shape;268;p1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9" name="Google Shape;269;p11"/>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0" name="Google Shape;270;p11"/>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1" name="Google Shape;271;p11"/>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2" name="Google Shape;272;p11"/>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3" name="Google Shape;273;p11"/>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 COMMANDES DE BASE</a:t>
            </a:r>
            <a:endParaRPr sz="4000">
              <a:solidFill>
                <a:srgbClr val="FFFFFF"/>
              </a:solidFill>
              <a:latin typeface="Times New Roman"/>
              <a:ea typeface="Times New Roman"/>
              <a:cs typeface="Times New Roman"/>
              <a:sym typeface="Times New Roman"/>
            </a:endParaRPr>
          </a:p>
        </p:txBody>
      </p:sp>
      <p:sp>
        <p:nvSpPr>
          <p:cNvPr id="274" name="Google Shape;274;p11"/>
          <p:cNvSpPr txBox="1">
            <a:spLocks noGrp="1"/>
          </p:cNvSpPr>
          <p:nvPr>
            <p:ph type="body" idx="1"/>
          </p:nvPr>
        </p:nvSpPr>
        <p:spPr>
          <a:xfrm>
            <a:off x="644129" y="2183586"/>
            <a:ext cx="10903738" cy="408826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2150"/>
              <a:buNone/>
            </a:pPr>
            <a:r>
              <a:rPr lang="fr-FR" sz="2150" b="1">
                <a:latin typeface="Times New Roman"/>
                <a:ea typeface="Times New Roman"/>
                <a:cs typeface="Times New Roman"/>
                <a:sym typeface="Times New Roman"/>
              </a:rPr>
              <a:t>Démarrer une VM </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b="1">
                <a:latin typeface="Times New Roman"/>
                <a:ea typeface="Times New Roman"/>
                <a:cs typeface="Times New Roman"/>
                <a:sym typeface="Times New Roman"/>
              </a:rPr>
              <a:t>vagrant up :</a:t>
            </a:r>
            <a:r>
              <a:rPr lang="fr-FR" sz="2150">
                <a:latin typeface="Times New Roman"/>
                <a:ea typeface="Times New Roman"/>
                <a:cs typeface="Times New Roman"/>
                <a:sym typeface="Times New Roman"/>
              </a:rPr>
              <a:t> commence l'environnement virtuel Vagrant CV - reprendre une machine suspendue (vagrant up fonctionne très bien pour cela aussi) fourniture de vagabonds - force le réapprovisionnement de la machine vagabonde </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b="1">
                <a:latin typeface="Times New Roman"/>
                <a:ea typeface="Times New Roman"/>
                <a:cs typeface="Times New Roman"/>
                <a:sym typeface="Times New Roman"/>
              </a:rPr>
              <a:t>vagrant reload : </a:t>
            </a:r>
            <a:r>
              <a:rPr lang="fr-FR" sz="2150">
                <a:latin typeface="Times New Roman"/>
                <a:ea typeface="Times New Roman"/>
                <a:cs typeface="Times New Roman"/>
                <a:sym typeface="Times New Roman"/>
              </a:rPr>
              <a:t>redémarre la machine, charge la nouvelle configuration de Vagrantfile </a:t>
            </a:r>
            <a:endParaRPr/>
          </a:p>
          <a:p>
            <a:pPr marL="228600" lvl="0" indent="-228600" algn="l" rtl="0">
              <a:lnSpc>
                <a:spcPct val="150000"/>
              </a:lnSpc>
              <a:spcBef>
                <a:spcPts val="1000"/>
              </a:spcBef>
              <a:spcAft>
                <a:spcPts val="0"/>
              </a:spcAft>
              <a:buClr>
                <a:schemeClr val="dk1"/>
              </a:buClr>
              <a:buSzPts val="2150"/>
              <a:buFont typeface="Noto Sans Symbols"/>
              <a:buChar char="▪"/>
            </a:pPr>
            <a:r>
              <a:rPr lang="fr-FR" sz="2150" b="1">
                <a:latin typeface="Times New Roman"/>
                <a:ea typeface="Times New Roman"/>
                <a:cs typeface="Times New Roman"/>
                <a:sym typeface="Times New Roman"/>
              </a:rPr>
              <a:t>vagrant reload –provision </a:t>
            </a:r>
            <a:r>
              <a:rPr lang="fr-FR" sz="2150">
                <a:latin typeface="Times New Roman"/>
                <a:ea typeface="Times New Roman"/>
                <a:cs typeface="Times New Roman"/>
                <a:sym typeface="Times New Roman"/>
              </a:rPr>
              <a:t>: redémarre la machine virtuelle et force l'approvisionnement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8"/>
        <p:cNvGrpSpPr/>
        <p:nvPr/>
      </p:nvGrpSpPr>
      <p:grpSpPr>
        <a:xfrm>
          <a:off x="0" y="0"/>
          <a:ext cx="0" cy="0"/>
          <a:chOff x="0" y="0"/>
          <a:chExt cx="0" cy="0"/>
        </a:xfrm>
      </p:grpSpPr>
      <p:sp>
        <p:nvSpPr>
          <p:cNvPr id="279" name="Google Shape;279;p1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0" name="Google Shape;280;p12"/>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1" name="Google Shape;281;p12"/>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2" name="Google Shape;282;p12"/>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3" name="Google Shape;283;p12"/>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4" name="Google Shape;284;p12"/>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 COMMANDES DE BASE</a:t>
            </a:r>
            <a:endParaRPr sz="4000">
              <a:solidFill>
                <a:srgbClr val="FFFFFF"/>
              </a:solidFill>
              <a:latin typeface="Times New Roman"/>
              <a:ea typeface="Times New Roman"/>
              <a:cs typeface="Times New Roman"/>
              <a:sym typeface="Times New Roman"/>
            </a:endParaRPr>
          </a:p>
        </p:txBody>
      </p:sp>
      <p:sp>
        <p:nvSpPr>
          <p:cNvPr id="285" name="Google Shape;285;p12"/>
          <p:cNvSpPr txBox="1">
            <a:spLocks noGrp="1"/>
          </p:cNvSpPr>
          <p:nvPr>
            <p:ph type="body" idx="1"/>
          </p:nvPr>
        </p:nvSpPr>
        <p:spPr>
          <a:xfrm>
            <a:off x="644129" y="2183586"/>
            <a:ext cx="10903738" cy="408826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2150"/>
              <a:buNone/>
            </a:pPr>
            <a:r>
              <a:rPr lang="fr-FR" sz="2150" b="1">
                <a:latin typeface="Times New Roman"/>
                <a:ea typeface="Times New Roman"/>
                <a:cs typeface="Times New Roman"/>
                <a:sym typeface="Times New Roman"/>
              </a:rPr>
              <a:t>Se connecter à un VM </a:t>
            </a:r>
            <a:endParaRPr/>
          </a:p>
          <a:p>
            <a:pPr marL="0" lvl="0" indent="0" algn="l" rtl="0">
              <a:lnSpc>
                <a:spcPct val="150000"/>
              </a:lnSpc>
              <a:spcBef>
                <a:spcPts val="1000"/>
              </a:spcBef>
              <a:spcAft>
                <a:spcPts val="0"/>
              </a:spcAft>
              <a:buClr>
                <a:schemeClr val="dk1"/>
              </a:buClr>
              <a:buSzPts val="2150"/>
              <a:buNone/>
            </a:pPr>
            <a:r>
              <a:rPr lang="fr-FR" sz="2150" b="1">
                <a:latin typeface="Times New Roman"/>
                <a:ea typeface="Times New Roman"/>
                <a:cs typeface="Times New Roman"/>
                <a:sym typeface="Times New Roman"/>
              </a:rPr>
              <a:t>vagrant ssh </a:t>
            </a:r>
            <a:r>
              <a:rPr lang="fr-FR" sz="2150">
                <a:latin typeface="Times New Roman"/>
                <a:ea typeface="Times New Roman"/>
                <a:cs typeface="Times New Roman"/>
                <a:sym typeface="Times New Roman"/>
              </a:rPr>
              <a:t>: se connecte à la machine via SSH </a:t>
            </a:r>
            <a:endParaRPr/>
          </a:p>
          <a:p>
            <a:pPr marL="0" lvl="0" indent="0" algn="l" rtl="0">
              <a:lnSpc>
                <a:spcPct val="150000"/>
              </a:lnSpc>
              <a:spcBef>
                <a:spcPts val="1000"/>
              </a:spcBef>
              <a:spcAft>
                <a:spcPts val="0"/>
              </a:spcAft>
              <a:buClr>
                <a:schemeClr val="dk1"/>
              </a:buClr>
              <a:buSzPts val="2150"/>
              <a:buNone/>
            </a:pPr>
            <a:r>
              <a:rPr lang="fr-FR" sz="2150" b="1">
                <a:latin typeface="Times New Roman"/>
                <a:ea typeface="Times New Roman"/>
                <a:cs typeface="Times New Roman"/>
                <a:sym typeface="Times New Roman"/>
              </a:rPr>
              <a:t>Arrêter un VM vagrant halt </a:t>
            </a:r>
            <a:r>
              <a:rPr lang="fr-FR" sz="2150">
                <a:latin typeface="Times New Roman"/>
                <a:ea typeface="Times New Roman"/>
                <a:cs typeface="Times New Roman"/>
                <a:sym typeface="Times New Roman"/>
              </a:rPr>
              <a:t>: arrête la machine du vagabond </a:t>
            </a:r>
            <a:endParaRPr/>
          </a:p>
          <a:p>
            <a:pPr marL="0" lvl="0" indent="0" algn="l" rtl="0">
              <a:lnSpc>
                <a:spcPct val="150000"/>
              </a:lnSpc>
              <a:spcBef>
                <a:spcPts val="1000"/>
              </a:spcBef>
              <a:spcAft>
                <a:spcPts val="0"/>
              </a:spcAft>
              <a:buClr>
                <a:schemeClr val="dk1"/>
              </a:buClr>
              <a:buSzPts val="2150"/>
              <a:buNone/>
            </a:pPr>
            <a:r>
              <a:rPr lang="fr-FR" sz="2150" b="1">
                <a:latin typeface="Times New Roman"/>
                <a:ea typeface="Times New Roman"/>
                <a:cs typeface="Times New Roman"/>
                <a:sym typeface="Times New Roman"/>
              </a:rPr>
              <a:t>vagrant suspend </a:t>
            </a:r>
            <a:r>
              <a:rPr lang="fr-FR" sz="2150">
                <a:latin typeface="Times New Roman"/>
                <a:ea typeface="Times New Roman"/>
                <a:cs typeface="Times New Roman"/>
                <a:sym typeface="Times New Roman"/>
              </a:rPr>
              <a:t>: suspend une machine virtuelle (sauvegarde l'état) </a:t>
            </a:r>
            <a:endParaRPr/>
          </a:p>
          <a:p>
            <a:pPr marL="0" lvl="0" indent="0" algn="l" rtl="0">
              <a:lnSpc>
                <a:spcPct val="150000"/>
              </a:lnSpc>
              <a:spcBef>
                <a:spcPts val="1000"/>
              </a:spcBef>
              <a:spcAft>
                <a:spcPts val="0"/>
              </a:spcAft>
              <a:buClr>
                <a:schemeClr val="dk1"/>
              </a:buClr>
              <a:buSzPts val="2150"/>
              <a:buNone/>
            </a:pPr>
            <a:r>
              <a:rPr lang="fr-FR" sz="2150" b="1">
                <a:latin typeface="Times New Roman"/>
                <a:ea typeface="Times New Roman"/>
                <a:cs typeface="Times New Roman"/>
                <a:sym typeface="Times New Roman"/>
              </a:rPr>
              <a:t>Détruire un VM vagrant destroy </a:t>
            </a:r>
            <a:r>
              <a:rPr lang="fr-FR" sz="2150">
                <a:latin typeface="Times New Roman"/>
                <a:ea typeface="Times New Roman"/>
                <a:cs typeface="Times New Roman"/>
                <a:sym typeface="Times New Roman"/>
              </a:rPr>
              <a:t>: arrête et supprime toute trace de la machine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9"/>
        <p:cNvGrpSpPr/>
        <p:nvPr/>
      </p:nvGrpSpPr>
      <p:grpSpPr>
        <a:xfrm>
          <a:off x="0" y="0"/>
          <a:ext cx="0" cy="0"/>
          <a:chOff x="0" y="0"/>
          <a:chExt cx="0" cy="0"/>
        </a:xfrm>
      </p:grpSpPr>
      <p:sp>
        <p:nvSpPr>
          <p:cNvPr id="290" name="Google Shape;290;p1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1" name="Google Shape;291;p13"/>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2" name="Google Shape;292;p13"/>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3" name="Google Shape;293;p13"/>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4" name="Google Shape;294;p13"/>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5" name="Google Shape;295;p13"/>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 COMMANDES DE BASE</a:t>
            </a:r>
            <a:endParaRPr sz="4000">
              <a:solidFill>
                <a:srgbClr val="FFFFFF"/>
              </a:solidFill>
              <a:latin typeface="Times New Roman"/>
              <a:ea typeface="Times New Roman"/>
              <a:cs typeface="Times New Roman"/>
              <a:sym typeface="Times New Roman"/>
            </a:endParaRPr>
          </a:p>
        </p:txBody>
      </p:sp>
      <p:sp>
        <p:nvSpPr>
          <p:cNvPr id="296" name="Google Shape;296;p13"/>
          <p:cNvSpPr txBox="1">
            <a:spLocks noGrp="1"/>
          </p:cNvSpPr>
          <p:nvPr>
            <p:ph type="body" idx="1"/>
          </p:nvPr>
        </p:nvSpPr>
        <p:spPr>
          <a:xfrm>
            <a:off x="644129" y="2183586"/>
            <a:ext cx="10903738" cy="408826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2150"/>
              <a:buNone/>
            </a:pPr>
            <a:r>
              <a:rPr lang="fr-FR" sz="2150" b="1">
                <a:latin typeface="Times New Roman"/>
                <a:ea typeface="Times New Roman"/>
                <a:cs typeface="Times New Roman"/>
                <a:sym typeface="Times New Roman"/>
              </a:rPr>
              <a:t>Gestion des Images/Box </a:t>
            </a:r>
            <a:endParaRPr/>
          </a:p>
          <a:p>
            <a:pPr marL="0" lvl="0" indent="0" algn="l" rtl="0">
              <a:lnSpc>
                <a:spcPct val="150000"/>
              </a:lnSpc>
              <a:spcBef>
                <a:spcPts val="1000"/>
              </a:spcBef>
              <a:spcAft>
                <a:spcPts val="0"/>
              </a:spcAft>
              <a:buClr>
                <a:schemeClr val="dk1"/>
              </a:buClr>
              <a:buSzPts val="2150"/>
              <a:buNone/>
            </a:pPr>
            <a:r>
              <a:rPr lang="fr-FR" sz="2150" b="1">
                <a:latin typeface="Times New Roman"/>
                <a:ea typeface="Times New Roman"/>
                <a:cs typeface="Times New Roman"/>
                <a:sym typeface="Times New Roman"/>
              </a:rPr>
              <a:t>vagrant box list </a:t>
            </a:r>
            <a:r>
              <a:rPr lang="fr-FR" sz="2150">
                <a:latin typeface="Times New Roman"/>
                <a:ea typeface="Times New Roman"/>
                <a:cs typeface="Times New Roman"/>
                <a:sym typeface="Times New Roman"/>
              </a:rPr>
              <a:t>: voir une liste de toutes les image/box installées sur votre ordinateur </a:t>
            </a:r>
            <a:endParaRPr/>
          </a:p>
          <a:p>
            <a:pPr marL="0" lvl="0" indent="0" algn="l" rtl="0">
              <a:lnSpc>
                <a:spcPct val="150000"/>
              </a:lnSpc>
              <a:spcBef>
                <a:spcPts val="1000"/>
              </a:spcBef>
              <a:spcAft>
                <a:spcPts val="0"/>
              </a:spcAft>
              <a:buClr>
                <a:schemeClr val="dk1"/>
              </a:buClr>
              <a:buSzPts val="2150"/>
              <a:buNone/>
            </a:pPr>
            <a:r>
              <a:rPr lang="fr-FR" sz="2150" b="1">
                <a:latin typeface="Times New Roman"/>
                <a:ea typeface="Times New Roman"/>
                <a:cs typeface="Times New Roman"/>
                <a:sym typeface="Times New Roman"/>
              </a:rPr>
              <a:t>vagrant box add &lt;nom ou url&gt; </a:t>
            </a:r>
            <a:r>
              <a:rPr lang="fr-FR" sz="2150">
                <a:latin typeface="Times New Roman"/>
                <a:ea typeface="Times New Roman"/>
                <a:cs typeface="Times New Roman"/>
                <a:sym typeface="Times New Roman"/>
              </a:rPr>
              <a:t>: téléchargez une image de la boîte sur votre ordinateur </a:t>
            </a:r>
            <a:endParaRPr/>
          </a:p>
          <a:p>
            <a:pPr marL="0" lvl="0" indent="0" algn="l" rtl="0">
              <a:lnSpc>
                <a:spcPct val="150000"/>
              </a:lnSpc>
              <a:spcBef>
                <a:spcPts val="1000"/>
              </a:spcBef>
              <a:spcAft>
                <a:spcPts val="0"/>
              </a:spcAft>
              <a:buClr>
                <a:schemeClr val="dk1"/>
              </a:buClr>
              <a:buSzPts val="2150"/>
              <a:buNone/>
            </a:pPr>
            <a:r>
              <a:rPr lang="fr-FR" sz="2150" b="1">
                <a:latin typeface="Times New Roman"/>
                <a:ea typeface="Times New Roman"/>
                <a:cs typeface="Times New Roman"/>
                <a:sym typeface="Times New Roman"/>
              </a:rPr>
              <a:t>vagrant box outdated </a:t>
            </a:r>
            <a:r>
              <a:rPr lang="fr-FR" sz="2150">
                <a:latin typeface="Times New Roman"/>
                <a:ea typeface="Times New Roman"/>
                <a:cs typeface="Times New Roman"/>
                <a:sym typeface="Times New Roman"/>
              </a:rPr>
              <a:t>: vérifier les mises à jour </a:t>
            </a:r>
            <a:endParaRPr/>
          </a:p>
          <a:p>
            <a:pPr marL="0" lvl="0" indent="0" algn="l" rtl="0">
              <a:lnSpc>
                <a:spcPct val="150000"/>
              </a:lnSpc>
              <a:spcBef>
                <a:spcPts val="1000"/>
              </a:spcBef>
              <a:spcAft>
                <a:spcPts val="0"/>
              </a:spcAft>
              <a:buClr>
                <a:schemeClr val="dk1"/>
              </a:buClr>
              <a:buSzPts val="2150"/>
              <a:buNone/>
            </a:pPr>
            <a:r>
              <a:rPr lang="fr-FR" sz="2150" b="1">
                <a:latin typeface="Times New Roman"/>
                <a:ea typeface="Times New Roman"/>
                <a:cs typeface="Times New Roman"/>
                <a:sym typeface="Times New Roman"/>
              </a:rPr>
              <a:t>vagrant box remove &lt;nom&gt; </a:t>
            </a:r>
            <a:r>
              <a:rPr lang="fr-FR" sz="2150">
                <a:latin typeface="Times New Roman"/>
                <a:ea typeface="Times New Roman"/>
                <a:cs typeface="Times New Roman"/>
                <a:sym typeface="Times New Roman"/>
              </a:rPr>
              <a:t>: supprime une boîte de la machine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0"/>
        <p:cNvGrpSpPr/>
        <p:nvPr/>
      </p:nvGrpSpPr>
      <p:grpSpPr>
        <a:xfrm>
          <a:off x="0" y="0"/>
          <a:ext cx="0" cy="0"/>
          <a:chOff x="0" y="0"/>
          <a:chExt cx="0" cy="0"/>
        </a:xfrm>
      </p:grpSpPr>
      <p:sp>
        <p:nvSpPr>
          <p:cNvPr id="301" name="Google Shape;301;p1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2" name="Google Shape;302;p14"/>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3" name="Google Shape;303;p14"/>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4" name="Google Shape;304;p14"/>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5" name="Google Shape;305;p14"/>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6" name="Google Shape;306;p14"/>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Times New Roman"/>
              <a:buNone/>
            </a:pPr>
            <a:r>
              <a:rPr lang="fr-FR" sz="4000" b="1">
                <a:solidFill>
                  <a:srgbClr val="FFFFFF"/>
                </a:solidFill>
                <a:latin typeface="Times New Roman"/>
                <a:ea typeface="Times New Roman"/>
                <a:cs typeface="Times New Roman"/>
                <a:sym typeface="Times New Roman"/>
              </a:rPr>
              <a:t>VI. PRATIQUE</a:t>
            </a:r>
            <a:endParaRPr sz="4000">
              <a:solidFill>
                <a:srgbClr val="FFFFFF"/>
              </a:solidFill>
              <a:latin typeface="Times New Roman"/>
              <a:ea typeface="Times New Roman"/>
              <a:cs typeface="Times New Roman"/>
              <a:sym typeface="Times New Roman"/>
            </a:endParaRPr>
          </a:p>
        </p:txBody>
      </p:sp>
      <p:pic>
        <p:nvPicPr>
          <p:cNvPr id="307" name="Google Shape;307;p14" descr="Mise en oeuvre | CNRD"/>
          <p:cNvPicPr preferRelativeResize="0"/>
          <p:nvPr/>
        </p:nvPicPr>
        <p:blipFill rotWithShape="1">
          <a:blip r:embed="rId3">
            <a:alphaModFix/>
          </a:blip>
          <a:srcRect/>
          <a:stretch/>
        </p:blipFill>
        <p:spPr>
          <a:xfrm>
            <a:off x="3061950" y="1910686"/>
            <a:ext cx="5794971" cy="44198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grpSp>
        <p:nvGrpSpPr>
          <p:cNvPr id="313" name="Google Shape;313;p15"/>
          <p:cNvGrpSpPr/>
          <p:nvPr/>
        </p:nvGrpSpPr>
        <p:grpSpPr>
          <a:xfrm>
            <a:off x="1908089" y="1068592"/>
            <a:ext cx="8452021" cy="4720815"/>
            <a:chOff x="4325258" y="1229517"/>
            <a:chExt cx="3541486" cy="3769865"/>
          </a:xfrm>
        </p:grpSpPr>
        <p:sp>
          <p:nvSpPr>
            <p:cNvPr id="314" name="Google Shape;314;p15"/>
            <p:cNvSpPr/>
            <p:nvPr/>
          </p:nvSpPr>
          <p:spPr>
            <a:xfrm>
              <a:off x="4792319" y="2392018"/>
              <a:ext cx="2607364" cy="2607364"/>
            </a:xfrm>
            <a:prstGeom prst="diamond">
              <a:avLst/>
            </a:pr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5" name="Google Shape;315;p15"/>
            <p:cNvSpPr/>
            <p:nvPr/>
          </p:nvSpPr>
          <p:spPr>
            <a:xfrm>
              <a:off x="4325258" y="1229517"/>
              <a:ext cx="3541486" cy="3541486"/>
            </a:xfrm>
            <a:prstGeom prst="diamond">
              <a:avLst/>
            </a:prstGeom>
            <a:no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316" name="Google Shape;316;p15"/>
          <p:cNvSpPr txBox="1">
            <a:spLocks noGrp="1"/>
          </p:cNvSpPr>
          <p:nvPr>
            <p:ph type="ctrTitle"/>
          </p:nvPr>
        </p:nvSpPr>
        <p:spPr>
          <a:xfrm>
            <a:off x="1524000" y="2431805"/>
            <a:ext cx="9144000" cy="1994392"/>
          </a:xfrm>
          <a:prstGeom prst="rect">
            <a:avLst/>
          </a:prstGeom>
          <a:noFill/>
          <a:ln>
            <a:noFill/>
          </a:ln>
          <a:effectLst>
            <a:outerShdw blurRad="50800" dist="38100" dir="18900000" algn="bl" rotWithShape="0">
              <a:srgbClr val="000000">
                <a:alpha val="40000"/>
              </a:srgbClr>
            </a:outerShdw>
          </a:effectLst>
        </p:spPr>
        <p:txBody>
          <a:bodyPr spcFirstLastPara="1" wrap="square" lIns="0" tIns="0" rIns="0" bIns="0" anchor="ctr" anchorCtr="0">
            <a:spAutoFit/>
          </a:bodyPr>
          <a:lstStyle/>
          <a:p>
            <a:pPr marL="0" lvl="0" indent="0" algn="ctr" rtl="0">
              <a:lnSpc>
                <a:spcPct val="90000"/>
              </a:lnSpc>
              <a:spcBef>
                <a:spcPts val="0"/>
              </a:spcBef>
              <a:spcAft>
                <a:spcPts val="0"/>
              </a:spcAft>
              <a:buClr>
                <a:srgbClr val="222A35"/>
              </a:buClr>
              <a:buSzPts val="7200"/>
              <a:buFont typeface="Times New Roman"/>
              <a:buNone/>
            </a:pPr>
            <a:r>
              <a:rPr lang="fr-FR" sz="7200" b="1">
                <a:solidFill>
                  <a:srgbClr val="222A35"/>
                </a:solidFill>
                <a:latin typeface="Times New Roman"/>
                <a:ea typeface="Times New Roman"/>
                <a:cs typeface="Times New Roman"/>
                <a:sym typeface="Times New Roman"/>
              </a:rPr>
              <a:t>Merci de votre attention</a:t>
            </a:r>
            <a:endParaRPr sz="7200">
              <a:solidFill>
                <a:srgbClr val="222A35"/>
              </a:solidFill>
              <a:latin typeface="Times New Roman"/>
              <a:ea typeface="Times New Roman"/>
              <a:cs typeface="Times New Roman"/>
              <a:sym typeface="Times New Roman"/>
            </a:endParaRPr>
          </a:p>
        </p:txBody>
      </p:sp>
      <p:sp>
        <p:nvSpPr>
          <p:cNvPr id="317" name="Google Shape;31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fr-FR"/>
              <a:t>26/02/2025</a:t>
            </a:r>
            <a:endParaRPr/>
          </a:p>
        </p:txBody>
      </p:sp>
      <p:sp>
        <p:nvSpPr>
          <p:cNvPr id="318" name="Google Shape;31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fr-FR"/>
              <a:t>14</a:t>
            </a:fld>
            <a:endParaRPr/>
          </a:p>
        </p:txBody>
      </p:sp>
    </p:spTree>
  </p:cSld>
  <p:clrMapOvr>
    <a:masterClrMapping/>
  </p:clrMapOvr>
</p:sld>
</file>

<file path=ppt/theme/theme1.xml><?xml version="1.0" encoding="utf-8"?>
<a:theme xmlns:a="http://schemas.openxmlformats.org/drawingml/2006/main" name="Office Theme">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5DB7BE2CA5D2C429FC637B5E46DBA60" ma:contentTypeVersion="3" ma:contentTypeDescription="Crée un document." ma:contentTypeScope="" ma:versionID="6f3577ceabfdbc509c4faa4701710f67">
  <xsd:schema xmlns:xsd="http://www.w3.org/2001/XMLSchema" xmlns:xs="http://www.w3.org/2001/XMLSchema" xmlns:p="http://schemas.microsoft.com/office/2006/metadata/properties" xmlns:ns2="328d567b-d583-47bf-b2ea-0efbdd114a23" targetNamespace="http://schemas.microsoft.com/office/2006/metadata/properties" ma:root="true" ma:fieldsID="eba54e47455da24a47cd1e13eaba82aa" ns2:_="">
    <xsd:import namespace="328d567b-d583-47bf-b2ea-0efbdd114a2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8d567b-d583-47bf-b2ea-0efbdd114a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4EF105-625D-4460-8CA0-B8EC6CD80322}"/>
</file>

<file path=customXml/itemProps2.xml><?xml version="1.0" encoding="utf-8"?>
<ds:datastoreItem xmlns:ds="http://schemas.openxmlformats.org/officeDocument/2006/customXml" ds:itemID="{D0899D47-53FE-43CD-812F-BF0CAD1A06D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A42AA20-D77A-49F7-8261-B4F1DEC09C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14</Notes>
  <HiddenSlides>0</HiddenSlides>
  <ScaleCrop>false</ScaleCrop>
  <HeadingPairs>
    <vt:vector size="4" baseType="variant">
      <vt:variant>
        <vt:lpstr>Theme</vt:lpstr>
      </vt:variant>
      <vt:variant>
        <vt:i4>2</vt:i4>
      </vt:variant>
      <vt:variant>
        <vt:lpstr>Slide Titles</vt:lpstr>
      </vt:variant>
      <vt:variant>
        <vt:i4>14</vt:i4>
      </vt:variant>
    </vt:vector>
  </HeadingPairs>
  <TitlesOfParts>
    <vt:vector size="16" baseType="lpstr">
      <vt:lpstr>Office Theme</vt:lpstr>
      <vt:lpstr>Thème Office</vt:lpstr>
      <vt:lpstr>PowerPoint Presentation</vt:lpstr>
      <vt:lpstr>PLAN</vt:lpstr>
      <vt:lpstr>I. QU’EST-CE VAGRANT ?</vt:lpstr>
      <vt:lpstr>I. QU’EST-CE VAGRANT ?</vt:lpstr>
      <vt:lpstr>2. PRINCIPE DE FONCTIONNEMENT ?</vt:lpstr>
      <vt:lpstr>2. PRINCIPE DE FONCTIONNEMENT ?</vt:lpstr>
      <vt:lpstr>3. INSTALLATION ET PRÉREQUIS</vt:lpstr>
      <vt:lpstr>IV. CAS D’UTILISATIONS</vt:lpstr>
      <vt:lpstr>V. COMMANDES DE BASE</vt:lpstr>
      <vt:lpstr>V. COMMANDES DE BASE</vt:lpstr>
      <vt:lpstr>V. COMMANDES DE BASE</vt:lpstr>
      <vt:lpstr>V. COMMANDES DE BASE</vt:lpstr>
      <vt:lpstr>VI. PRATIQUE</vt:lpstr>
      <vt:lpstr>Merci de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DIOP, MOHAMET</dc:creator>
  <cp:revision>1</cp:revision>
  <dcterms:created xsi:type="dcterms:W3CDTF">2021-04-02T19:44:19Z</dcterms:created>
  <dcterms:modified xsi:type="dcterms:W3CDTF">2026-02-02T08:23:43Z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2021-04-02T19:45:45Z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217ab9b6-6d40-43c4-8a75-c765a150599d</vt:lpwstr>
  </property>
  <property fmtid="{D5CDD505-2E9C-101B-9397-08002B2CF9AE}" pid="8" name="MSIP_Label_e463cba9-5f6c-478d-9329-7b2295e4e8ed_ContentBits">
    <vt:lpwstr>0</vt:lpwstr>
  </property>
  <property fmtid="{D5CDD505-2E9C-101B-9397-08002B2CF9AE}" pid="9" name="ContentTypeId">
    <vt:lpwstr>0x01010005DB7BE2CA5D2C429FC637B5E46DBA60</vt:lpwstr>
  </property>
  <property fmtid="{D5CDD505-2E9C-101B-9397-08002B2CF9AE}" pid="10" name="MSIP_Label_47e7dfc5-2bf4-4a75-8664-2dc4b3bb1d09_Enabled">
    <vt:lpwstr>true</vt:lpwstr>
  </property>
  <property fmtid="{D5CDD505-2E9C-101B-9397-08002B2CF9AE}" pid="11" name="MSIP_Label_47e7dfc5-2bf4-4a75-8664-2dc4b3bb1d09_SetDate">
    <vt:lpwstr>2026-02-02T08:23:42Z</vt:lpwstr>
  </property>
  <property fmtid="{D5CDD505-2E9C-101B-9397-08002B2CF9AE}" pid="12" name="MSIP_Label_47e7dfc5-2bf4-4a75-8664-2dc4b3bb1d09_Method">
    <vt:lpwstr>Standard</vt:lpwstr>
  </property>
  <property fmtid="{D5CDD505-2E9C-101B-9397-08002B2CF9AE}" pid="13" name="MSIP_Label_47e7dfc5-2bf4-4a75-8664-2dc4b3bb1d09_Name">
    <vt:lpwstr>defa4170-0d19-0005-0004-bc88714345d2</vt:lpwstr>
  </property>
  <property fmtid="{D5CDD505-2E9C-101B-9397-08002B2CF9AE}" pid="14" name="MSIP_Label_47e7dfc5-2bf4-4a75-8664-2dc4b3bb1d09_SiteId">
    <vt:lpwstr>413600cf-bd4e-4c7c-8a61-69e73cddf731</vt:lpwstr>
  </property>
  <property fmtid="{D5CDD505-2E9C-101B-9397-08002B2CF9AE}" pid="15" name="MSIP_Label_47e7dfc5-2bf4-4a75-8664-2dc4b3bb1d09_ActionId">
    <vt:lpwstr>2f5a93a9-0395-4061-9d67-4a3b65866061</vt:lpwstr>
  </property>
  <property fmtid="{D5CDD505-2E9C-101B-9397-08002B2CF9AE}" pid="16" name="MSIP_Label_47e7dfc5-2bf4-4a75-8664-2dc4b3bb1d09_ContentBits">
    <vt:lpwstr>0</vt:lpwstr>
  </property>
  <property fmtid="{D5CDD505-2E9C-101B-9397-08002B2CF9AE}" pid="17" name="MSIP_Label_47e7dfc5-2bf4-4a75-8664-2dc4b3bb1d09_Tag">
    <vt:lpwstr>10, 3, 0, 2</vt:lpwstr>
  </property>
</Properties>
</file>