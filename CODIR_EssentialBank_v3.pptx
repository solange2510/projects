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17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1005840"/>
            <a:ext cx="8229600" cy="2926080"/>
          </a:xfrm>
          <a:prstGeom prst="rect">
            <a:avLst/>
          </a:prstGeom>
          <a:solidFill>
            <a:srgbClr val="162D4A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DIRECTION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Risques Cybersécurité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71600" y="2267712"/>
            <a:ext cx="6400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Bank | Méthodologie EBIOS Risk Manager | Février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Ulrich Vianney FOKAM &amp; Solange Dominique EYAGA NDEME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CONFIDENTIEL – Diffusion restreinte à la Direction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Bank – Rapport d'audit cybersécurité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Bank – CODIR Cybersécurité | Confidentiel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Échelles d'Évaluation des Risques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des critères de gravité et de vraisemblance – Atelier 1 &amp; 4 EBIOS RM – Élaborées pour Essential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0040" y="10515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ÉCHELLE DE GRAVITÉ (G)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74320" y="1463040"/>
            <a:ext cx="64008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74320" y="1463040"/>
            <a:ext cx="1371600" cy="347472"/>
          </a:xfrm>
          <a:prstGeom prst="rect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47472" y="149961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– CRITIQUE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19072" y="1499616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Incapacité d'assurer tout ou partie de l'activité. Existence menacée. Perte financière majeure, sanctions réglementaires graves (DORA, RGPD), atteinte irrémédiable à la réputation.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26771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74320" y="2267712"/>
            <a:ext cx="64008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74320" y="2267712"/>
            <a:ext cx="1371600" cy="347472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47472" y="230428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– ÉLEVÉE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19072" y="230428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dégradation des performances. Fonctionnement très ralenti. Impact client significatif, risque de sanctions réglementaires, perte de confiance durable.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307238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74320" y="3072384"/>
            <a:ext cx="6400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74320" y="3072384"/>
            <a:ext cx="1371600" cy="347472"/>
          </a:xfrm>
          <a:prstGeom prst="rect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47472" y="31089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– MOYENNE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19072" y="3108960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Dégradation des performances sans impact majeur sur la continuité. Quelques difficultés opérationnelles. Impact limité et récupérable à court terme.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387705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74320" y="3877056"/>
            <a:ext cx="6400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74320" y="3877056"/>
            <a:ext cx="1371600" cy="347472"/>
          </a:xfrm>
          <a:prstGeom prst="rect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47472" y="39136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– FAIBLE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19072" y="391363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impact opérationnel significatif. Consommation des marges de sécurité. Situation gérée sans perturbation notable de l'activité.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09160" y="1051560"/>
            <a:ext cx="41605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754880" y="10515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ÉCHELLE DE VRAISEMBLANCE (V)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146304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709160" y="1463040"/>
            <a:ext cx="64008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709160" y="1463040"/>
            <a:ext cx="1600200" cy="347472"/>
          </a:xfrm>
          <a:prstGeom prst="rect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773168" y="1499616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– QUASI CERTAINE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82512" y="149961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source de risque va très probablement atteindre son objectif. Vecteur d'attaque connu, exploité et sans mesure préventive en place. Matérialisation attendue.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9160" y="226771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709160" y="2267712"/>
            <a:ext cx="64008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709160" y="2267712"/>
            <a:ext cx="1600200" cy="347472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773168" y="2304288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– TRÈS VRAISEMBLABLE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82512" y="2304288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source de risque atteindra probablement son objectif. Vecteur d'attaque courant, quelques barrières mais facilement contournables.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9160" y="307238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709160" y="3072384"/>
            <a:ext cx="6400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709160" y="3072384"/>
            <a:ext cx="1600200" cy="347472"/>
          </a:xfrm>
          <a:prstGeom prst="rect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773168" y="310896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– VRAISEMBLABLE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82512" y="310896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source de risque est susceptible d'atteindre son objectif. Vecteur plausible mais des mesures partielles freinent la progression.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09160" y="387705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4709160" y="3877056"/>
            <a:ext cx="6400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709160" y="3877056"/>
            <a:ext cx="1600200" cy="347472"/>
          </a:xfrm>
          <a:prstGeom prst="rect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773168" y="3913632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– PEU VRAISEMBLABLE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382512" y="391363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source de risque a peu de chances d'atteindre son objectif. Vecteur difficile à exploiter, mesures significatives en place.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4320" y="4626864"/>
            <a:ext cx="85953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347472" y="4654296"/>
            <a:ext cx="164592" cy="164592"/>
          </a:xfrm>
          <a:prstGeom prst="rect">
            <a:avLst/>
          </a:prstGeom>
          <a:solidFill>
            <a:srgbClr val="146B3A"/>
          </a:solidFill>
          <a:ln w="12700">
            <a:solidFill>
              <a:srgbClr val="146B3A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48640" y="4645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4 : ACCEPTABLE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496312" y="4654296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697480" y="4645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4-6 : TOLÉRABLE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645152" y="4654296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846320" y="4645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7-12 : ÉLEVÉ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793992" y="4654296"/>
            <a:ext cx="1645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995160" y="4645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13 : CRITIQUE / INACCEPTABLE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Bank – CODIR Cybersécurité | Confidentiel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Présentation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Déroulé de la séance – 30 minutes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14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0040" y="8229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832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Périmètre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996696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d'Essential Bank et cadre EBIOS RM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307592"/>
            <a:ext cx="4114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0040" y="1307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13167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de sécurité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1481328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Référentiels et réglementations applicables (Atelier 1)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1792224"/>
            <a:ext cx="4114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20040" y="179222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18013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métier &amp; Actifs critiques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196596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protégeons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2276856"/>
            <a:ext cx="4114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20040" y="227685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22860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menaces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2450592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 malveillants identifiés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761488"/>
            <a:ext cx="4114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20040" y="27614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277063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de risques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" y="2935224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trajectoires d'attaque critiques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3246120"/>
            <a:ext cx="4114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20040" y="32461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" y="32552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AVANT traitement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" y="3419856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en zone inacceptable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3730752"/>
            <a:ext cx="4114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20040" y="37307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" y="37398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(20 mesures)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" y="3904488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P1/P2/P3 et feuille de route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4215384"/>
            <a:ext cx="4114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20040" y="421538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4672" y="42245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APRÈS traitement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" y="438912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l'exposition – risques résiduels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46320" y="804672"/>
            <a:ext cx="4023360" cy="4023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93776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risque global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0" y="12801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4937760" y="1938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CRITIQUE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120640" y="2331720"/>
            <a:ext cx="34747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937760" y="24231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risques identifiés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scénarios critiques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mesures proposées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0" y="3291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Maturité : 2,5 / 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937760" y="37216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réglementaire 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37760" y="39502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| RGPD | ISO 27001 | NIS2 | ANSSI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Bank – CODIR Cybersécurité | Confidentiel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Périmètre de l'Étude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est Essential Bank – Cadre de l'analyse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20040" y="8869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ESSENTIAL BANK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2984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27632" y="1298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Microfinance – Services bancaires numériques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1591056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4048" y="17099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27632" y="1709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 2025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2002536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84048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27632" y="2121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Microsoft Azure (principal)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2414016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84048" y="2532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27632" y="2532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&amp; PayPal (tiers TIC critiques DORA)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2825496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84048" y="29443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27632" y="2944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+ données financières – RGPD applicable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" y="3236976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84048" y="33558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Réglementation 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27632" y="3355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DORA, RGPD, LCB-FT, Code Monétaire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648456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84048" y="3767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27632" y="3767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RSSI, DPO, DSI en place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868680"/>
            <a:ext cx="4206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663440" y="868680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709160" y="8869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DE L'ÉTUDE EBIOS RM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344168"/>
            <a:ext cx="329184" cy="329184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754880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🏦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38928" y="1380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transactions financières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1837944"/>
            <a:ext cx="329184" cy="329184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754880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💳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38928" y="1874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Octroi de crédits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331720"/>
            <a:ext cx="329184" cy="329184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754880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38928" y="2368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comptes clients (PII)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2825496"/>
            <a:ext cx="329184" cy="329184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754880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138928" y="2862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données personnelles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319272"/>
            <a:ext cx="329184" cy="329184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75488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☁️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138928" y="33558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en ligne (plateforme cloud Azure)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: EBIOS Risk Manager (ANSSI) – 5 ateliers | Période : Février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Bank – CODIR Cybersécurité | Confidentiel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de Sécurité – Référentiels Applicables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1 EBIOS RM – Base réglementaire et normative du Plan d'Action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16916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01752" y="804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0" y="804672"/>
            <a:ext cx="118872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057400" y="8046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804672"/>
            <a:ext cx="324612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37560" y="8046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principales pour Essential Bank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804672"/>
            <a:ext cx="233172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29400" y="8046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PA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1161288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011680" y="1161288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291840" y="1161288"/>
            <a:ext cx="3246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583680" y="1161288"/>
            <a:ext cx="2331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56032" y="1161288"/>
            <a:ext cx="54864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47472" y="12527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(UE 2016/679)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03120" y="1252728"/>
            <a:ext cx="100584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103120" y="12527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37560" y="12070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 sous-traitants, Registre traitements (Art.30), Notification violations (Art.33)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29400" y="12527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M02,M11,M13,M14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" y="1664208"/>
            <a:ext cx="169164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011680" y="1664208"/>
            <a:ext cx="11887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291840" y="1664208"/>
            <a:ext cx="32461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583680" y="1664208"/>
            <a:ext cx="23317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56032" y="1664208"/>
            <a:ext cx="54864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47472" y="1755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(UE 2022/2554)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103120" y="1755648"/>
            <a:ext cx="100584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103120" y="17556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337560" y="17099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risques TIC, PRA/PCA testés, Gestion incidents, Audit prestataires TIC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29400" y="17556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M05,M08,M09,M12,M14,M20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" y="2167128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011680" y="2167128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291840" y="2167128"/>
            <a:ext cx="3246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583680" y="2167128"/>
            <a:ext cx="2331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56032" y="2167128"/>
            <a:ext cx="54864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47472" y="22585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Monétaire &amp; Financier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103120" y="2258568"/>
            <a:ext cx="100584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103120" y="2258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337560" y="22128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continuité ACPR, LCB-FT, sécurité SI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629400" y="22585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M05,M12,M20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56032" y="2670048"/>
            <a:ext cx="169164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2011680" y="2670048"/>
            <a:ext cx="11887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3291840" y="2670048"/>
            <a:ext cx="32461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583680" y="2670048"/>
            <a:ext cx="23317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256032" y="2670048"/>
            <a:ext cx="54864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47472" y="27614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27001:2022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103120" y="2761488"/>
            <a:ext cx="1005840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103120" y="27614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337560" y="2715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mesures annexe A, SMSI, gestion fournisseurs (A.5.19-23)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629400" y="27614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M01→M20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56032" y="3172968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2011680" y="3172968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3291840" y="3172968"/>
            <a:ext cx="3246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583680" y="3172968"/>
            <a:ext cx="2331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256032" y="3172968"/>
            <a:ext cx="54864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347472" y="32644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2 (UE 2022/2555)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103120" y="3264408"/>
            <a:ext cx="100584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2103120" y="32644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337560" y="32186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de gestion des risques, notification incidents 24h/72h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629400" y="32644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M09,M12,M14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56032" y="3675888"/>
            <a:ext cx="169164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2011680" y="3675888"/>
            <a:ext cx="11887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3291840" y="3675888"/>
            <a:ext cx="32461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6583680" y="3675888"/>
            <a:ext cx="23317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256032" y="3675888"/>
            <a:ext cx="5486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347472" y="3767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ANSSI – Guide Hygiène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103120" y="3767328"/>
            <a:ext cx="100584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2103120" y="37673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37560" y="37216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règles fondamentales : auth forte, accès admin, sauvegarde, journalisation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629400" y="3767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M01,M02,M03,M06,M11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56032" y="4178808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2011680" y="4178808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3291840" y="4178808"/>
            <a:ext cx="3246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6583680" y="4178808"/>
            <a:ext cx="2331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256032" y="4178808"/>
            <a:ext cx="5486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347472" y="42702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Controls v8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103120" y="4270248"/>
            <a:ext cx="100584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2103120" y="42702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3337560" y="42245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prioritaires : inventaire, config sécurisée, MFA, sauvegarde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629400" y="42702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M01,M03,M06,M16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256032" y="46634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référentiels constituent la base obligatoire du Plan d'Action – toute mesure est rattachée à au moins un référentiel.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Bank – CODIR Cybersécurité | Confidentiel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Métier &amp; Actifs Critiques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1 EBIOS RM – Ce que nous protégeons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5303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74320" y="841248"/>
            <a:ext cx="6400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896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des transactions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financier direct – arrêt immédiat des activités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0" y="1005840"/>
            <a:ext cx="155448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840480" y="1005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591056"/>
            <a:ext cx="5303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74320" y="1591056"/>
            <a:ext cx="6400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11480" y="1645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 données clients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RGPD – risque réputationnel et sanctions CNIL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0" y="1755648"/>
            <a:ext cx="155448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840480" y="1755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340864"/>
            <a:ext cx="5303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74320" y="2340864"/>
            <a:ext cx="6400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11480" y="23957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 des comptes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2670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fraude, erreurs comptables, non-conformité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0" y="2505456"/>
            <a:ext cx="155448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840480" y="25054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090672"/>
            <a:ext cx="5303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74320" y="3090672"/>
            <a:ext cx="64008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11480" y="31455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des services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3419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Continuité d'activité – satisfaction client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0480" y="3255264"/>
            <a:ext cx="155448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840480" y="32552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840480"/>
            <a:ext cx="5303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274320" y="3840480"/>
            <a:ext cx="64008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11480" y="38953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des opérations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41696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LCB-FT, conformité DORA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40480" y="4005072"/>
            <a:ext cx="155448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840480" y="4005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06440" y="841248"/>
            <a:ext cx="3063240" cy="3749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852160" y="88696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STRATÉGIQUES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70448" y="12801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144768" y="1280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clients (PII)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44768" y="1536192"/>
            <a:ext cx="2331720" cy="201168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144768" y="153619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870448" y="18836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144768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System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44768" y="2139696"/>
            <a:ext cx="2331720" cy="201168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144768" y="21396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870448" y="24871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44768" y="2487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admin cloud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44768" y="2743200"/>
            <a:ext cx="2331720" cy="201168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144768" y="27432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CRITIQUE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870448" y="30906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144768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octroi crédit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44768" y="3346704"/>
            <a:ext cx="2331720" cy="201168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144768" y="33467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870448" y="36941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144768" y="3694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CRM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44768" y="3950208"/>
            <a:ext cx="2331720" cy="20116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144768" y="39502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Bank – CODIR Cybersécurité | Confidentiel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de Risques Critiques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 3 &amp; 4 EBIOS RM – Trajectoires d'attaque les plus plausibles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8641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6032" y="822960"/>
            <a:ext cx="73152" cy="1207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914400"/>
            <a:ext cx="4572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576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896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 par Rançongiciel (phishing → Core Banking)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070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 : Email spear-phishing → exécution malware → mouvement latéral → chiffrement des serveurs critiques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37960" y="932688"/>
            <a:ext cx="2286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37960" y="932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: Élevée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37960" y="1280160"/>
            <a:ext cx="22860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Critique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537960" y="1627632"/>
            <a:ext cx="228600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3796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: CRITIQUE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176272"/>
            <a:ext cx="8641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56032" y="2176272"/>
            <a:ext cx="73152" cy="1207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2267712"/>
            <a:ext cx="457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5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22494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Compromission Infrastructure Azure (mauvaise config IAM)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5603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 : Clé API exposée ou mauvaise config IAM → accès direct cloud → exfiltration de données PII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37960" y="2286000"/>
            <a:ext cx="2286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3796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: Moyenne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37960" y="2633472"/>
            <a:ext cx="22860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53796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Critique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37960" y="2980944"/>
            <a:ext cx="228600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37960" y="2980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: ÉLEVÉ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529584"/>
            <a:ext cx="8641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256032" y="3529584"/>
            <a:ext cx="73152" cy="1207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65760" y="3621024"/>
            <a:ext cx="457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65760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36027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Interne via Comptes Administrateurs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391363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 : Employé ou ex-employé (accès non révoqué) → virements frauduleux ou manipulation de données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37960" y="3639312"/>
            <a:ext cx="2286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537960" y="3639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: Moyenne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537960" y="3986784"/>
            <a:ext cx="22860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537960" y="3986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Très élevé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537960" y="4334256"/>
            <a:ext cx="228600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537960" y="4334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: ÉLEVÉ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Bank – CODIR Cybersécurité | Confidentiel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Risques AVANT Traitement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TP1.2 – Atelier 5 EBIOS RM – Niveau d'acceptabilité défini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 rot="16200000">
            <a:off x="0" y="1645920"/>
            <a:ext cx="1005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↑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448056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VRAISEMBLANCE →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" y="11155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– Critique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97280" y="749808"/>
            <a:ext cx="1554480" cy="914400"/>
          </a:xfrm>
          <a:prstGeom prst="rect">
            <a:avLst/>
          </a:prstGeom>
          <a:solidFill>
            <a:srgbClr val="146B3A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651760" y="749808"/>
            <a:ext cx="1554480" cy="914400"/>
          </a:xfrm>
          <a:prstGeom prst="rect">
            <a:avLst/>
          </a:prstGeom>
          <a:solidFill>
            <a:srgbClr val="F9731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206240" y="749808"/>
            <a:ext cx="1554480" cy="914400"/>
          </a:xfrm>
          <a:prstGeom prst="rect">
            <a:avLst/>
          </a:prstGeom>
          <a:solidFill>
            <a:srgbClr val="DC262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297680" y="9326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749808"/>
            <a:ext cx="1554480" cy="914400"/>
          </a:xfrm>
          <a:prstGeom prst="rect">
            <a:avLst/>
          </a:prstGeom>
          <a:solidFill>
            <a:srgbClr val="DC262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852160" y="9326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" y="2029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– Important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097280" y="1664208"/>
            <a:ext cx="1554480" cy="914400"/>
          </a:xfrm>
          <a:prstGeom prst="rect">
            <a:avLst/>
          </a:prstGeom>
          <a:solidFill>
            <a:srgbClr val="146B3A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651760" y="1664208"/>
            <a:ext cx="1554480" cy="914400"/>
          </a:xfrm>
          <a:prstGeom prst="rect">
            <a:avLst/>
          </a:prstGeom>
          <a:solidFill>
            <a:srgbClr val="F9731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206240" y="1664208"/>
            <a:ext cx="1554480" cy="914400"/>
          </a:xfrm>
          <a:prstGeom prst="rect">
            <a:avLst/>
          </a:prstGeom>
          <a:solidFill>
            <a:srgbClr val="DC262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297680" y="18470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1664208"/>
            <a:ext cx="1554480" cy="914400"/>
          </a:xfrm>
          <a:prstGeom prst="rect">
            <a:avLst/>
          </a:prstGeom>
          <a:solidFill>
            <a:srgbClr val="DC262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" y="29443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– Significatif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097280" y="2578608"/>
            <a:ext cx="1554480" cy="914400"/>
          </a:xfrm>
          <a:prstGeom prst="rect">
            <a:avLst/>
          </a:prstGeom>
          <a:solidFill>
            <a:srgbClr val="146B3A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651760" y="2578608"/>
            <a:ext cx="1554480" cy="914400"/>
          </a:xfrm>
          <a:prstGeom prst="rect">
            <a:avLst/>
          </a:prstGeom>
          <a:solidFill>
            <a:srgbClr val="146B3A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206240" y="2578608"/>
            <a:ext cx="1554480" cy="914400"/>
          </a:xfrm>
          <a:prstGeom prst="rect">
            <a:avLst/>
          </a:prstGeom>
          <a:solidFill>
            <a:srgbClr val="F9731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760720" y="2578608"/>
            <a:ext cx="1554480" cy="914400"/>
          </a:xfrm>
          <a:prstGeom prst="rect">
            <a:avLst/>
          </a:prstGeom>
          <a:solidFill>
            <a:srgbClr val="F9731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" y="38587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– Faible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097280" y="3493008"/>
            <a:ext cx="1554480" cy="914400"/>
          </a:xfrm>
          <a:prstGeom prst="rect">
            <a:avLst/>
          </a:prstGeom>
          <a:solidFill>
            <a:srgbClr val="146B3A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97280" y="44074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51760" y="3493008"/>
            <a:ext cx="1554480" cy="914400"/>
          </a:xfrm>
          <a:prstGeom prst="rect">
            <a:avLst/>
          </a:prstGeom>
          <a:solidFill>
            <a:srgbClr val="146B3A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651760" y="44074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06240" y="3493008"/>
            <a:ext cx="1554480" cy="914400"/>
          </a:xfrm>
          <a:prstGeom prst="rect">
            <a:avLst/>
          </a:prstGeom>
          <a:solidFill>
            <a:srgbClr val="146B3A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206240" y="44074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760720" y="3493008"/>
            <a:ext cx="1554480" cy="914400"/>
          </a:xfrm>
          <a:prstGeom prst="rect">
            <a:avLst/>
          </a:prstGeom>
          <a:solidFill>
            <a:srgbClr val="F9731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760720" y="44074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98080" y="8046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98080" y="1097280"/>
            <a:ext cx="228600" cy="228600"/>
          </a:xfrm>
          <a:prstGeom prst="rect">
            <a:avLst/>
          </a:prstGeom>
          <a:solidFill>
            <a:srgbClr val="146B3A"/>
          </a:solidFill>
          <a:ln w="12700">
            <a:solidFill>
              <a:srgbClr val="146B3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772400" y="1097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98080" y="1508760"/>
            <a:ext cx="228600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772400" y="1508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TOLÉRABLE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498080" y="1920240"/>
            <a:ext cx="228600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772400" y="1920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INACCEPTABLE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56032" y="4617720"/>
            <a:ext cx="864108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20040" y="4626864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CONSTAT : 4 risques en zone INACCEPTABLE (rouge) – R1, R2, R3, R4. Décision de traitement obligatoire.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Bank – CODIR Cybersécurité | Confidentiel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Cybersécurité (PACS)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mesures priorisées issues de l'analyse EBIOS RM et du socle réglementaire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907792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804672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– IMMÉDIAT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(0-3 mois)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243584"/>
            <a:ext cx="290779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01752" y="1353312"/>
            <a:ext cx="91440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38912" y="129844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 – EDR/XDR (détection avancée)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1752" y="1600200"/>
            <a:ext cx="91440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8912" y="154533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 – Revue comptes administrateurs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1752" y="1847088"/>
            <a:ext cx="91440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38912" y="179222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– Sauvegarde 3-2-1 immuable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1752" y="2093976"/>
            <a:ext cx="91440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38912" y="203911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M04 – Segmentation réseau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1752" y="2340864"/>
            <a:ext cx="91440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891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M05 – Rédaction &amp; test PRA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1752" y="2587752"/>
            <a:ext cx="91440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38912" y="253288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 – Campagne anti-phishing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" y="3858768"/>
            <a:ext cx="2907792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74320" y="385876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à produire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" y="4114800"/>
            <a:ext cx="2907792" cy="475488"/>
          </a:xfrm>
          <a:prstGeom prst="rect">
            <a:avLst/>
          </a:prstGeom>
          <a:solidFill>
            <a:srgbClr val="0F2235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74320" y="4123944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Pol. habilitation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sauvegarde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crise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28600" y="4617720"/>
            <a:ext cx="2907792" cy="256032"/>
          </a:xfrm>
          <a:prstGeom prst="rect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74320" y="4617720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: ~21 200 €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9544" y="804672"/>
            <a:ext cx="2907792" cy="4206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255264" y="804672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– COURT TERME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(3-6 mois)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9544" y="1243584"/>
            <a:ext cx="290779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282696" y="1353312"/>
            <a:ext cx="91440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419856" y="129844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M07 – Audit config Azure (CIS)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82696" y="1600200"/>
            <a:ext cx="91440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419856" y="154533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M08 – SIEM/Journalisation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82696" y="1847088"/>
            <a:ext cx="91440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419856" y="179222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M09 – Chantier conformité DORA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82696" y="2093976"/>
            <a:ext cx="91440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419856" y="203911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 – Pentest (prestataire PASSI)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82696" y="2340864"/>
            <a:ext cx="91440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419856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 – MFA généralisé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82696" y="2587752"/>
            <a:ext cx="91440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419856" y="253288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 – Procédure gestion incidents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82696" y="2834640"/>
            <a:ext cx="91440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419856" y="277977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 – Documentation RGPD complète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82696" y="3081528"/>
            <a:ext cx="91440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419856" y="302666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M14 – Audit fournisseurs + SLA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82696" y="3328416"/>
            <a:ext cx="91440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419856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 – PSSI rédigée et validée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82696" y="3575304"/>
            <a:ext cx="91440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419856" y="352044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M16 – Politique mots de passe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09544" y="3858768"/>
            <a:ext cx="2907792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3255264" y="385876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à produire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9544" y="4114800"/>
            <a:ext cx="2907792" cy="475488"/>
          </a:xfrm>
          <a:prstGeom prst="rect">
            <a:avLst/>
          </a:prstGeom>
          <a:solidFill>
            <a:srgbClr val="0F2235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255264" y="4123944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Pol. mots de passe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traitements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 sous-traitants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incidents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209544" y="4617720"/>
            <a:ext cx="2907792" cy="256032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255264" y="4617720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: ~35 800 €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90488" y="804672"/>
            <a:ext cx="2907792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236208" y="804672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– MOYEN TERME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(6-12 mois)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90488" y="1243584"/>
            <a:ext cx="290779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6263640" y="1353312"/>
            <a:ext cx="91440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400800" y="129844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M17 – SMSI + certification ISO 27001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263640" y="1600200"/>
            <a:ext cx="91440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6400800" y="154533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 – Tableau de bord KPI sécurité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263640" y="1847088"/>
            <a:ext cx="91440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6400800" y="179222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M19 – DevSecOps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263640" y="2093976"/>
            <a:ext cx="91440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6400800" y="203911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 – PCA complet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190488" y="3858768"/>
            <a:ext cx="2907792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236208" y="385876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à produire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190488" y="4114800"/>
            <a:ext cx="2907792" cy="475488"/>
          </a:xfrm>
          <a:prstGeom prst="rect">
            <a:avLst/>
          </a:prstGeom>
          <a:solidFill>
            <a:srgbClr val="0F2235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6236208" y="4123944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SMSI complet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ISO 27001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190488" y="4617720"/>
            <a:ext cx="2907792" cy="25603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236208" y="4617720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: ~32 500 €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Bank – CODIR Cybersécurité | Confidentiel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Risques APRÈS Traitement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TP3 – Atelier 5 EBIOS RM – Réduction de la vraisemblance par les mesures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 rot="16200000">
            <a:off x="0" y="1645920"/>
            <a:ext cx="1005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↑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448056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VRAISEMBLANCE →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" y="11155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– Critique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97280" y="749808"/>
            <a:ext cx="1554480" cy="914400"/>
          </a:xfrm>
          <a:prstGeom prst="rect">
            <a:avLst/>
          </a:prstGeom>
          <a:solidFill>
            <a:srgbClr val="146B3A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88720" y="9326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749808"/>
            <a:ext cx="1554480" cy="914400"/>
          </a:xfrm>
          <a:prstGeom prst="rect">
            <a:avLst/>
          </a:prstGeom>
          <a:solidFill>
            <a:srgbClr val="F9731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743200" y="9326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749808"/>
            <a:ext cx="1554480" cy="914400"/>
          </a:xfrm>
          <a:prstGeom prst="rect">
            <a:avLst/>
          </a:prstGeom>
          <a:solidFill>
            <a:srgbClr val="DC262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760720" y="749808"/>
            <a:ext cx="1554480" cy="914400"/>
          </a:xfrm>
          <a:prstGeom prst="rect">
            <a:avLst/>
          </a:prstGeom>
          <a:solidFill>
            <a:srgbClr val="DC262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" y="2029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– Important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097280" y="1664208"/>
            <a:ext cx="1554480" cy="914400"/>
          </a:xfrm>
          <a:prstGeom prst="rect">
            <a:avLst/>
          </a:prstGeom>
          <a:solidFill>
            <a:srgbClr val="146B3A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651760" y="1664208"/>
            <a:ext cx="1554480" cy="914400"/>
          </a:xfrm>
          <a:prstGeom prst="rect">
            <a:avLst/>
          </a:prstGeom>
          <a:solidFill>
            <a:srgbClr val="F9731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743200" y="18470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1664208"/>
            <a:ext cx="1554480" cy="914400"/>
          </a:xfrm>
          <a:prstGeom prst="rect">
            <a:avLst/>
          </a:prstGeom>
          <a:solidFill>
            <a:srgbClr val="DC262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760720" y="1664208"/>
            <a:ext cx="1554480" cy="914400"/>
          </a:xfrm>
          <a:prstGeom prst="rect">
            <a:avLst/>
          </a:prstGeom>
          <a:solidFill>
            <a:srgbClr val="DC262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" y="29443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– Significatif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097280" y="2578608"/>
            <a:ext cx="1554480" cy="914400"/>
          </a:xfrm>
          <a:prstGeom prst="rect">
            <a:avLst/>
          </a:prstGeom>
          <a:solidFill>
            <a:srgbClr val="146B3A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651760" y="2578608"/>
            <a:ext cx="1554480" cy="914400"/>
          </a:xfrm>
          <a:prstGeom prst="rect">
            <a:avLst/>
          </a:prstGeom>
          <a:solidFill>
            <a:srgbClr val="146B3A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206240" y="2578608"/>
            <a:ext cx="1554480" cy="914400"/>
          </a:xfrm>
          <a:prstGeom prst="rect">
            <a:avLst/>
          </a:prstGeom>
          <a:solidFill>
            <a:srgbClr val="F9731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760720" y="2578608"/>
            <a:ext cx="1554480" cy="914400"/>
          </a:xfrm>
          <a:prstGeom prst="rect">
            <a:avLst/>
          </a:prstGeom>
          <a:solidFill>
            <a:srgbClr val="F9731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" y="38587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– Faible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097280" y="3493008"/>
            <a:ext cx="1554480" cy="914400"/>
          </a:xfrm>
          <a:prstGeom prst="rect">
            <a:avLst/>
          </a:prstGeom>
          <a:solidFill>
            <a:srgbClr val="146B3A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97280" y="44074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51760" y="3493008"/>
            <a:ext cx="1554480" cy="914400"/>
          </a:xfrm>
          <a:prstGeom prst="rect">
            <a:avLst/>
          </a:prstGeom>
          <a:solidFill>
            <a:srgbClr val="146B3A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651760" y="44074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06240" y="3493008"/>
            <a:ext cx="1554480" cy="914400"/>
          </a:xfrm>
          <a:prstGeom prst="rect">
            <a:avLst/>
          </a:prstGeom>
          <a:solidFill>
            <a:srgbClr val="146B3A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206240" y="44074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760720" y="3493008"/>
            <a:ext cx="1554480" cy="914400"/>
          </a:xfrm>
          <a:prstGeom prst="rect">
            <a:avLst/>
          </a:prstGeom>
          <a:solidFill>
            <a:srgbClr val="F97316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760720" y="44074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98080" y="1097280"/>
            <a:ext cx="228600" cy="228600"/>
          </a:xfrm>
          <a:prstGeom prst="rect">
            <a:avLst/>
          </a:prstGeom>
          <a:solidFill>
            <a:srgbClr val="146B3A"/>
          </a:solidFill>
          <a:ln w="12700">
            <a:solidFill>
              <a:srgbClr val="146B3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772400" y="1097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498080" y="1508760"/>
            <a:ext cx="228600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772400" y="1508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TOLÉRABLE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498080" y="1920240"/>
            <a:ext cx="228600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772400" y="1920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INACCEPTABLE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6032" y="4617720"/>
            <a:ext cx="8641080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20040" y="4626864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Les mesures jouent sur la vraisemblance (pas la gravité). R1, R2, R4 passent de V4→V2. R3 passe à V1. Risques résiduels justifiés.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Recommandations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 décisionnelles pour la Direction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CONSTATS CLÉS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" y="140817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9808" y="13533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risque global : ÉLEVÉ à CRITIQUE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" y="186537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8105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Maturité de gouvernance : 2,5/5 – en construction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" y="232257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49808" y="22677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risques en zone INACCEPTABLE avant traitement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77977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49808" y="2724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Non-conformité DORA (PRA/PCA absents) – urgent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323697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49808" y="31821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critique : Azure, Stripe, PayPal non audités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10241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DEMANDÉES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399032"/>
            <a:ext cx="5486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663440" y="1399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276088" y="1353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Plan d'Action et allouer ~89 500 € sur 12 mois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856232"/>
            <a:ext cx="5486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663440" y="1856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Désigner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276088" y="18105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chef de projet cybersécurité interne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313432"/>
            <a:ext cx="5486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63440" y="23134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276088" y="22677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actions P1 dans les 30 jours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770632"/>
            <a:ext cx="5486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663440" y="27706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276088" y="27249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chantier DORA (non-conformité critique)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227832"/>
            <a:ext cx="5486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663440" y="32278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276088" y="31821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prestataire PASSI pour le pentest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8366760" cy="56692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48640" y="4325112"/>
            <a:ext cx="8183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cybersécurité n'est pas un centre de coût, c'est un investissement stratégique et un pilier de confiance pour nos clients et les régulateurs."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Bank – CODIR Cybersécurité | Confidentiel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CODIR – Analyse de risques Essential Bank v2</dc:title>
  <dc:subject>PptxGenJS Presentation</dc:subject>
  <dc:creator>S.D. EYAGA NDEME &amp; U.V. FOKAM</dc:creator>
  <cp:lastModifiedBy>S.D. EYAGA NDEME &amp; U.V. FOKAM</cp:lastModifiedBy>
  <cp:revision>1</cp:revision>
  <dcterms:created xsi:type="dcterms:W3CDTF">2026-03-24T20:58:48Z</dcterms:created>
  <dcterms:modified xsi:type="dcterms:W3CDTF">2026-03-24T20:58:48Z</dcterms:modified>
</cp:coreProperties>
</file>